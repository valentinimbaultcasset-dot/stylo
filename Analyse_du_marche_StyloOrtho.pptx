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14800"/>
            <a:ext cx="12188952" cy="73152"/>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4187952"/>
            <a:ext cx="12188952" cy="2670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8686800" y="-457200"/>
            <a:ext cx="4114800" cy="4114800"/>
          </a:xfrm>
          <a:prstGeom prst="rect">
            <a:avLst/>
          </a:prstGeom>
          <a:solidFill>
            <a:srgbClr val="1E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326880" y="182880"/>
            <a:ext cx="2743200" cy="2743200"/>
          </a:xfrm>
          <a:prstGeom prst="rect">
            <a:avLst/>
          </a:prstGeom>
          <a:solidFill>
            <a:srgbClr val="264F9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822960"/>
            <a:ext cx="10972800" cy="1371600"/>
          </a:xfrm>
          <a:prstGeom prst="rect">
            <a:avLst/>
          </a:prstGeom>
          <a:noFill/>
        </p:spPr>
        <p:txBody>
          <a:bodyPr wrap="square">
            <a:spAutoFit/>
          </a:bodyPr>
          <a:lstStyle/>
          <a:p>
            <a:pPr algn="l"/>
            <a:r>
              <a:rPr sz="7200" b="1" i="0">
                <a:solidFill>
                  <a:srgbClr val="FFFFFF"/>
                </a:solidFill>
              </a:rPr>
              <a:t>STYLO ORTHO</a:t>
            </a:r>
          </a:p>
        </p:txBody>
      </p:sp>
      <p:sp>
        <p:nvSpPr>
          <p:cNvPr id="8" name="Rectangle 7"/>
          <p:cNvSpPr/>
          <p:nvPr/>
        </p:nvSpPr>
        <p:spPr>
          <a:xfrm>
            <a:off x="640080" y="2148840"/>
            <a:ext cx="4114800" cy="73152"/>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286000"/>
            <a:ext cx="9144000" cy="594360"/>
          </a:xfrm>
          <a:prstGeom prst="rect">
            <a:avLst/>
          </a:prstGeom>
          <a:noFill/>
        </p:spPr>
        <p:txBody>
          <a:bodyPr wrap="square">
            <a:spAutoFit/>
          </a:bodyPr>
          <a:lstStyle/>
          <a:p>
            <a:pPr algn="l"/>
            <a:r>
              <a:rPr sz="2600" b="0" i="0">
                <a:solidFill>
                  <a:srgbClr val="4A90D9"/>
                </a:solidFill>
              </a:rPr>
              <a:t>Stylo correcteur d'orthographe</a:t>
            </a:r>
          </a:p>
        </p:txBody>
      </p:sp>
      <p:sp>
        <p:nvSpPr>
          <p:cNvPr id="10" name="TextBox 9"/>
          <p:cNvSpPr txBox="1"/>
          <p:nvPr/>
        </p:nvSpPr>
        <p:spPr>
          <a:xfrm>
            <a:off x="640080" y="2880360"/>
            <a:ext cx="9144000" cy="457200"/>
          </a:xfrm>
          <a:prstGeom prst="rect">
            <a:avLst/>
          </a:prstGeom>
          <a:noFill/>
        </p:spPr>
        <p:txBody>
          <a:bodyPr wrap="square">
            <a:spAutoFit/>
          </a:bodyPr>
          <a:lstStyle/>
          <a:p>
            <a:pPr algn="l"/>
            <a:r>
              <a:rPr sz="1800" b="0" i="1">
                <a:solidFill>
                  <a:srgbClr val="80A8D8"/>
                </a:solidFill>
              </a:rPr>
              <a:t>Assemblé en France  ·  Papeterie intelligente</a:t>
            </a:r>
          </a:p>
        </p:txBody>
      </p:sp>
      <p:sp>
        <p:nvSpPr>
          <p:cNvPr id="11" name="TextBox 10"/>
          <p:cNvSpPr txBox="1"/>
          <p:nvPr/>
        </p:nvSpPr>
        <p:spPr>
          <a:xfrm>
            <a:off x="548640" y="4434840"/>
            <a:ext cx="3200400" cy="822960"/>
          </a:xfrm>
          <a:prstGeom prst="rect">
            <a:avLst/>
          </a:prstGeom>
          <a:noFill/>
        </p:spPr>
        <p:txBody>
          <a:bodyPr wrap="square">
            <a:spAutoFit/>
          </a:bodyPr>
          <a:lstStyle/>
          <a:p>
            <a:pPr algn="ctr"/>
            <a:r>
              <a:rPr sz="3800" b="1" i="0">
                <a:solidFill>
                  <a:srgbClr val="FFC200"/>
                </a:solidFill>
              </a:rPr>
              <a:t>214</a:t>
            </a:r>
          </a:p>
        </p:txBody>
      </p:sp>
      <p:sp>
        <p:nvSpPr>
          <p:cNvPr id="12" name="TextBox 11"/>
          <p:cNvSpPr txBox="1"/>
          <p:nvPr/>
        </p:nvSpPr>
        <p:spPr>
          <a:xfrm>
            <a:off x="548640" y="5166360"/>
            <a:ext cx="3200400" cy="411480"/>
          </a:xfrm>
          <a:prstGeom prst="rect">
            <a:avLst/>
          </a:prstGeom>
          <a:noFill/>
        </p:spPr>
        <p:txBody>
          <a:bodyPr wrap="square">
            <a:spAutoFit/>
          </a:bodyPr>
          <a:lstStyle/>
          <a:p>
            <a:pPr algn="ctr"/>
            <a:r>
              <a:rPr sz="1600" b="0" i="0">
                <a:solidFill>
                  <a:srgbClr val="FFFFFF"/>
                </a:solidFill>
              </a:rPr>
              <a:t>répondants</a:t>
            </a:r>
          </a:p>
        </p:txBody>
      </p:sp>
      <p:sp>
        <p:nvSpPr>
          <p:cNvPr id="13" name="TextBox 12"/>
          <p:cNvSpPr txBox="1"/>
          <p:nvPr/>
        </p:nvSpPr>
        <p:spPr>
          <a:xfrm>
            <a:off x="4389120" y="4434840"/>
            <a:ext cx="3200400" cy="822960"/>
          </a:xfrm>
          <a:prstGeom prst="rect">
            <a:avLst/>
          </a:prstGeom>
          <a:noFill/>
        </p:spPr>
        <p:txBody>
          <a:bodyPr wrap="square">
            <a:spAutoFit/>
          </a:bodyPr>
          <a:lstStyle/>
          <a:p>
            <a:pPr algn="ctr"/>
            <a:r>
              <a:rPr sz="3800" b="1" i="0">
                <a:solidFill>
                  <a:srgbClr val="FFC200"/>
                </a:solidFill>
              </a:rPr>
              <a:t>82,3%</a:t>
            </a:r>
          </a:p>
        </p:txBody>
      </p:sp>
      <p:sp>
        <p:nvSpPr>
          <p:cNvPr id="14" name="TextBox 13"/>
          <p:cNvSpPr txBox="1"/>
          <p:nvPr/>
        </p:nvSpPr>
        <p:spPr>
          <a:xfrm>
            <a:off x="4389120" y="5166360"/>
            <a:ext cx="3200400" cy="411480"/>
          </a:xfrm>
          <a:prstGeom prst="rect">
            <a:avLst/>
          </a:prstGeom>
          <a:noFill/>
        </p:spPr>
        <p:txBody>
          <a:bodyPr wrap="square">
            <a:spAutoFit/>
          </a:bodyPr>
          <a:lstStyle/>
          <a:p>
            <a:pPr algn="ctr"/>
            <a:r>
              <a:rPr sz="1600" b="0" i="0">
                <a:solidFill>
                  <a:srgbClr val="FFFFFF"/>
                </a:solidFill>
              </a:rPr>
              <a:t>intéressés</a:t>
            </a:r>
          </a:p>
        </p:txBody>
      </p:sp>
      <p:sp>
        <p:nvSpPr>
          <p:cNvPr id="15" name="TextBox 14"/>
          <p:cNvSpPr txBox="1"/>
          <p:nvPr/>
        </p:nvSpPr>
        <p:spPr>
          <a:xfrm>
            <a:off x="8229600" y="4434840"/>
            <a:ext cx="3200400" cy="822960"/>
          </a:xfrm>
          <a:prstGeom prst="rect">
            <a:avLst/>
          </a:prstGeom>
          <a:noFill/>
        </p:spPr>
        <p:txBody>
          <a:bodyPr wrap="square">
            <a:spAutoFit/>
          </a:bodyPr>
          <a:lstStyle/>
          <a:p>
            <a:pPr algn="ctr"/>
            <a:r>
              <a:rPr sz="3800" b="1" i="0">
                <a:solidFill>
                  <a:srgbClr val="FFC200"/>
                </a:solidFill>
              </a:rPr>
              <a:t>99,90 €</a:t>
            </a:r>
          </a:p>
        </p:txBody>
      </p:sp>
      <p:sp>
        <p:nvSpPr>
          <p:cNvPr id="16" name="TextBox 15"/>
          <p:cNvSpPr txBox="1"/>
          <p:nvPr/>
        </p:nvSpPr>
        <p:spPr>
          <a:xfrm>
            <a:off x="8229600" y="5166360"/>
            <a:ext cx="3200400" cy="411480"/>
          </a:xfrm>
          <a:prstGeom prst="rect">
            <a:avLst/>
          </a:prstGeom>
          <a:noFill/>
        </p:spPr>
        <p:txBody>
          <a:bodyPr wrap="square">
            <a:spAutoFit/>
          </a:bodyPr>
          <a:lstStyle/>
          <a:p>
            <a:pPr algn="ctr"/>
            <a:r>
              <a:rPr sz="1600" b="0" i="0">
                <a:solidFill>
                  <a:srgbClr val="FFFFFF"/>
                </a:solidFill>
              </a:rPr>
              <a:t>prix public</a:t>
            </a:r>
          </a:p>
        </p:txBody>
      </p:sp>
      <p:sp>
        <p:nvSpPr>
          <p:cNvPr id="17" name="TextBox 16"/>
          <p:cNvSpPr txBox="1"/>
          <p:nvPr/>
        </p:nvSpPr>
        <p:spPr>
          <a:xfrm>
            <a:off x="640080" y="5760720"/>
            <a:ext cx="7315200" cy="457200"/>
          </a:xfrm>
          <a:prstGeom prst="rect">
            <a:avLst/>
          </a:prstGeom>
          <a:noFill/>
        </p:spPr>
        <p:txBody>
          <a:bodyPr wrap="square">
            <a:spAutoFit/>
          </a:bodyPr>
          <a:lstStyle/>
          <a:p>
            <a:pPr algn="l"/>
            <a:r>
              <a:rPr sz="1600" b="1" i="0">
                <a:solidFill>
                  <a:srgbClr val="80A8D8"/>
                </a:solidFill>
              </a:rPr>
              <a:t>Analyse du Marché</a:t>
            </a:r>
          </a:p>
        </p:txBody>
      </p:sp>
      <p:sp>
        <p:nvSpPr>
          <p:cNvPr id="18" name="TextBox 17"/>
          <p:cNvSpPr txBox="1"/>
          <p:nvPr/>
        </p:nvSpPr>
        <p:spPr>
          <a:xfrm>
            <a:off x="640080" y="6217920"/>
            <a:ext cx="10058400" cy="365760"/>
          </a:xfrm>
          <a:prstGeom prst="rect">
            <a:avLst/>
          </a:prstGeom>
          <a:noFill/>
        </p:spPr>
        <p:txBody>
          <a:bodyPr wrap="square">
            <a:spAutoFit/>
          </a:bodyPr>
          <a:lstStyle/>
          <a:p>
            <a:pPr algn="l"/>
            <a:r>
              <a:rPr sz="1300" b="0" i="0">
                <a:solidFill>
                  <a:srgbClr val="6088B8"/>
                </a:solidFill>
              </a:rPr>
              <a:t>Mathéo Guzzi  ·  Pierre Lachat  ·  Valentin Imbault-Casset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INTRODUCTION</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1. Introduction</a:t>
            </a:r>
          </a:p>
        </p:txBody>
      </p:sp>
      <p:sp>
        <p:nvSpPr>
          <p:cNvPr id="8" name="Rectangle 7"/>
          <p:cNvSpPr/>
          <p:nvPr/>
        </p:nvSpPr>
        <p:spPr>
          <a:xfrm>
            <a:off x="457200" y="1554480"/>
            <a:ext cx="11274552" cy="118872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664208"/>
            <a:ext cx="10515600" cy="1005840"/>
          </a:xfrm>
          <a:prstGeom prst="rect">
            <a:avLst/>
          </a:prstGeom>
          <a:noFill/>
        </p:spPr>
        <p:txBody>
          <a:bodyPr wrap="square">
            <a:spAutoFit/>
          </a:bodyPr>
          <a:lstStyle/>
          <a:p>
            <a:pPr algn="ctr"/>
            <a:r>
              <a:rPr sz="2200" b="1" i="0">
                <a:solidFill>
                  <a:srgbClr val="FFFFFF"/>
                </a:solidFill>
              </a:rPr>
              <a:t>Le premier stylo qui corrige l'orthographe
en temps réel — sur papier, sans internet.</a:t>
            </a:r>
          </a:p>
        </p:txBody>
      </p:sp>
      <p:sp>
        <p:nvSpPr>
          <p:cNvPr id="10" name="Rectangle 9"/>
          <p:cNvSpPr/>
          <p:nvPr/>
        </p:nvSpPr>
        <p:spPr>
          <a:xfrm>
            <a:off x="457200" y="2971800"/>
            <a:ext cx="2651760" cy="146304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3081528"/>
            <a:ext cx="2651760" cy="685800"/>
          </a:xfrm>
          <a:prstGeom prst="rect">
            <a:avLst/>
          </a:prstGeom>
          <a:noFill/>
        </p:spPr>
        <p:txBody>
          <a:bodyPr wrap="square">
            <a:spAutoFit/>
          </a:bodyPr>
          <a:lstStyle/>
          <a:p>
            <a:pPr algn="ctr"/>
            <a:r>
              <a:rPr sz="3600" b="1" i="0">
                <a:solidFill>
                  <a:srgbClr val="FFC200"/>
                </a:solidFill>
              </a:rPr>
              <a:t>214</a:t>
            </a:r>
          </a:p>
        </p:txBody>
      </p:sp>
      <p:sp>
        <p:nvSpPr>
          <p:cNvPr id="12" name="TextBox 11"/>
          <p:cNvSpPr txBox="1"/>
          <p:nvPr/>
        </p:nvSpPr>
        <p:spPr>
          <a:xfrm>
            <a:off x="548640" y="3721608"/>
            <a:ext cx="2468879" cy="548640"/>
          </a:xfrm>
          <a:prstGeom prst="rect">
            <a:avLst/>
          </a:prstGeom>
          <a:noFill/>
        </p:spPr>
        <p:txBody>
          <a:bodyPr wrap="square">
            <a:spAutoFit/>
          </a:bodyPr>
          <a:lstStyle/>
          <a:p>
            <a:pPr algn="ctr"/>
            <a:r>
              <a:rPr sz="1300" b="0" i="0">
                <a:solidFill>
                  <a:srgbClr val="FFFFFF"/>
                </a:solidFill>
              </a:rPr>
              <a:t>répondants à l'enquête</a:t>
            </a:r>
          </a:p>
        </p:txBody>
      </p:sp>
      <p:sp>
        <p:nvSpPr>
          <p:cNvPr id="13" name="Rectangle 12"/>
          <p:cNvSpPr/>
          <p:nvPr/>
        </p:nvSpPr>
        <p:spPr>
          <a:xfrm>
            <a:off x="3246120" y="2971800"/>
            <a:ext cx="2651760" cy="146304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3081528"/>
            <a:ext cx="2651760" cy="685800"/>
          </a:xfrm>
          <a:prstGeom prst="rect">
            <a:avLst/>
          </a:prstGeom>
          <a:noFill/>
        </p:spPr>
        <p:txBody>
          <a:bodyPr wrap="square">
            <a:spAutoFit/>
          </a:bodyPr>
          <a:lstStyle/>
          <a:p>
            <a:pPr algn="ctr"/>
            <a:r>
              <a:rPr sz="3600" b="1" i="0">
                <a:solidFill>
                  <a:srgbClr val="FFC200"/>
                </a:solidFill>
              </a:rPr>
              <a:t>82,3 %</a:t>
            </a:r>
          </a:p>
        </p:txBody>
      </p:sp>
      <p:sp>
        <p:nvSpPr>
          <p:cNvPr id="15" name="TextBox 14"/>
          <p:cNvSpPr txBox="1"/>
          <p:nvPr/>
        </p:nvSpPr>
        <p:spPr>
          <a:xfrm>
            <a:off x="3337560" y="3721608"/>
            <a:ext cx="2468879" cy="548640"/>
          </a:xfrm>
          <a:prstGeom prst="rect">
            <a:avLst/>
          </a:prstGeom>
          <a:noFill/>
        </p:spPr>
        <p:txBody>
          <a:bodyPr wrap="square">
            <a:spAutoFit/>
          </a:bodyPr>
          <a:lstStyle/>
          <a:p>
            <a:pPr algn="ctr"/>
            <a:r>
              <a:rPr sz="1300" b="0" i="0">
                <a:solidFill>
                  <a:srgbClr val="FFFFFF"/>
                </a:solidFill>
              </a:rPr>
              <a:t>Oui + Peut-être</a:t>
            </a:r>
          </a:p>
        </p:txBody>
      </p:sp>
      <p:sp>
        <p:nvSpPr>
          <p:cNvPr id="16" name="Rectangle 15"/>
          <p:cNvSpPr/>
          <p:nvPr/>
        </p:nvSpPr>
        <p:spPr>
          <a:xfrm>
            <a:off x="6035040" y="2971800"/>
            <a:ext cx="2651760" cy="146304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035040" y="3081528"/>
            <a:ext cx="2651760" cy="685800"/>
          </a:xfrm>
          <a:prstGeom prst="rect">
            <a:avLst/>
          </a:prstGeom>
          <a:noFill/>
        </p:spPr>
        <p:txBody>
          <a:bodyPr wrap="square">
            <a:spAutoFit/>
          </a:bodyPr>
          <a:lstStyle/>
          <a:p>
            <a:pPr algn="ctr"/>
            <a:r>
              <a:rPr sz="3600" b="1" i="0">
                <a:solidFill>
                  <a:srgbClr val="FFC200"/>
                </a:solidFill>
              </a:rPr>
              <a:t>86,4 %</a:t>
            </a:r>
          </a:p>
        </p:txBody>
      </p:sp>
      <p:sp>
        <p:nvSpPr>
          <p:cNvPr id="18" name="TextBox 17"/>
          <p:cNvSpPr txBox="1"/>
          <p:nvPr/>
        </p:nvSpPr>
        <p:spPr>
          <a:xfrm>
            <a:off x="6126479" y="3721608"/>
            <a:ext cx="2468879" cy="548640"/>
          </a:xfrm>
          <a:prstGeom prst="rect">
            <a:avLst/>
          </a:prstGeom>
          <a:noFill/>
        </p:spPr>
        <p:txBody>
          <a:bodyPr wrap="square">
            <a:spAutoFit/>
          </a:bodyPr>
          <a:lstStyle/>
          <a:p>
            <a:pPr algn="ctr"/>
            <a:r>
              <a:rPr sz="1300" b="0" i="0">
                <a:solidFill>
                  <a:srgbClr val="FFFFFF"/>
                </a:solidFill>
              </a:rPr>
              <a:t>jugent le produit utile</a:t>
            </a:r>
          </a:p>
        </p:txBody>
      </p:sp>
      <p:sp>
        <p:nvSpPr>
          <p:cNvPr id="19" name="Rectangle 18"/>
          <p:cNvSpPr/>
          <p:nvPr/>
        </p:nvSpPr>
        <p:spPr>
          <a:xfrm>
            <a:off x="8823960" y="2971800"/>
            <a:ext cx="2651760" cy="146304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823960" y="3081528"/>
            <a:ext cx="2651760" cy="685800"/>
          </a:xfrm>
          <a:prstGeom prst="rect">
            <a:avLst/>
          </a:prstGeom>
          <a:noFill/>
        </p:spPr>
        <p:txBody>
          <a:bodyPr wrap="square">
            <a:spAutoFit/>
          </a:bodyPr>
          <a:lstStyle/>
          <a:p>
            <a:pPr algn="ctr"/>
            <a:r>
              <a:rPr sz="3600" b="1" i="0">
                <a:solidFill>
                  <a:srgbClr val="FFC200"/>
                </a:solidFill>
              </a:rPr>
              <a:t>99,90 €</a:t>
            </a:r>
          </a:p>
        </p:txBody>
      </p:sp>
      <p:sp>
        <p:nvSpPr>
          <p:cNvPr id="21" name="TextBox 20"/>
          <p:cNvSpPr txBox="1"/>
          <p:nvPr/>
        </p:nvSpPr>
        <p:spPr>
          <a:xfrm>
            <a:off x="8915400" y="3721608"/>
            <a:ext cx="2468879" cy="548640"/>
          </a:xfrm>
          <a:prstGeom prst="rect">
            <a:avLst/>
          </a:prstGeom>
          <a:noFill/>
        </p:spPr>
        <p:txBody>
          <a:bodyPr wrap="square">
            <a:spAutoFit/>
          </a:bodyPr>
          <a:lstStyle/>
          <a:p>
            <a:pPr algn="ctr"/>
            <a:r>
              <a:rPr sz="1300" b="0" i="0">
                <a:solidFill>
                  <a:srgbClr val="FFFFFF"/>
                </a:solidFill>
              </a:rPr>
              <a:t>prix de vente public</a:t>
            </a:r>
          </a:p>
        </p:txBody>
      </p:sp>
      <p:sp>
        <p:nvSpPr>
          <p:cNvPr id="22" name="Rectangle 21"/>
          <p:cNvSpPr/>
          <p:nvPr/>
        </p:nvSpPr>
        <p:spPr>
          <a:xfrm>
            <a:off x="457200" y="4663440"/>
            <a:ext cx="11274552" cy="1097280"/>
          </a:xfrm>
          <a:prstGeom prst="rect">
            <a:avLst/>
          </a:prstGeom>
          <a:solidFill>
            <a:srgbClr val="D4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4736592"/>
            <a:ext cx="10972800" cy="960120"/>
          </a:xfrm>
          <a:prstGeom prst="rect">
            <a:avLst/>
          </a:prstGeom>
          <a:noFill/>
        </p:spPr>
        <p:txBody>
          <a:bodyPr wrap="square">
            <a:spAutoFit/>
          </a:bodyPr>
          <a:lstStyle/>
          <a:p>
            <a:pPr algn="l">
              <a:spcAft>
                <a:spcPts val="400"/>
              </a:spcAft>
            </a:pPr>
            <a:r>
              <a:rPr sz="1500" b="0">
                <a:solidFill>
                  <a:srgbClr val="0D1B3E"/>
                </a:solidFill>
              </a:rPr>
              <a:t>📍  Marché papeterie France : 4,6 Mds€ en 2025  ·  107 millions d'articles vendus à la rentrée 2024</a:t>
            </a:r>
          </a:p>
          <a:p>
            <a:pPr algn="l">
              <a:spcAft>
                <a:spcPts val="400"/>
              </a:spcAft>
            </a:pPr>
            <a:r>
              <a:rPr sz="1500" b="0">
                <a:solidFill>
                  <a:srgbClr val="0D1B3E"/>
                </a:solidFill>
              </a:rPr>
              <a:t>🚀  Segment stylos intelligents quasi inexistant en France → opportunité de positionnement pionnier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DEMANDE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2.1 Analyse quantitative de la demande</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Poids en volume et en valeur · Taux de croissance · Tendances</a:t>
            </a:r>
          </a:p>
        </p:txBody>
      </p:sp>
      <p:sp>
        <p:nvSpPr>
          <p:cNvPr id="9" name="Rectangle 8"/>
          <p:cNvSpPr/>
          <p:nvPr/>
        </p:nvSpPr>
        <p:spPr>
          <a:xfrm>
            <a:off x="365760" y="1600200"/>
            <a:ext cx="2743200" cy="173736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709928"/>
            <a:ext cx="2743200" cy="685800"/>
          </a:xfrm>
          <a:prstGeom prst="rect">
            <a:avLst/>
          </a:prstGeom>
          <a:noFill/>
        </p:spPr>
        <p:txBody>
          <a:bodyPr wrap="square">
            <a:spAutoFit/>
          </a:bodyPr>
          <a:lstStyle/>
          <a:p>
            <a:pPr algn="ctr"/>
            <a:r>
              <a:rPr sz="3600" b="1" i="0">
                <a:solidFill>
                  <a:srgbClr val="FFC200"/>
                </a:solidFill>
              </a:rPr>
              <a:t>4,6 Mds €</a:t>
            </a:r>
          </a:p>
        </p:txBody>
      </p:sp>
      <p:sp>
        <p:nvSpPr>
          <p:cNvPr id="11" name="TextBox 10"/>
          <p:cNvSpPr txBox="1"/>
          <p:nvPr/>
        </p:nvSpPr>
        <p:spPr>
          <a:xfrm>
            <a:off x="457200" y="2350008"/>
            <a:ext cx="2560320" cy="548640"/>
          </a:xfrm>
          <a:prstGeom prst="rect">
            <a:avLst/>
          </a:prstGeom>
          <a:noFill/>
        </p:spPr>
        <p:txBody>
          <a:bodyPr wrap="square">
            <a:spAutoFit/>
          </a:bodyPr>
          <a:lstStyle/>
          <a:p>
            <a:pPr algn="ctr"/>
            <a:r>
              <a:rPr sz="1300" b="0" i="0">
                <a:solidFill>
                  <a:srgbClr val="FFFFFF"/>
                </a:solidFill>
              </a:rPr>
              <a:t>Marché papeterie
France 2025</a:t>
            </a:r>
          </a:p>
        </p:txBody>
      </p:sp>
      <p:sp>
        <p:nvSpPr>
          <p:cNvPr id="12" name="Rectangle 11"/>
          <p:cNvSpPr/>
          <p:nvPr/>
        </p:nvSpPr>
        <p:spPr>
          <a:xfrm>
            <a:off x="3291840" y="1600200"/>
            <a:ext cx="2743200" cy="173736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91840" y="1709928"/>
            <a:ext cx="2743200" cy="685800"/>
          </a:xfrm>
          <a:prstGeom prst="rect">
            <a:avLst/>
          </a:prstGeom>
          <a:noFill/>
        </p:spPr>
        <p:txBody>
          <a:bodyPr wrap="square">
            <a:spAutoFit/>
          </a:bodyPr>
          <a:lstStyle/>
          <a:p>
            <a:pPr algn="ctr"/>
            <a:r>
              <a:rPr sz="3600" b="1" i="0">
                <a:solidFill>
                  <a:srgbClr val="FFC200"/>
                </a:solidFill>
              </a:rPr>
              <a:t>147,5 Mds $</a:t>
            </a:r>
          </a:p>
        </p:txBody>
      </p:sp>
      <p:sp>
        <p:nvSpPr>
          <p:cNvPr id="14" name="TextBox 13"/>
          <p:cNvSpPr txBox="1"/>
          <p:nvPr/>
        </p:nvSpPr>
        <p:spPr>
          <a:xfrm>
            <a:off x="3383280" y="2350008"/>
            <a:ext cx="2560320" cy="548640"/>
          </a:xfrm>
          <a:prstGeom prst="rect">
            <a:avLst/>
          </a:prstGeom>
          <a:noFill/>
        </p:spPr>
        <p:txBody>
          <a:bodyPr wrap="square">
            <a:spAutoFit/>
          </a:bodyPr>
          <a:lstStyle/>
          <a:p>
            <a:pPr algn="ctr"/>
            <a:r>
              <a:rPr sz="1300" b="0" i="0">
                <a:solidFill>
                  <a:srgbClr val="FFFFFF"/>
                </a:solidFill>
              </a:rPr>
              <a:t>Marché mondial 2024
+3,8 % / an jusqu'en 2034</a:t>
            </a:r>
          </a:p>
        </p:txBody>
      </p:sp>
      <p:sp>
        <p:nvSpPr>
          <p:cNvPr id="15" name="Rectangle 14"/>
          <p:cNvSpPr/>
          <p:nvPr/>
        </p:nvSpPr>
        <p:spPr>
          <a:xfrm>
            <a:off x="6217920" y="1600200"/>
            <a:ext cx="2743200" cy="1737360"/>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709928"/>
            <a:ext cx="2743200" cy="685800"/>
          </a:xfrm>
          <a:prstGeom prst="rect">
            <a:avLst/>
          </a:prstGeom>
          <a:noFill/>
        </p:spPr>
        <p:txBody>
          <a:bodyPr wrap="square">
            <a:spAutoFit/>
          </a:bodyPr>
          <a:lstStyle/>
          <a:p>
            <a:pPr algn="ctr"/>
            <a:r>
              <a:rPr sz="3600" b="1" i="0">
                <a:solidFill>
                  <a:srgbClr val="FFC200"/>
                </a:solidFill>
              </a:rPr>
              <a:t>107 M</a:t>
            </a:r>
          </a:p>
        </p:txBody>
      </p:sp>
      <p:sp>
        <p:nvSpPr>
          <p:cNvPr id="17" name="TextBox 16"/>
          <p:cNvSpPr txBox="1"/>
          <p:nvPr/>
        </p:nvSpPr>
        <p:spPr>
          <a:xfrm>
            <a:off x="6309360" y="2350008"/>
            <a:ext cx="2560320" cy="548640"/>
          </a:xfrm>
          <a:prstGeom prst="rect">
            <a:avLst/>
          </a:prstGeom>
          <a:noFill/>
        </p:spPr>
        <p:txBody>
          <a:bodyPr wrap="square">
            <a:spAutoFit/>
          </a:bodyPr>
          <a:lstStyle/>
          <a:p>
            <a:pPr algn="ctr"/>
            <a:r>
              <a:rPr sz="1300" b="0" i="0">
                <a:solidFill>
                  <a:srgbClr val="FFFFFF"/>
                </a:solidFill>
              </a:rPr>
              <a:t>Articles vendus
rentrée scolaire 2024</a:t>
            </a:r>
          </a:p>
        </p:txBody>
      </p:sp>
      <p:sp>
        <p:nvSpPr>
          <p:cNvPr id="18" name="Rectangle 17"/>
          <p:cNvSpPr/>
          <p:nvPr/>
        </p:nvSpPr>
        <p:spPr>
          <a:xfrm>
            <a:off x="9144000" y="1600200"/>
            <a:ext cx="2743200" cy="1737360"/>
          </a:xfrm>
          <a:prstGeom prst="rect">
            <a:avLst/>
          </a:prstGeom>
          <a:solidFill>
            <a:srgbClr val="C0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0" y="1709928"/>
            <a:ext cx="2743200" cy="685800"/>
          </a:xfrm>
          <a:prstGeom prst="rect">
            <a:avLst/>
          </a:prstGeom>
          <a:noFill/>
        </p:spPr>
        <p:txBody>
          <a:bodyPr wrap="square">
            <a:spAutoFit/>
          </a:bodyPr>
          <a:lstStyle/>
          <a:p>
            <a:pPr algn="ctr"/>
            <a:r>
              <a:rPr sz="3600" b="1" i="0">
                <a:solidFill>
                  <a:srgbClr val="FFC200"/>
                </a:solidFill>
              </a:rPr>
              <a:t>45 %</a:t>
            </a:r>
          </a:p>
        </p:txBody>
      </p:sp>
      <p:sp>
        <p:nvSpPr>
          <p:cNvPr id="20" name="TextBox 19"/>
          <p:cNvSpPr txBox="1"/>
          <p:nvPr/>
        </p:nvSpPr>
        <p:spPr>
          <a:xfrm>
            <a:off x="9235440" y="2350008"/>
            <a:ext cx="2560320" cy="548640"/>
          </a:xfrm>
          <a:prstGeom prst="rect">
            <a:avLst/>
          </a:prstGeom>
          <a:noFill/>
        </p:spPr>
        <p:txBody>
          <a:bodyPr wrap="square">
            <a:spAutoFit/>
          </a:bodyPr>
          <a:lstStyle/>
          <a:p>
            <a:pPr algn="ctr"/>
            <a:r>
              <a:rPr sz="1300" b="0" i="0">
                <a:solidFill>
                  <a:srgbClr val="FFFFFF"/>
                </a:solidFill>
              </a:rPr>
              <a:t>des répondants font
des fautes souvent</a:t>
            </a:r>
          </a:p>
        </p:txBody>
      </p:sp>
      <p:sp>
        <p:nvSpPr>
          <p:cNvPr id="21" name="Rectangle 20"/>
          <p:cNvSpPr/>
          <p:nvPr/>
        </p:nvSpPr>
        <p:spPr>
          <a:xfrm>
            <a:off x="365760" y="3611880"/>
            <a:ext cx="11457432" cy="11430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5760" y="3611880"/>
            <a:ext cx="109728" cy="1143000"/>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3703320"/>
            <a:ext cx="10972800" cy="384048"/>
          </a:xfrm>
          <a:prstGeom prst="rect">
            <a:avLst/>
          </a:prstGeom>
          <a:noFill/>
        </p:spPr>
        <p:txBody>
          <a:bodyPr wrap="square">
            <a:spAutoFit/>
          </a:bodyPr>
          <a:lstStyle/>
          <a:p>
            <a:pPr algn="l"/>
            <a:r>
              <a:rPr sz="1600" b="1" i="0">
                <a:solidFill>
                  <a:srgbClr val="0D1B3E"/>
                </a:solidFill>
              </a:rPr>
              <a:t>📊 Tri à plat — Fréquence des fautes (n=214)</a:t>
            </a:r>
          </a:p>
        </p:txBody>
      </p:sp>
      <p:sp>
        <p:nvSpPr>
          <p:cNvPr id="24" name="TextBox 23"/>
          <p:cNvSpPr txBox="1"/>
          <p:nvPr/>
        </p:nvSpPr>
        <p:spPr>
          <a:xfrm>
            <a:off x="594360" y="4114800"/>
            <a:ext cx="10972800" cy="566928"/>
          </a:xfrm>
          <a:prstGeom prst="rect">
            <a:avLst/>
          </a:prstGeom>
          <a:noFill/>
        </p:spPr>
        <p:txBody>
          <a:bodyPr wrap="square">
            <a:spAutoFit/>
          </a:bodyPr>
          <a:lstStyle/>
          <a:p>
            <a:pPr algn="l"/>
            <a:r>
              <a:rPr sz="1500" b="0" i="0">
                <a:solidFill>
                  <a:srgbClr val="4A5A7A"/>
                </a:solidFill>
              </a:rPr>
              <a:t>45 % des répondants font des fautes souvent ou très souvent. Ce chiffre valide le besoin concret et quotidien du produit sur le marché. C'est la cible directe et fonctionnelle du Stylo Ortho.</a:t>
            </a:r>
          </a:p>
        </p:txBody>
      </p:sp>
      <p:sp>
        <p:nvSpPr>
          <p:cNvPr id="25" name="Rectangle 24"/>
          <p:cNvSpPr/>
          <p:nvPr/>
        </p:nvSpPr>
        <p:spPr>
          <a:xfrm>
            <a:off x="365760" y="4937760"/>
            <a:ext cx="11457432" cy="8229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974336"/>
            <a:ext cx="10972800" cy="347472"/>
          </a:xfrm>
          <a:prstGeom prst="rect">
            <a:avLst/>
          </a:prstGeom>
          <a:noFill/>
        </p:spPr>
        <p:txBody>
          <a:bodyPr wrap="square">
            <a:spAutoFit/>
          </a:bodyPr>
          <a:lstStyle/>
          <a:p>
            <a:pPr algn="l"/>
            <a:r>
              <a:rPr sz="1400" b="1" i="0">
                <a:solidFill>
                  <a:srgbClr val="0D1B3E"/>
                </a:solidFill>
              </a:rPr>
              <a:t>Fréquence des fautes d'orthographe (enquête n=214)</a:t>
            </a:r>
          </a:p>
        </p:txBody>
      </p:sp>
      <p:sp>
        <p:nvSpPr>
          <p:cNvPr id="27" name="Rectangle 26"/>
          <p:cNvSpPr/>
          <p:nvPr/>
        </p:nvSpPr>
        <p:spPr>
          <a:xfrm>
            <a:off x="548640" y="5376672"/>
            <a:ext cx="2434132" cy="310896"/>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376672"/>
            <a:ext cx="2342692" cy="310896"/>
          </a:xfrm>
          <a:prstGeom prst="rect">
            <a:avLst/>
          </a:prstGeom>
          <a:noFill/>
        </p:spPr>
        <p:txBody>
          <a:bodyPr wrap="square">
            <a:spAutoFit/>
          </a:bodyPr>
          <a:lstStyle/>
          <a:p>
            <a:pPr algn="ctr"/>
            <a:r>
              <a:rPr sz="1100" b="1" i="0">
                <a:solidFill>
                  <a:srgbClr val="FFFFFF"/>
                </a:solidFill>
              </a:rPr>
              <a:t>Très souvent
22%</a:t>
            </a:r>
          </a:p>
        </p:txBody>
      </p:sp>
      <p:sp>
        <p:nvSpPr>
          <p:cNvPr id="29" name="Rectangle 28"/>
          <p:cNvSpPr/>
          <p:nvPr/>
        </p:nvSpPr>
        <p:spPr>
          <a:xfrm>
            <a:off x="2982772" y="5376672"/>
            <a:ext cx="2544775" cy="310896"/>
          </a:xfrm>
          <a:prstGeom prst="rect">
            <a:avLst/>
          </a:prstGeom>
          <a:solidFill>
            <a:srgbClr val="FF9F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28492" y="5376672"/>
            <a:ext cx="2453335" cy="310896"/>
          </a:xfrm>
          <a:prstGeom prst="rect">
            <a:avLst/>
          </a:prstGeom>
          <a:noFill/>
        </p:spPr>
        <p:txBody>
          <a:bodyPr wrap="square">
            <a:spAutoFit/>
          </a:bodyPr>
          <a:lstStyle/>
          <a:p>
            <a:pPr algn="ctr"/>
            <a:r>
              <a:rPr sz="1100" b="1" i="0">
                <a:solidFill>
                  <a:srgbClr val="FFFFFF"/>
                </a:solidFill>
              </a:rPr>
              <a:t>Souvent
23%</a:t>
            </a:r>
          </a:p>
        </p:txBody>
      </p:sp>
      <p:sp>
        <p:nvSpPr>
          <p:cNvPr id="31" name="Rectangle 30"/>
          <p:cNvSpPr/>
          <p:nvPr/>
        </p:nvSpPr>
        <p:spPr>
          <a:xfrm>
            <a:off x="5527548" y="5376672"/>
            <a:ext cx="3872483" cy="310896"/>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573268" y="5376672"/>
            <a:ext cx="3781044" cy="310896"/>
          </a:xfrm>
          <a:prstGeom prst="rect">
            <a:avLst/>
          </a:prstGeom>
          <a:noFill/>
        </p:spPr>
        <p:txBody>
          <a:bodyPr wrap="square">
            <a:spAutoFit/>
          </a:bodyPr>
          <a:lstStyle/>
          <a:p>
            <a:pPr algn="ctr"/>
            <a:r>
              <a:rPr sz="1100" b="1" i="0">
                <a:solidFill>
                  <a:srgbClr val="FFFFFF"/>
                </a:solidFill>
              </a:rPr>
              <a:t>Parfois
35%</a:t>
            </a:r>
          </a:p>
        </p:txBody>
      </p:sp>
      <p:sp>
        <p:nvSpPr>
          <p:cNvPr id="33" name="Rectangle 32"/>
          <p:cNvSpPr/>
          <p:nvPr/>
        </p:nvSpPr>
        <p:spPr>
          <a:xfrm>
            <a:off x="9400032" y="5376672"/>
            <a:ext cx="2212848" cy="310896"/>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445752" y="5376672"/>
            <a:ext cx="2121408" cy="310896"/>
          </a:xfrm>
          <a:prstGeom prst="rect">
            <a:avLst/>
          </a:prstGeom>
          <a:noFill/>
        </p:spPr>
        <p:txBody>
          <a:bodyPr wrap="square">
            <a:spAutoFit/>
          </a:bodyPr>
          <a:lstStyle/>
          <a:p>
            <a:pPr algn="ctr"/>
            <a:r>
              <a:rPr sz="1100" b="1" i="0">
                <a:solidFill>
                  <a:srgbClr val="FFFFFF"/>
                </a:solidFill>
              </a:rPr>
              <a:t>Rarement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DEMANDE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2.2 Analyse qualitative — Les acteurs</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Qui achète ? Qui utilise ? Qui recommande ?</a:t>
            </a:r>
          </a:p>
        </p:txBody>
      </p:sp>
      <p:sp>
        <p:nvSpPr>
          <p:cNvPr id="9" name="Rectangle 8"/>
          <p:cNvSpPr/>
          <p:nvPr/>
        </p:nvSpPr>
        <p:spPr>
          <a:xfrm>
            <a:off x="320040" y="1572768"/>
            <a:ext cx="2788920" cy="502920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1645920"/>
            <a:ext cx="2788920" cy="594360"/>
          </a:xfrm>
          <a:prstGeom prst="rect">
            <a:avLst/>
          </a:prstGeom>
          <a:noFill/>
        </p:spPr>
        <p:txBody>
          <a:bodyPr wrap="square">
            <a:spAutoFit/>
          </a:bodyPr>
          <a:lstStyle/>
          <a:p>
            <a:pPr algn="ctr"/>
            <a:r>
              <a:rPr sz="2800" b="0" i="0">
                <a:solidFill>
                  <a:srgbClr val="FFFFFF"/>
                </a:solidFill>
              </a:rPr>
              <a:t>🛒</a:t>
            </a:r>
          </a:p>
        </p:txBody>
      </p:sp>
      <p:sp>
        <p:nvSpPr>
          <p:cNvPr id="11" name="TextBox 10"/>
          <p:cNvSpPr txBox="1"/>
          <p:nvPr/>
        </p:nvSpPr>
        <p:spPr>
          <a:xfrm>
            <a:off x="320040" y="2176272"/>
            <a:ext cx="2788920" cy="475488"/>
          </a:xfrm>
          <a:prstGeom prst="rect">
            <a:avLst/>
          </a:prstGeom>
          <a:noFill/>
        </p:spPr>
        <p:txBody>
          <a:bodyPr wrap="square">
            <a:spAutoFit/>
          </a:bodyPr>
          <a:lstStyle/>
          <a:p>
            <a:pPr algn="ctr"/>
            <a:r>
              <a:rPr sz="1900" b="1" i="0">
                <a:solidFill>
                  <a:srgbClr val="FFC200"/>
                </a:solidFill>
              </a:rPr>
              <a:t>Acheteur</a:t>
            </a:r>
          </a:p>
        </p:txBody>
      </p:sp>
      <p:sp>
        <p:nvSpPr>
          <p:cNvPr id="12" name="Rectangle 11"/>
          <p:cNvSpPr/>
          <p:nvPr/>
        </p:nvSpPr>
        <p:spPr>
          <a:xfrm>
            <a:off x="502920" y="2633472"/>
            <a:ext cx="242316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2743200"/>
            <a:ext cx="2423160" cy="530352"/>
          </a:xfrm>
          <a:prstGeom prst="rect">
            <a:avLst/>
          </a:prstGeom>
          <a:noFill/>
        </p:spPr>
        <p:txBody>
          <a:bodyPr wrap="square">
            <a:spAutoFit/>
          </a:bodyPr>
          <a:lstStyle/>
          <a:p>
            <a:pPr algn="l"/>
            <a:r>
              <a:rPr sz="1300" b="0" i="0">
                <a:solidFill>
                  <a:srgbClr val="FFFFFF"/>
                </a:solidFill>
              </a:rPr>
              <a:t>• Parents d'élèves
(30–50 ans)</a:t>
            </a:r>
          </a:p>
        </p:txBody>
      </p:sp>
      <p:sp>
        <p:nvSpPr>
          <p:cNvPr id="14" name="TextBox 13"/>
          <p:cNvSpPr txBox="1"/>
          <p:nvPr/>
        </p:nvSpPr>
        <p:spPr>
          <a:xfrm>
            <a:off x="502920" y="3310128"/>
            <a:ext cx="2423160" cy="530352"/>
          </a:xfrm>
          <a:prstGeom prst="rect">
            <a:avLst/>
          </a:prstGeom>
          <a:noFill/>
        </p:spPr>
        <p:txBody>
          <a:bodyPr wrap="square">
            <a:spAutoFit/>
          </a:bodyPr>
          <a:lstStyle/>
          <a:p>
            <a:pPr algn="l"/>
            <a:r>
              <a:rPr sz="1300" b="0" i="0">
                <a:solidFill>
                  <a:srgbClr val="FFFFFF"/>
                </a:solidFill>
              </a:rPr>
              <a:t>• Élèves eux-mêmes
(dès le collège)</a:t>
            </a:r>
          </a:p>
        </p:txBody>
      </p:sp>
      <p:sp>
        <p:nvSpPr>
          <p:cNvPr id="15" name="TextBox 14"/>
          <p:cNvSpPr txBox="1"/>
          <p:nvPr/>
        </p:nvSpPr>
        <p:spPr>
          <a:xfrm>
            <a:off x="502920" y="3877056"/>
            <a:ext cx="2423160" cy="530352"/>
          </a:xfrm>
          <a:prstGeom prst="rect">
            <a:avLst/>
          </a:prstGeom>
          <a:noFill/>
        </p:spPr>
        <p:txBody>
          <a:bodyPr wrap="square">
            <a:spAutoFit/>
          </a:bodyPr>
          <a:lstStyle/>
          <a:p>
            <a:pPr algn="l"/>
            <a:r>
              <a:rPr sz="1300" b="0" i="0">
                <a:solidFill>
                  <a:srgbClr val="FFFFFF"/>
                </a:solidFill>
              </a:rPr>
              <a:t>• Entreprises</a:t>
            </a:r>
          </a:p>
        </p:txBody>
      </p:sp>
      <p:sp>
        <p:nvSpPr>
          <p:cNvPr id="16" name="TextBox 15"/>
          <p:cNvSpPr txBox="1"/>
          <p:nvPr/>
        </p:nvSpPr>
        <p:spPr>
          <a:xfrm>
            <a:off x="502920" y="4443983"/>
            <a:ext cx="2423160" cy="530352"/>
          </a:xfrm>
          <a:prstGeom prst="rect">
            <a:avLst/>
          </a:prstGeom>
          <a:noFill/>
        </p:spPr>
        <p:txBody>
          <a:bodyPr wrap="square">
            <a:spAutoFit/>
          </a:bodyPr>
          <a:lstStyle/>
          <a:p>
            <a:pPr algn="l"/>
            <a:r>
              <a:rPr sz="1300" b="0" i="0">
                <a:solidFill>
                  <a:srgbClr val="FFFFFF"/>
                </a:solidFill>
              </a:rPr>
              <a:t>• Écoles et centres
de formation</a:t>
            </a:r>
          </a:p>
        </p:txBody>
      </p:sp>
      <p:sp>
        <p:nvSpPr>
          <p:cNvPr id="17" name="Rectangle 16"/>
          <p:cNvSpPr/>
          <p:nvPr/>
        </p:nvSpPr>
        <p:spPr>
          <a:xfrm>
            <a:off x="3291840" y="1572768"/>
            <a:ext cx="2788920" cy="5029200"/>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91840" y="1645920"/>
            <a:ext cx="2788920" cy="594360"/>
          </a:xfrm>
          <a:prstGeom prst="rect">
            <a:avLst/>
          </a:prstGeom>
          <a:noFill/>
        </p:spPr>
        <p:txBody>
          <a:bodyPr wrap="square">
            <a:spAutoFit/>
          </a:bodyPr>
          <a:lstStyle/>
          <a:p>
            <a:pPr algn="ctr"/>
            <a:r>
              <a:rPr sz="2800" b="0" i="0">
                <a:solidFill>
                  <a:srgbClr val="FFFFFF"/>
                </a:solidFill>
              </a:rPr>
              <a:t>✏️</a:t>
            </a:r>
          </a:p>
        </p:txBody>
      </p:sp>
      <p:sp>
        <p:nvSpPr>
          <p:cNvPr id="19" name="TextBox 18"/>
          <p:cNvSpPr txBox="1"/>
          <p:nvPr/>
        </p:nvSpPr>
        <p:spPr>
          <a:xfrm>
            <a:off x="3291840" y="2176272"/>
            <a:ext cx="2788920" cy="475488"/>
          </a:xfrm>
          <a:prstGeom prst="rect">
            <a:avLst/>
          </a:prstGeom>
          <a:noFill/>
        </p:spPr>
        <p:txBody>
          <a:bodyPr wrap="square">
            <a:spAutoFit/>
          </a:bodyPr>
          <a:lstStyle/>
          <a:p>
            <a:pPr algn="ctr"/>
            <a:r>
              <a:rPr sz="1900" b="1" i="0">
                <a:solidFill>
                  <a:srgbClr val="FFC200"/>
                </a:solidFill>
              </a:rPr>
              <a:t>Utilisateur</a:t>
            </a:r>
          </a:p>
        </p:txBody>
      </p:sp>
      <p:sp>
        <p:nvSpPr>
          <p:cNvPr id="20" name="Rectangle 19"/>
          <p:cNvSpPr/>
          <p:nvPr/>
        </p:nvSpPr>
        <p:spPr>
          <a:xfrm>
            <a:off x="3474720" y="2633472"/>
            <a:ext cx="242316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74720" y="2743200"/>
            <a:ext cx="2423160" cy="530352"/>
          </a:xfrm>
          <a:prstGeom prst="rect">
            <a:avLst/>
          </a:prstGeom>
          <a:noFill/>
        </p:spPr>
        <p:txBody>
          <a:bodyPr wrap="square">
            <a:spAutoFit/>
          </a:bodyPr>
          <a:lstStyle/>
          <a:p>
            <a:pPr algn="l"/>
            <a:r>
              <a:rPr sz="1300" b="0" i="0">
                <a:solidFill>
                  <a:srgbClr val="FFFFFF"/>
                </a:solidFill>
              </a:rPr>
              <a:t>• Élèves et étudiants
(dès le collège)</a:t>
            </a:r>
          </a:p>
        </p:txBody>
      </p:sp>
      <p:sp>
        <p:nvSpPr>
          <p:cNvPr id="22" name="TextBox 21"/>
          <p:cNvSpPr txBox="1"/>
          <p:nvPr/>
        </p:nvSpPr>
        <p:spPr>
          <a:xfrm>
            <a:off x="3474720" y="3310128"/>
            <a:ext cx="2423160" cy="530352"/>
          </a:xfrm>
          <a:prstGeom prst="rect">
            <a:avLst/>
          </a:prstGeom>
          <a:noFill/>
        </p:spPr>
        <p:txBody>
          <a:bodyPr wrap="square">
            <a:spAutoFit/>
          </a:bodyPr>
          <a:lstStyle/>
          <a:p>
            <a:pPr algn="l"/>
            <a:r>
              <a:rPr sz="1300" b="0" i="0">
                <a:solidFill>
                  <a:srgbClr val="FFFFFF"/>
                </a:solidFill>
              </a:rPr>
              <a:t>• Professionnels
écrivant à la main</a:t>
            </a:r>
          </a:p>
        </p:txBody>
      </p:sp>
      <p:sp>
        <p:nvSpPr>
          <p:cNvPr id="23" name="TextBox 22"/>
          <p:cNvSpPr txBox="1"/>
          <p:nvPr/>
        </p:nvSpPr>
        <p:spPr>
          <a:xfrm>
            <a:off x="3474720" y="3877056"/>
            <a:ext cx="2423160" cy="530352"/>
          </a:xfrm>
          <a:prstGeom prst="rect">
            <a:avLst/>
          </a:prstGeom>
          <a:noFill/>
        </p:spPr>
        <p:txBody>
          <a:bodyPr wrap="square">
            <a:spAutoFit/>
          </a:bodyPr>
          <a:lstStyle/>
          <a:p>
            <a:pPr algn="l"/>
            <a:r>
              <a:rPr sz="1300" b="0" i="0">
                <a:solidFill>
                  <a:srgbClr val="FFFFFF"/>
                </a:solidFill>
              </a:rPr>
              <a:t>• Personnes avec
difficultés d'écriture</a:t>
            </a:r>
          </a:p>
        </p:txBody>
      </p:sp>
      <p:sp>
        <p:nvSpPr>
          <p:cNvPr id="24" name="TextBox 23"/>
          <p:cNvSpPr txBox="1"/>
          <p:nvPr/>
        </p:nvSpPr>
        <p:spPr>
          <a:xfrm>
            <a:off x="3474720" y="4443983"/>
            <a:ext cx="2423160" cy="530352"/>
          </a:xfrm>
          <a:prstGeom prst="rect">
            <a:avLst/>
          </a:prstGeom>
          <a:noFill/>
        </p:spPr>
        <p:txBody>
          <a:bodyPr wrap="square">
            <a:spAutoFit/>
          </a:bodyPr>
          <a:lstStyle/>
          <a:p>
            <a:pPr algn="l"/>
            <a:r>
              <a:rPr sz="1300" b="0" i="0">
                <a:solidFill>
                  <a:srgbClr val="FFFFFF"/>
                </a:solidFill>
              </a:rPr>
              <a:t>• Apprenants d'une
langue étrangère</a:t>
            </a:r>
          </a:p>
        </p:txBody>
      </p:sp>
      <p:sp>
        <p:nvSpPr>
          <p:cNvPr id="25" name="Rectangle 24"/>
          <p:cNvSpPr/>
          <p:nvPr/>
        </p:nvSpPr>
        <p:spPr>
          <a:xfrm>
            <a:off x="6263640" y="1572768"/>
            <a:ext cx="2788920" cy="5029200"/>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63640" y="1645920"/>
            <a:ext cx="2788920" cy="594360"/>
          </a:xfrm>
          <a:prstGeom prst="rect">
            <a:avLst/>
          </a:prstGeom>
          <a:noFill/>
        </p:spPr>
        <p:txBody>
          <a:bodyPr wrap="square">
            <a:spAutoFit/>
          </a:bodyPr>
          <a:lstStyle/>
          <a:p>
            <a:pPr algn="ctr"/>
            <a:r>
              <a:rPr sz="2800" b="0" i="0">
                <a:solidFill>
                  <a:srgbClr val="FFFFFF"/>
                </a:solidFill>
              </a:rPr>
              <a:t>🎓</a:t>
            </a:r>
          </a:p>
        </p:txBody>
      </p:sp>
      <p:sp>
        <p:nvSpPr>
          <p:cNvPr id="27" name="TextBox 26"/>
          <p:cNvSpPr txBox="1"/>
          <p:nvPr/>
        </p:nvSpPr>
        <p:spPr>
          <a:xfrm>
            <a:off x="6263640" y="2176272"/>
            <a:ext cx="2788920" cy="475488"/>
          </a:xfrm>
          <a:prstGeom prst="rect">
            <a:avLst/>
          </a:prstGeom>
          <a:noFill/>
        </p:spPr>
        <p:txBody>
          <a:bodyPr wrap="square">
            <a:spAutoFit/>
          </a:bodyPr>
          <a:lstStyle/>
          <a:p>
            <a:pPr algn="ctr"/>
            <a:r>
              <a:rPr sz="1900" b="1" i="0">
                <a:solidFill>
                  <a:srgbClr val="FFC200"/>
                </a:solidFill>
              </a:rPr>
              <a:t>Prescripteur</a:t>
            </a:r>
          </a:p>
        </p:txBody>
      </p:sp>
      <p:sp>
        <p:nvSpPr>
          <p:cNvPr id="28" name="Rectangle 27"/>
          <p:cNvSpPr/>
          <p:nvPr/>
        </p:nvSpPr>
        <p:spPr>
          <a:xfrm>
            <a:off x="6446520" y="2633472"/>
            <a:ext cx="242316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2743200"/>
            <a:ext cx="2423160" cy="530352"/>
          </a:xfrm>
          <a:prstGeom prst="rect">
            <a:avLst/>
          </a:prstGeom>
          <a:noFill/>
        </p:spPr>
        <p:txBody>
          <a:bodyPr wrap="square">
            <a:spAutoFit/>
          </a:bodyPr>
          <a:lstStyle/>
          <a:p>
            <a:pPr algn="l"/>
            <a:r>
              <a:rPr sz="1300" b="0" i="0">
                <a:solidFill>
                  <a:srgbClr val="FFFFFF"/>
                </a:solidFill>
              </a:rPr>
              <a:t>• Enseignants et
éducateurs spécialisés</a:t>
            </a:r>
          </a:p>
        </p:txBody>
      </p:sp>
      <p:sp>
        <p:nvSpPr>
          <p:cNvPr id="30" name="TextBox 29"/>
          <p:cNvSpPr txBox="1"/>
          <p:nvPr/>
        </p:nvSpPr>
        <p:spPr>
          <a:xfrm>
            <a:off x="6446520" y="3310128"/>
            <a:ext cx="2423160" cy="530352"/>
          </a:xfrm>
          <a:prstGeom prst="rect">
            <a:avLst/>
          </a:prstGeom>
          <a:noFill/>
        </p:spPr>
        <p:txBody>
          <a:bodyPr wrap="square">
            <a:spAutoFit/>
          </a:bodyPr>
          <a:lstStyle/>
          <a:p>
            <a:pPr algn="l"/>
            <a:r>
              <a:rPr sz="1300" b="0" i="0">
                <a:solidFill>
                  <a:srgbClr val="FFFFFF"/>
                </a:solidFill>
              </a:rPr>
              <a:t>• Orthophonistes</a:t>
            </a:r>
          </a:p>
        </p:txBody>
      </p:sp>
      <p:sp>
        <p:nvSpPr>
          <p:cNvPr id="31" name="TextBox 30"/>
          <p:cNvSpPr txBox="1"/>
          <p:nvPr/>
        </p:nvSpPr>
        <p:spPr>
          <a:xfrm>
            <a:off x="6446520" y="3877056"/>
            <a:ext cx="2423160" cy="530352"/>
          </a:xfrm>
          <a:prstGeom prst="rect">
            <a:avLst/>
          </a:prstGeom>
          <a:noFill/>
        </p:spPr>
        <p:txBody>
          <a:bodyPr wrap="square">
            <a:spAutoFit/>
          </a:bodyPr>
          <a:lstStyle/>
          <a:p>
            <a:pPr algn="l"/>
            <a:r>
              <a:rPr sz="1300" b="0" i="0">
                <a:solidFill>
                  <a:srgbClr val="FFFFFF"/>
                </a:solidFill>
              </a:rPr>
              <a:t>• Conseillers
d'orientation</a:t>
            </a:r>
          </a:p>
        </p:txBody>
      </p:sp>
      <p:sp>
        <p:nvSpPr>
          <p:cNvPr id="32" name="Rectangle 31"/>
          <p:cNvSpPr/>
          <p:nvPr/>
        </p:nvSpPr>
        <p:spPr>
          <a:xfrm>
            <a:off x="9235440" y="1572768"/>
            <a:ext cx="2788920" cy="5029200"/>
          </a:xfrm>
          <a:prstGeom prst="rect">
            <a:avLst/>
          </a:prstGeom>
          <a:solidFill>
            <a:srgbClr val="C0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235440" y="1645920"/>
            <a:ext cx="2788920" cy="594360"/>
          </a:xfrm>
          <a:prstGeom prst="rect">
            <a:avLst/>
          </a:prstGeom>
          <a:noFill/>
        </p:spPr>
        <p:txBody>
          <a:bodyPr wrap="square">
            <a:spAutoFit/>
          </a:bodyPr>
          <a:lstStyle/>
          <a:p>
            <a:pPr algn="ctr"/>
            <a:r>
              <a:rPr sz="2800" b="0" i="0">
                <a:solidFill>
                  <a:srgbClr val="FFFFFF"/>
                </a:solidFill>
              </a:rPr>
              <a:t>📣</a:t>
            </a:r>
          </a:p>
        </p:txBody>
      </p:sp>
      <p:sp>
        <p:nvSpPr>
          <p:cNvPr id="34" name="TextBox 33"/>
          <p:cNvSpPr txBox="1"/>
          <p:nvPr/>
        </p:nvSpPr>
        <p:spPr>
          <a:xfrm>
            <a:off x="9235440" y="2176272"/>
            <a:ext cx="2788920" cy="475488"/>
          </a:xfrm>
          <a:prstGeom prst="rect">
            <a:avLst/>
          </a:prstGeom>
          <a:noFill/>
        </p:spPr>
        <p:txBody>
          <a:bodyPr wrap="square">
            <a:spAutoFit/>
          </a:bodyPr>
          <a:lstStyle/>
          <a:p>
            <a:pPr algn="ctr"/>
            <a:r>
              <a:rPr sz="1900" b="1" i="0">
                <a:solidFill>
                  <a:srgbClr val="FFC200"/>
                </a:solidFill>
              </a:rPr>
              <a:t>Influenceur</a:t>
            </a:r>
          </a:p>
        </p:txBody>
      </p:sp>
      <p:sp>
        <p:nvSpPr>
          <p:cNvPr id="35" name="Rectangle 34"/>
          <p:cNvSpPr/>
          <p:nvPr/>
        </p:nvSpPr>
        <p:spPr>
          <a:xfrm>
            <a:off x="9418319" y="2633472"/>
            <a:ext cx="242316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418319" y="2743200"/>
            <a:ext cx="2423160" cy="530352"/>
          </a:xfrm>
          <a:prstGeom prst="rect">
            <a:avLst/>
          </a:prstGeom>
          <a:noFill/>
        </p:spPr>
        <p:txBody>
          <a:bodyPr wrap="square">
            <a:spAutoFit/>
          </a:bodyPr>
          <a:lstStyle/>
          <a:p>
            <a:pPr algn="l"/>
            <a:r>
              <a:rPr sz="1300" b="0" i="0">
                <a:solidFill>
                  <a:srgbClr val="FFFFFF"/>
                </a:solidFill>
              </a:rPr>
              <a:t>• Influenceurs éducatifs
TikTok / Instagram</a:t>
            </a:r>
          </a:p>
        </p:txBody>
      </p:sp>
      <p:sp>
        <p:nvSpPr>
          <p:cNvPr id="37" name="TextBox 36"/>
          <p:cNvSpPr txBox="1"/>
          <p:nvPr/>
        </p:nvSpPr>
        <p:spPr>
          <a:xfrm>
            <a:off x="9418319" y="3310128"/>
            <a:ext cx="2423160" cy="530352"/>
          </a:xfrm>
          <a:prstGeom prst="rect">
            <a:avLst/>
          </a:prstGeom>
          <a:noFill/>
        </p:spPr>
        <p:txBody>
          <a:bodyPr wrap="square">
            <a:spAutoFit/>
          </a:bodyPr>
          <a:lstStyle/>
          <a:p>
            <a:pPr algn="l"/>
            <a:r>
              <a:rPr sz="1300" b="0" i="0">
                <a:solidFill>
                  <a:srgbClr val="FFFFFF"/>
                </a:solidFill>
              </a:rPr>
              <a:t>• Médias parentaux
et scolaires</a:t>
            </a:r>
          </a:p>
        </p:txBody>
      </p:sp>
      <p:sp>
        <p:nvSpPr>
          <p:cNvPr id="38" name="TextBox 37"/>
          <p:cNvSpPr txBox="1"/>
          <p:nvPr/>
        </p:nvSpPr>
        <p:spPr>
          <a:xfrm>
            <a:off x="9418319" y="3877056"/>
            <a:ext cx="2423160" cy="530352"/>
          </a:xfrm>
          <a:prstGeom prst="rect">
            <a:avLst/>
          </a:prstGeom>
          <a:noFill/>
        </p:spPr>
        <p:txBody>
          <a:bodyPr wrap="square">
            <a:spAutoFit/>
          </a:bodyPr>
          <a:lstStyle/>
          <a:p>
            <a:pPr algn="l"/>
            <a:r>
              <a:rPr sz="1300" b="0" i="0">
                <a:solidFill>
                  <a:srgbClr val="FFFFFF"/>
                </a:solidFill>
              </a:rPr>
              <a:t>• Bouche-à-oreille
scolaire</a:t>
            </a:r>
          </a:p>
        </p:txBody>
      </p:sp>
      <p:sp>
        <p:nvSpPr>
          <p:cNvPr id="39" name="Rectangle 38"/>
          <p:cNvSpPr/>
          <p:nvPr/>
        </p:nvSpPr>
        <p:spPr>
          <a:xfrm>
            <a:off x="320040" y="6400800"/>
            <a:ext cx="11457432" cy="347472"/>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6428232"/>
            <a:ext cx="11155680" cy="292608"/>
          </a:xfrm>
          <a:prstGeom prst="rect">
            <a:avLst/>
          </a:prstGeom>
          <a:noFill/>
        </p:spPr>
        <p:txBody>
          <a:bodyPr wrap="square">
            <a:spAutoFit/>
          </a:bodyPr>
          <a:lstStyle/>
          <a:p>
            <a:pPr algn="ctr"/>
            <a:r>
              <a:rPr sz="1300" b="1" i="0">
                <a:solidFill>
                  <a:srgbClr val="0D1B3E"/>
                </a:solidFill>
              </a:rPr>
              <a:t>46,7 % des répondants ont déjà ressenti de la gêne à cause de leurs fautes — le Stylo Ortho lève ce frein.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DEMANDE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Facteurs individuels</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Ce qui motive — ou freine — l'achat du Stylo Ortho</a:t>
            </a:r>
          </a:p>
        </p:txBody>
      </p:sp>
      <p:sp>
        <p:nvSpPr>
          <p:cNvPr id="9" name="Rectangle 8"/>
          <p:cNvSpPr/>
          <p:nvPr/>
        </p:nvSpPr>
        <p:spPr>
          <a:xfrm>
            <a:off x="365760" y="1600200"/>
            <a:ext cx="11457432" cy="859536"/>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801368"/>
            <a:ext cx="548640" cy="457200"/>
          </a:xfrm>
          <a:prstGeom prst="rect">
            <a:avLst/>
          </a:prstGeom>
          <a:noFill/>
        </p:spPr>
        <p:txBody>
          <a:bodyPr wrap="square">
            <a:spAutoFit/>
          </a:bodyPr>
          <a:lstStyle/>
          <a:p>
            <a:pPr algn="ctr"/>
            <a:r>
              <a:rPr sz="2200" b="0" i="0">
                <a:solidFill>
                  <a:srgbClr val="FFFFFF"/>
                </a:solidFill>
              </a:rPr>
              <a:t>💡</a:t>
            </a:r>
          </a:p>
        </p:txBody>
      </p:sp>
      <p:sp>
        <p:nvSpPr>
          <p:cNvPr id="11" name="TextBox 10"/>
          <p:cNvSpPr txBox="1"/>
          <p:nvPr/>
        </p:nvSpPr>
        <p:spPr>
          <a:xfrm>
            <a:off x="1143000" y="1673352"/>
            <a:ext cx="2560320" cy="384048"/>
          </a:xfrm>
          <a:prstGeom prst="rect">
            <a:avLst/>
          </a:prstGeom>
          <a:noFill/>
        </p:spPr>
        <p:txBody>
          <a:bodyPr wrap="square">
            <a:spAutoFit/>
          </a:bodyPr>
          <a:lstStyle/>
          <a:p>
            <a:pPr algn="l"/>
            <a:r>
              <a:rPr sz="1600" b="1" i="0">
                <a:solidFill>
                  <a:srgbClr val="FFC200"/>
                </a:solidFill>
              </a:rPr>
              <a:t>Les besoins</a:t>
            </a:r>
          </a:p>
        </p:txBody>
      </p:sp>
      <p:sp>
        <p:nvSpPr>
          <p:cNvPr id="12" name="TextBox 11"/>
          <p:cNvSpPr txBox="1"/>
          <p:nvPr/>
        </p:nvSpPr>
        <p:spPr>
          <a:xfrm>
            <a:off x="3840480" y="1673352"/>
            <a:ext cx="7863840" cy="694944"/>
          </a:xfrm>
          <a:prstGeom prst="rect">
            <a:avLst/>
          </a:prstGeom>
          <a:noFill/>
        </p:spPr>
        <p:txBody>
          <a:bodyPr wrap="square">
            <a:spAutoFit/>
          </a:bodyPr>
          <a:lstStyle/>
          <a:p>
            <a:pPr algn="l"/>
            <a:r>
              <a:rPr sz="1400" b="0" i="0">
                <a:solidFill>
                  <a:srgbClr val="FFFFFF"/>
                </a:solidFill>
              </a:rPr>
              <a:t>Besoin préexistant et latent de corriger ses fautes. Le Stylo Ortho le rend explicite et actionnable.</a:t>
            </a:r>
          </a:p>
        </p:txBody>
      </p:sp>
      <p:sp>
        <p:nvSpPr>
          <p:cNvPr id="13" name="Rectangle 12"/>
          <p:cNvSpPr/>
          <p:nvPr/>
        </p:nvSpPr>
        <p:spPr>
          <a:xfrm>
            <a:off x="365760" y="2514600"/>
            <a:ext cx="11457432" cy="859536"/>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2715768"/>
            <a:ext cx="548640" cy="457200"/>
          </a:xfrm>
          <a:prstGeom prst="rect">
            <a:avLst/>
          </a:prstGeom>
          <a:noFill/>
        </p:spPr>
        <p:txBody>
          <a:bodyPr wrap="square">
            <a:spAutoFit/>
          </a:bodyPr>
          <a:lstStyle/>
          <a:p>
            <a:pPr algn="ctr"/>
            <a:r>
              <a:rPr sz="2200" b="0" i="0">
                <a:solidFill>
                  <a:srgbClr val="FFFFFF"/>
                </a:solidFill>
              </a:rPr>
              <a:t>🚀</a:t>
            </a:r>
          </a:p>
        </p:txBody>
      </p:sp>
      <p:sp>
        <p:nvSpPr>
          <p:cNvPr id="15" name="TextBox 14"/>
          <p:cNvSpPr txBox="1"/>
          <p:nvPr/>
        </p:nvSpPr>
        <p:spPr>
          <a:xfrm>
            <a:off x="1143000" y="2587752"/>
            <a:ext cx="2560320" cy="384048"/>
          </a:xfrm>
          <a:prstGeom prst="rect">
            <a:avLst/>
          </a:prstGeom>
          <a:noFill/>
        </p:spPr>
        <p:txBody>
          <a:bodyPr wrap="square">
            <a:spAutoFit/>
          </a:bodyPr>
          <a:lstStyle/>
          <a:p>
            <a:pPr algn="l"/>
            <a:r>
              <a:rPr sz="1600" b="1" i="0">
                <a:solidFill>
                  <a:srgbClr val="FFC200"/>
                </a:solidFill>
              </a:rPr>
              <a:t>Les motivations</a:t>
            </a:r>
          </a:p>
        </p:txBody>
      </p:sp>
      <p:sp>
        <p:nvSpPr>
          <p:cNvPr id="16" name="TextBox 15"/>
          <p:cNvSpPr txBox="1"/>
          <p:nvPr/>
        </p:nvSpPr>
        <p:spPr>
          <a:xfrm>
            <a:off x="3840480" y="2587752"/>
            <a:ext cx="7863840" cy="694944"/>
          </a:xfrm>
          <a:prstGeom prst="rect">
            <a:avLst/>
          </a:prstGeom>
          <a:noFill/>
        </p:spPr>
        <p:txBody>
          <a:bodyPr wrap="square">
            <a:spAutoFit/>
          </a:bodyPr>
          <a:lstStyle/>
          <a:p>
            <a:pPr algn="l"/>
            <a:r>
              <a:rPr sz="1400" b="0" i="0">
                <a:solidFill>
                  <a:srgbClr val="FFFFFF"/>
                </a:solidFill>
              </a:rPr>
              <a:t>Hédoniste : réussir à l'école, écrire sans honte.
Rationnelle : gagner du temps, éviter les erreurs en manuscrit.</a:t>
            </a:r>
          </a:p>
        </p:txBody>
      </p:sp>
      <p:sp>
        <p:nvSpPr>
          <p:cNvPr id="17" name="Rectangle 16"/>
          <p:cNvSpPr/>
          <p:nvPr/>
        </p:nvSpPr>
        <p:spPr>
          <a:xfrm>
            <a:off x="365760" y="3429000"/>
            <a:ext cx="11457432" cy="859536"/>
          </a:xfrm>
          <a:prstGeom prst="rect">
            <a:avLst/>
          </a:prstGeom>
          <a:solidFill>
            <a:srgbClr val="C0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630168"/>
            <a:ext cx="548640" cy="457200"/>
          </a:xfrm>
          <a:prstGeom prst="rect">
            <a:avLst/>
          </a:prstGeom>
          <a:noFill/>
        </p:spPr>
        <p:txBody>
          <a:bodyPr wrap="square">
            <a:spAutoFit/>
          </a:bodyPr>
          <a:lstStyle/>
          <a:p>
            <a:pPr algn="ctr"/>
            <a:r>
              <a:rPr sz="2200" b="0" i="0">
                <a:solidFill>
                  <a:srgbClr val="FFFFFF"/>
                </a:solidFill>
              </a:rPr>
              <a:t>🚧</a:t>
            </a:r>
          </a:p>
        </p:txBody>
      </p:sp>
      <p:sp>
        <p:nvSpPr>
          <p:cNvPr id="19" name="TextBox 18"/>
          <p:cNvSpPr txBox="1"/>
          <p:nvPr/>
        </p:nvSpPr>
        <p:spPr>
          <a:xfrm>
            <a:off x="1143000" y="3502152"/>
            <a:ext cx="2560320" cy="384048"/>
          </a:xfrm>
          <a:prstGeom prst="rect">
            <a:avLst/>
          </a:prstGeom>
          <a:noFill/>
        </p:spPr>
        <p:txBody>
          <a:bodyPr wrap="square">
            <a:spAutoFit/>
          </a:bodyPr>
          <a:lstStyle/>
          <a:p>
            <a:pPr algn="l"/>
            <a:r>
              <a:rPr sz="1600" b="1" i="0">
                <a:solidFill>
                  <a:srgbClr val="FFC200"/>
                </a:solidFill>
              </a:rPr>
              <a:t>Les freins</a:t>
            </a:r>
          </a:p>
        </p:txBody>
      </p:sp>
      <p:sp>
        <p:nvSpPr>
          <p:cNvPr id="20" name="TextBox 19"/>
          <p:cNvSpPr txBox="1"/>
          <p:nvPr/>
        </p:nvSpPr>
        <p:spPr>
          <a:xfrm>
            <a:off x="3840480" y="3502152"/>
            <a:ext cx="7863840" cy="694944"/>
          </a:xfrm>
          <a:prstGeom prst="rect">
            <a:avLst/>
          </a:prstGeom>
          <a:noFill/>
        </p:spPr>
        <p:txBody>
          <a:bodyPr wrap="square">
            <a:spAutoFit/>
          </a:bodyPr>
          <a:lstStyle/>
          <a:p>
            <a:pPr algn="l"/>
            <a:r>
              <a:rPr sz="1400" b="0" i="0">
                <a:solidFill>
                  <a:srgbClr val="FFFFFF"/>
                </a:solidFill>
              </a:rPr>
              <a:t>Prix de 99,90 € élevé vs stylo classique (1–5 €).
Crainte de paraître assisté ou dépendant d'un outil.</a:t>
            </a:r>
          </a:p>
        </p:txBody>
      </p:sp>
      <p:sp>
        <p:nvSpPr>
          <p:cNvPr id="21" name="Rectangle 20"/>
          <p:cNvSpPr/>
          <p:nvPr/>
        </p:nvSpPr>
        <p:spPr>
          <a:xfrm>
            <a:off x="365760" y="4343400"/>
            <a:ext cx="11457432" cy="859536"/>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2920" y="4544568"/>
            <a:ext cx="548640" cy="457200"/>
          </a:xfrm>
          <a:prstGeom prst="rect">
            <a:avLst/>
          </a:prstGeom>
          <a:noFill/>
        </p:spPr>
        <p:txBody>
          <a:bodyPr wrap="square">
            <a:spAutoFit/>
          </a:bodyPr>
          <a:lstStyle/>
          <a:p>
            <a:pPr algn="ctr"/>
            <a:r>
              <a:rPr sz="2200" b="0" i="0">
                <a:solidFill>
                  <a:srgbClr val="FFFFFF"/>
                </a:solidFill>
              </a:rPr>
              <a:t>👁</a:t>
            </a:r>
          </a:p>
        </p:txBody>
      </p:sp>
      <p:sp>
        <p:nvSpPr>
          <p:cNvPr id="23" name="TextBox 22"/>
          <p:cNvSpPr txBox="1"/>
          <p:nvPr/>
        </p:nvSpPr>
        <p:spPr>
          <a:xfrm>
            <a:off x="1143000" y="4416552"/>
            <a:ext cx="2560320" cy="384048"/>
          </a:xfrm>
          <a:prstGeom prst="rect">
            <a:avLst/>
          </a:prstGeom>
          <a:noFill/>
        </p:spPr>
        <p:txBody>
          <a:bodyPr wrap="square">
            <a:spAutoFit/>
          </a:bodyPr>
          <a:lstStyle/>
          <a:p>
            <a:pPr algn="l"/>
            <a:r>
              <a:rPr sz="1600" b="1" i="0">
                <a:solidFill>
                  <a:srgbClr val="FFC200"/>
                </a:solidFill>
              </a:rPr>
              <a:t>La perception</a:t>
            </a:r>
          </a:p>
        </p:txBody>
      </p:sp>
      <p:sp>
        <p:nvSpPr>
          <p:cNvPr id="24" name="TextBox 23"/>
          <p:cNvSpPr txBox="1"/>
          <p:nvPr/>
        </p:nvSpPr>
        <p:spPr>
          <a:xfrm>
            <a:off x="3840480" y="4416552"/>
            <a:ext cx="7863840" cy="694944"/>
          </a:xfrm>
          <a:prstGeom prst="rect">
            <a:avLst/>
          </a:prstGeom>
          <a:noFill/>
        </p:spPr>
        <p:txBody>
          <a:bodyPr wrap="square">
            <a:spAutoFit/>
          </a:bodyPr>
          <a:lstStyle/>
          <a:p>
            <a:pPr algn="l"/>
            <a:r>
              <a:rPr sz="1400" b="0" i="0">
                <a:solidFill>
                  <a:srgbClr val="FFFFFF"/>
                </a:solidFill>
              </a:rPr>
              <a:t>Design classique avec écran discret → image de produit simple et non intrusif.</a:t>
            </a:r>
          </a:p>
        </p:txBody>
      </p:sp>
      <p:sp>
        <p:nvSpPr>
          <p:cNvPr id="25" name="Rectangle 24"/>
          <p:cNvSpPr/>
          <p:nvPr/>
        </p:nvSpPr>
        <p:spPr>
          <a:xfrm>
            <a:off x="365760" y="5257800"/>
            <a:ext cx="11457432" cy="859536"/>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5458968"/>
            <a:ext cx="548640" cy="457200"/>
          </a:xfrm>
          <a:prstGeom prst="rect">
            <a:avLst/>
          </a:prstGeom>
          <a:noFill/>
        </p:spPr>
        <p:txBody>
          <a:bodyPr wrap="square">
            <a:spAutoFit/>
          </a:bodyPr>
          <a:lstStyle/>
          <a:p>
            <a:pPr algn="ctr"/>
            <a:r>
              <a:rPr sz="2200" b="0" i="0">
                <a:solidFill>
                  <a:srgbClr val="FFFFFF"/>
                </a:solidFill>
              </a:rPr>
              <a:t>👤</a:t>
            </a:r>
          </a:p>
        </p:txBody>
      </p:sp>
      <p:sp>
        <p:nvSpPr>
          <p:cNvPr id="27" name="TextBox 26"/>
          <p:cNvSpPr txBox="1"/>
          <p:nvPr/>
        </p:nvSpPr>
        <p:spPr>
          <a:xfrm>
            <a:off x="1143000" y="5330952"/>
            <a:ext cx="2560320" cy="384048"/>
          </a:xfrm>
          <a:prstGeom prst="rect">
            <a:avLst/>
          </a:prstGeom>
          <a:noFill/>
        </p:spPr>
        <p:txBody>
          <a:bodyPr wrap="square">
            <a:spAutoFit/>
          </a:bodyPr>
          <a:lstStyle/>
          <a:p>
            <a:pPr algn="l"/>
            <a:r>
              <a:rPr sz="1600" b="1" i="0">
                <a:solidFill>
                  <a:srgbClr val="FFC200"/>
                </a:solidFill>
              </a:rPr>
              <a:t>Profil cible</a:t>
            </a:r>
          </a:p>
        </p:txBody>
      </p:sp>
      <p:sp>
        <p:nvSpPr>
          <p:cNvPr id="28" name="TextBox 27"/>
          <p:cNvSpPr txBox="1"/>
          <p:nvPr/>
        </p:nvSpPr>
        <p:spPr>
          <a:xfrm>
            <a:off x="3840480" y="5330952"/>
            <a:ext cx="7863840" cy="694944"/>
          </a:xfrm>
          <a:prstGeom prst="rect">
            <a:avLst/>
          </a:prstGeom>
          <a:noFill/>
        </p:spPr>
        <p:txBody>
          <a:bodyPr wrap="square">
            <a:spAutoFit/>
          </a:bodyPr>
          <a:lstStyle/>
          <a:p>
            <a:pPr algn="l"/>
            <a:r>
              <a:rPr sz="1400" b="0" i="0">
                <a:solidFill>
                  <a:srgbClr val="FFFFFF"/>
                </a:solidFill>
              </a:rPr>
              <a:t>30–50 ans (parents acheteurs) · 11–25 ans (élèves et étudiants utilisateurs)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DEMANDE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Facteurs collectifs</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Culture, groupes de référence, cycle de vie familiale</a:t>
            </a:r>
          </a:p>
        </p:txBody>
      </p:sp>
      <p:sp>
        <p:nvSpPr>
          <p:cNvPr id="9" name="Rectangle 8"/>
          <p:cNvSpPr/>
          <p:nvPr/>
        </p:nvSpPr>
        <p:spPr>
          <a:xfrm>
            <a:off x="365760" y="1572768"/>
            <a:ext cx="3749039" cy="347472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719072"/>
            <a:ext cx="3749039" cy="640080"/>
          </a:xfrm>
          <a:prstGeom prst="rect">
            <a:avLst/>
          </a:prstGeom>
          <a:noFill/>
        </p:spPr>
        <p:txBody>
          <a:bodyPr wrap="square">
            <a:spAutoFit/>
          </a:bodyPr>
          <a:lstStyle/>
          <a:p>
            <a:pPr algn="ctr"/>
            <a:r>
              <a:rPr sz="3400" b="0" i="0">
                <a:solidFill>
                  <a:srgbClr val="FFFFFF"/>
                </a:solidFill>
              </a:rPr>
              <a:t>🇫🇷</a:t>
            </a:r>
          </a:p>
        </p:txBody>
      </p:sp>
      <p:sp>
        <p:nvSpPr>
          <p:cNvPr id="11" name="TextBox 10"/>
          <p:cNvSpPr txBox="1"/>
          <p:nvPr/>
        </p:nvSpPr>
        <p:spPr>
          <a:xfrm>
            <a:off x="502920" y="2377440"/>
            <a:ext cx="3474720" cy="475488"/>
          </a:xfrm>
          <a:prstGeom prst="rect">
            <a:avLst/>
          </a:prstGeom>
          <a:noFill/>
        </p:spPr>
        <p:txBody>
          <a:bodyPr wrap="square">
            <a:spAutoFit/>
          </a:bodyPr>
          <a:lstStyle/>
          <a:p>
            <a:pPr algn="ctr"/>
            <a:r>
              <a:rPr sz="1700" b="1" i="0">
                <a:solidFill>
                  <a:srgbClr val="FFC200"/>
                </a:solidFill>
              </a:rPr>
              <a:t>La culture</a:t>
            </a:r>
          </a:p>
        </p:txBody>
      </p:sp>
      <p:sp>
        <p:nvSpPr>
          <p:cNvPr id="12" name="Rectangle 11"/>
          <p:cNvSpPr/>
          <p:nvPr/>
        </p:nvSpPr>
        <p:spPr>
          <a:xfrm>
            <a:off x="731520" y="2834640"/>
            <a:ext cx="301752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944368"/>
            <a:ext cx="3383280" cy="2011680"/>
          </a:xfrm>
          <a:prstGeom prst="rect">
            <a:avLst/>
          </a:prstGeom>
          <a:noFill/>
        </p:spPr>
        <p:txBody>
          <a:bodyPr wrap="square">
            <a:spAutoFit/>
          </a:bodyPr>
          <a:lstStyle/>
          <a:p>
            <a:pPr algn="l"/>
            <a:r>
              <a:rPr sz="1400" b="0" i="0">
                <a:solidFill>
                  <a:srgbClr val="FFFFFF"/>
                </a:solidFill>
              </a:rPr>
              <a:t>En France, l'orthographe est un marqueur social fort. Faire des fautes est perçu comme une lacune. Le Stylo Ortho répond directement à cette pression culturelle et scolaire.</a:t>
            </a:r>
          </a:p>
        </p:txBody>
      </p:sp>
      <p:sp>
        <p:nvSpPr>
          <p:cNvPr id="14" name="Rectangle 13"/>
          <p:cNvSpPr/>
          <p:nvPr/>
        </p:nvSpPr>
        <p:spPr>
          <a:xfrm>
            <a:off x="4297680" y="1572768"/>
            <a:ext cx="3749039" cy="3474720"/>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1719072"/>
            <a:ext cx="3749039" cy="640080"/>
          </a:xfrm>
          <a:prstGeom prst="rect">
            <a:avLst/>
          </a:prstGeom>
          <a:noFill/>
        </p:spPr>
        <p:txBody>
          <a:bodyPr wrap="square">
            <a:spAutoFit/>
          </a:bodyPr>
          <a:lstStyle/>
          <a:p>
            <a:pPr algn="ctr"/>
            <a:r>
              <a:rPr sz="3400" b="0" i="0">
                <a:solidFill>
                  <a:srgbClr val="FFFFFF"/>
                </a:solidFill>
              </a:rPr>
              <a:t>👥</a:t>
            </a:r>
          </a:p>
        </p:txBody>
      </p:sp>
      <p:sp>
        <p:nvSpPr>
          <p:cNvPr id="16" name="TextBox 15"/>
          <p:cNvSpPr txBox="1"/>
          <p:nvPr/>
        </p:nvSpPr>
        <p:spPr>
          <a:xfrm>
            <a:off x="4434840" y="2377440"/>
            <a:ext cx="3474720" cy="475488"/>
          </a:xfrm>
          <a:prstGeom prst="rect">
            <a:avLst/>
          </a:prstGeom>
          <a:noFill/>
        </p:spPr>
        <p:txBody>
          <a:bodyPr wrap="square">
            <a:spAutoFit/>
          </a:bodyPr>
          <a:lstStyle/>
          <a:p>
            <a:pPr algn="ctr"/>
            <a:r>
              <a:rPr sz="1700" b="1" i="0">
                <a:solidFill>
                  <a:srgbClr val="FFC200"/>
                </a:solidFill>
              </a:rPr>
              <a:t>Groupes de référence</a:t>
            </a:r>
          </a:p>
        </p:txBody>
      </p:sp>
      <p:sp>
        <p:nvSpPr>
          <p:cNvPr id="17" name="Rectangle 16"/>
          <p:cNvSpPr/>
          <p:nvPr/>
        </p:nvSpPr>
        <p:spPr>
          <a:xfrm>
            <a:off x="4663440" y="2834640"/>
            <a:ext cx="301752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2944368"/>
            <a:ext cx="3383280" cy="2011680"/>
          </a:xfrm>
          <a:prstGeom prst="rect">
            <a:avLst/>
          </a:prstGeom>
          <a:noFill/>
        </p:spPr>
        <p:txBody>
          <a:bodyPr wrap="square">
            <a:spAutoFit/>
          </a:bodyPr>
          <a:lstStyle/>
          <a:p>
            <a:pPr algn="l"/>
            <a:r>
              <a:rPr sz="1400" b="0" i="0">
                <a:solidFill>
                  <a:srgbClr val="FFFFFF"/>
                </a:solidFill>
              </a:rPr>
              <a:t>Appartenance : camarades de classe, collègues.
Aspiration : bons élèves, professionnels valorisant l'écrit soigné.</a:t>
            </a:r>
          </a:p>
        </p:txBody>
      </p:sp>
      <p:sp>
        <p:nvSpPr>
          <p:cNvPr id="19" name="Rectangle 18"/>
          <p:cNvSpPr/>
          <p:nvPr/>
        </p:nvSpPr>
        <p:spPr>
          <a:xfrm>
            <a:off x="8229600" y="1572768"/>
            <a:ext cx="3749039" cy="3474720"/>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719072"/>
            <a:ext cx="3749039" cy="640080"/>
          </a:xfrm>
          <a:prstGeom prst="rect">
            <a:avLst/>
          </a:prstGeom>
          <a:noFill/>
        </p:spPr>
        <p:txBody>
          <a:bodyPr wrap="square">
            <a:spAutoFit/>
          </a:bodyPr>
          <a:lstStyle/>
          <a:p>
            <a:pPr algn="ctr"/>
            <a:r>
              <a:rPr sz="3400" b="0" i="0">
                <a:solidFill>
                  <a:srgbClr val="FFFFFF"/>
                </a:solidFill>
              </a:rPr>
              <a:t>👨‍👩‍👧</a:t>
            </a:r>
          </a:p>
        </p:txBody>
      </p:sp>
      <p:sp>
        <p:nvSpPr>
          <p:cNvPr id="21" name="TextBox 20"/>
          <p:cNvSpPr txBox="1"/>
          <p:nvPr/>
        </p:nvSpPr>
        <p:spPr>
          <a:xfrm>
            <a:off x="8366760" y="2377440"/>
            <a:ext cx="3474720" cy="475488"/>
          </a:xfrm>
          <a:prstGeom prst="rect">
            <a:avLst/>
          </a:prstGeom>
          <a:noFill/>
        </p:spPr>
        <p:txBody>
          <a:bodyPr wrap="square">
            <a:spAutoFit/>
          </a:bodyPr>
          <a:lstStyle/>
          <a:p>
            <a:pPr algn="ctr"/>
            <a:r>
              <a:rPr sz="1700" b="1" i="0">
                <a:solidFill>
                  <a:srgbClr val="FFC200"/>
                </a:solidFill>
              </a:rPr>
              <a:t>Cycle de vie familiale</a:t>
            </a:r>
          </a:p>
        </p:txBody>
      </p:sp>
      <p:sp>
        <p:nvSpPr>
          <p:cNvPr id="22" name="Rectangle 21"/>
          <p:cNvSpPr/>
          <p:nvPr/>
        </p:nvSpPr>
        <p:spPr>
          <a:xfrm>
            <a:off x="8595360" y="2834640"/>
            <a:ext cx="301752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12480" y="2944368"/>
            <a:ext cx="3383280" cy="2011680"/>
          </a:xfrm>
          <a:prstGeom prst="rect">
            <a:avLst/>
          </a:prstGeom>
          <a:noFill/>
        </p:spPr>
        <p:txBody>
          <a:bodyPr wrap="square">
            <a:spAutoFit/>
          </a:bodyPr>
          <a:lstStyle/>
          <a:p>
            <a:pPr algn="l"/>
            <a:r>
              <a:rPr sz="1400" b="0" i="0">
                <a:solidFill>
                  <a:srgbClr val="FFFFFF"/>
                </a:solidFill>
              </a:rPr>
              <a:t>Famille avec enfants scolarisés : cible prioritaire — la rentrée déclenche l'achat.
Jeune actif entrant dans la vie professionnelle : cible secondaire.</a:t>
            </a:r>
          </a:p>
        </p:txBody>
      </p:sp>
      <p:sp>
        <p:nvSpPr>
          <p:cNvPr id="24" name="Rectangle 23"/>
          <p:cNvSpPr/>
          <p:nvPr/>
        </p:nvSpPr>
        <p:spPr>
          <a:xfrm>
            <a:off x="365760" y="5230368"/>
            <a:ext cx="11457432" cy="141732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5760" y="5230368"/>
            <a:ext cx="109728" cy="141732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5321808"/>
            <a:ext cx="10972800" cy="384048"/>
          </a:xfrm>
          <a:prstGeom prst="rect">
            <a:avLst/>
          </a:prstGeom>
          <a:noFill/>
        </p:spPr>
        <p:txBody>
          <a:bodyPr wrap="square">
            <a:spAutoFit/>
          </a:bodyPr>
          <a:lstStyle/>
          <a:p>
            <a:pPr algn="l"/>
            <a:r>
              <a:rPr sz="1600" b="1" i="0">
                <a:solidFill>
                  <a:srgbClr val="0D1B3E"/>
                </a:solidFill>
              </a:rPr>
              <a:t>📊 Tri croisé — Intérêt par profil (enquête n=214)</a:t>
            </a:r>
          </a:p>
        </p:txBody>
      </p:sp>
      <p:sp>
        <p:nvSpPr>
          <p:cNvPr id="27" name="TextBox 26"/>
          <p:cNvSpPr txBox="1"/>
          <p:nvPr/>
        </p:nvSpPr>
        <p:spPr>
          <a:xfrm>
            <a:off x="594360" y="5742432"/>
            <a:ext cx="10972800" cy="777240"/>
          </a:xfrm>
          <a:prstGeom prst="rect">
            <a:avLst/>
          </a:prstGeom>
          <a:noFill/>
        </p:spPr>
        <p:txBody>
          <a:bodyPr wrap="square">
            <a:spAutoFit/>
          </a:bodyPr>
          <a:lstStyle/>
          <a:p>
            <a:pPr algn="l"/>
            <a:r>
              <a:rPr sz="1400" b="0" i="0">
                <a:solidFill>
                  <a:srgbClr val="4A5A7A"/>
                </a:solidFill>
              </a:rPr>
              <a:t>Les personnes faisant le plus souvent des fautes sont aussi les plus intéressées par le produit. 46,9 % des parents sont prêts à acheter le Stylo Ortho pour leur enfant. 75,2 % des professionnels voient son utilité pour leurs équipes ou élèves.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DEMANDE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Situations d'achat</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Quand, comment et pourquoi le consommateur achète</a:t>
            </a:r>
          </a:p>
        </p:txBody>
      </p:sp>
      <p:sp>
        <p:nvSpPr>
          <p:cNvPr id="9" name="Rectangle 8"/>
          <p:cNvSpPr/>
          <p:nvPr/>
        </p:nvSpPr>
        <p:spPr>
          <a:xfrm>
            <a:off x="365760" y="1600200"/>
            <a:ext cx="11457432" cy="1463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64208"/>
            <a:ext cx="10972800" cy="384048"/>
          </a:xfrm>
          <a:prstGeom prst="rect">
            <a:avLst/>
          </a:prstGeom>
          <a:noFill/>
        </p:spPr>
        <p:txBody>
          <a:bodyPr wrap="square">
            <a:spAutoFit/>
          </a:bodyPr>
          <a:lstStyle/>
          <a:p>
            <a:pPr algn="l"/>
            <a:r>
              <a:rPr sz="1600" b="1" i="0">
                <a:solidFill>
                  <a:srgbClr val="0D1B3E"/>
                </a:solidFill>
              </a:rPr>
              <a:t>📅  Saisonnalité de l'achat</a:t>
            </a:r>
          </a:p>
        </p:txBody>
      </p:sp>
      <p:sp>
        <p:nvSpPr>
          <p:cNvPr id="11" name="Rectangle 10"/>
          <p:cNvSpPr/>
          <p:nvPr/>
        </p:nvSpPr>
        <p:spPr>
          <a:xfrm>
            <a:off x="548640" y="2103120"/>
            <a:ext cx="11064240" cy="45720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2423160"/>
            <a:ext cx="885443" cy="13716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578608"/>
            <a:ext cx="885443" cy="228600"/>
          </a:xfrm>
          <a:prstGeom prst="rect">
            <a:avLst/>
          </a:prstGeom>
          <a:noFill/>
        </p:spPr>
        <p:txBody>
          <a:bodyPr wrap="square">
            <a:spAutoFit/>
          </a:bodyPr>
          <a:lstStyle/>
          <a:p>
            <a:pPr algn="ctr"/>
            <a:r>
              <a:rPr sz="900" b="0" i="0">
                <a:solidFill>
                  <a:srgbClr val="4A5A7A"/>
                </a:solidFill>
              </a:rPr>
              <a:t>Jan</a:t>
            </a:r>
          </a:p>
        </p:txBody>
      </p:sp>
      <p:sp>
        <p:nvSpPr>
          <p:cNvPr id="14" name="Rectangle 13"/>
          <p:cNvSpPr/>
          <p:nvPr/>
        </p:nvSpPr>
        <p:spPr>
          <a:xfrm>
            <a:off x="1470660" y="2450591"/>
            <a:ext cx="885443" cy="109728"/>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0660" y="2578608"/>
            <a:ext cx="885443" cy="228600"/>
          </a:xfrm>
          <a:prstGeom prst="rect">
            <a:avLst/>
          </a:prstGeom>
          <a:noFill/>
        </p:spPr>
        <p:txBody>
          <a:bodyPr wrap="square">
            <a:spAutoFit/>
          </a:bodyPr>
          <a:lstStyle/>
          <a:p>
            <a:pPr algn="ctr"/>
            <a:r>
              <a:rPr sz="900" b="0" i="0">
                <a:solidFill>
                  <a:srgbClr val="4A5A7A"/>
                </a:solidFill>
              </a:rPr>
              <a:t>Fév</a:t>
            </a:r>
          </a:p>
        </p:txBody>
      </p:sp>
      <p:sp>
        <p:nvSpPr>
          <p:cNvPr id="16" name="Rectangle 15"/>
          <p:cNvSpPr/>
          <p:nvPr/>
        </p:nvSpPr>
        <p:spPr>
          <a:xfrm>
            <a:off x="2392680" y="2450591"/>
            <a:ext cx="885443" cy="109728"/>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392680" y="2578608"/>
            <a:ext cx="885443" cy="228600"/>
          </a:xfrm>
          <a:prstGeom prst="rect">
            <a:avLst/>
          </a:prstGeom>
          <a:noFill/>
        </p:spPr>
        <p:txBody>
          <a:bodyPr wrap="square">
            <a:spAutoFit/>
          </a:bodyPr>
          <a:lstStyle/>
          <a:p>
            <a:pPr algn="ctr"/>
            <a:r>
              <a:rPr sz="900" b="0" i="0">
                <a:solidFill>
                  <a:srgbClr val="4A5A7A"/>
                </a:solidFill>
              </a:rPr>
              <a:t>Mar</a:t>
            </a:r>
          </a:p>
        </p:txBody>
      </p:sp>
      <p:sp>
        <p:nvSpPr>
          <p:cNvPr id="18" name="Rectangle 17"/>
          <p:cNvSpPr/>
          <p:nvPr/>
        </p:nvSpPr>
        <p:spPr>
          <a:xfrm>
            <a:off x="3314700" y="2450591"/>
            <a:ext cx="885443" cy="109728"/>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14700" y="2578608"/>
            <a:ext cx="885443" cy="228600"/>
          </a:xfrm>
          <a:prstGeom prst="rect">
            <a:avLst/>
          </a:prstGeom>
          <a:noFill/>
        </p:spPr>
        <p:txBody>
          <a:bodyPr wrap="square">
            <a:spAutoFit/>
          </a:bodyPr>
          <a:lstStyle/>
          <a:p>
            <a:pPr algn="ctr"/>
            <a:r>
              <a:rPr sz="900" b="0" i="0">
                <a:solidFill>
                  <a:srgbClr val="4A5A7A"/>
                </a:solidFill>
              </a:rPr>
              <a:t>Avr</a:t>
            </a:r>
          </a:p>
        </p:txBody>
      </p:sp>
      <p:sp>
        <p:nvSpPr>
          <p:cNvPr id="20" name="Rectangle 19"/>
          <p:cNvSpPr/>
          <p:nvPr/>
        </p:nvSpPr>
        <p:spPr>
          <a:xfrm>
            <a:off x="4236720" y="2423160"/>
            <a:ext cx="885443" cy="137160"/>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36720" y="2578608"/>
            <a:ext cx="885443" cy="228600"/>
          </a:xfrm>
          <a:prstGeom prst="rect">
            <a:avLst/>
          </a:prstGeom>
          <a:noFill/>
        </p:spPr>
        <p:txBody>
          <a:bodyPr wrap="square">
            <a:spAutoFit/>
          </a:bodyPr>
          <a:lstStyle/>
          <a:p>
            <a:pPr algn="ctr"/>
            <a:r>
              <a:rPr sz="900" b="0" i="0">
                <a:solidFill>
                  <a:srgbClr val="4A5A7A"/>
                </a:solidFill>
              </a:rPr>
              <a:t>Mai</a:t>
            </a:r>
          </a:p>
        </p:txBody>
      </p:sp>
      <p:sp>
        <p:nvSpPr>
          <p:cNvPr id="22" name="Rectangle 21"/>
          <p:cNvSpPr/>
          <p:nvPr/>
        </p:nvSpPr>
        <p:spPr>
          <a:xfrm>
            <a:off x="5158739" y="2450591"/>
            <a:ext cx="885443" cy="109728"/>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158739" y="2578608"/>
            <a:ext cx="885443" cy="228600"/>
          </a:xfrm>
          <a:prstGeom prst="rect">
            <a:avLst/>
          </a:prstGeom>
          <a:noFill/>
        </p:spPr>
        <p:txBody>
          <a:bodyPr wrap="square">
            <a:spAutoFit/>
          </a:bodyPr>
          <a:lstStyle/>
          <a:p>
            <a:pPr algn="ctr"/>
            <a:r>
              <a:rPr sz="900" b="0" i="0">
                <a:solidFill>
                  <a:srgbClr val="4A5A7A"/>
                </a:solidFill>
              </a:rPr>
              <a:t>Jun</a:t>
            </a:r>
          </a:p>
        </p:txBody>
      </p:sp>
      <p:sp>
        <p:nvSpPr>
          <p:cNvPr id="24" name="Rectangle 23"/>
          <p:cNvSpPr/>
          <p:nvPr/>
        </p:nvSpPr>
        <p:spPr>
          <a:xfrm>
            <a:off x="6080759" y="2377439"/>
            <a:ext cx="885443" cy="182880"/>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080759" y="2578608"/>
            <a:ext cx="885443" cy="228600"/>
          </a:xfrm>
          <a:prstGeom prst="rect">
            <a:avLst/>
          </a:prstGeom>
          <a:noFill/>
        </p:spPr>
        <p:txBody>
          <a:bodyPr wrap="square">
            <a:spAutoFit/>
          </a:bodyPr>
          <a:lstStyle/>
          <a:p>
            <a:pPr algn="ctr"/>
            <a:r>
              <a:rPr sz="900" b="0" i="0">
                <a:solidFill>
                  <a:srgbClr val="4A5A7A"/>
                </a:solidFill>
              </a:rPr>
              <a:t>Jul</a:t>
            </a:r>
          </a:p>
        </p:txBody>
      </p:sp>
      <p:sp>
        <p:nvSpPr>
          <p:cNvPr id="26" name="Rectangle 25"/>
          <p:cNvSpPr/>
          <p:nvPr/>
        </p:nvSpPr>
        <p:spPr>
          <a:xfrm>
            <a:off x="7002780" y="2103120"/>
            <a:ext cx="885443" cy="457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02780" y="2578608"/>
            <a:ext cx="885443" cy="228600"/>
          </a:xfrm>
          <a:prstGeom prst="rect">
            <a:avLst/>
          </a:prstGeom>
          <a:noFill/>
        </p:spPr>
        <p:txBody>
          <a:bodyPr wrap="square">
            <a:spAutoFit/>
          </a:bodyPr>
          <a:lstStyle/>
          <a:p>
            <a:pPr algn="ctr"/>
            <a:r>
              <a:rPr sz="900" b="0" i="0">
                <a:solidFill>
                  <a:srgbClr val="4A5A7A"/>
                </a:solidFill>
              </a:rPr>
              <a:t>Aoû</a:t>
            </a:r>
          </a:p>
        </p:txBody>
      </p:sp>
      <p:sp>
        <p:nvSpPr>
          <p:cNvPr id="28" name="Rectangle 27"/>
          <p:cNvSpPr/>
          <p:nvPr/>
        </p:nvSpPr>
        <p:spPr>
          <a:xfrm>
            <a:off x="7924799" y="2103120"/>
            <a:ext cx="885443" cy="45720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24799" y="2578608"/>
            <a:ext cx="885443" cy="228600"/>
          </a:xfrm>
          <a:prstGeom prst="rect">
            <a:avLst/>
          </a:prstGeom>
          <a:noFill/>
        </p:spPr>
        <p:txBody>
          <a:bodyPr wrap="square">
            <a:spAutoFit/>
          </a:bodyPr>
          <a:lstStyle/>
          <a:p>
            <a:pPr algn="ctr"/>
            <a:r>
              <a:rPr sz="900" b="0" i="0">
                <a:solidFill>
                  <a:srgbClr val="4A5A7A"/>
                </a:solidFill>
              </a:rPr>
              <a:t>Sep</a:t>
            </a:r>
          </a:p>
        </p:txBody>
      </p:sp>
      <p:sp>
        <p:nvSpPr>
          <p:cNvPr id="30" name="Rectangle 29"/>
          <p:cNvSpPr/>
          <p:nvPr/>
        </p:nvSpPr>
        <p:spPr>
          <a:xfrm>
            <a:off x="8846819" y="2377439"/>
            <a:ext cx="885443" cy="182880"/>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846819" y="2578608"/>
            <a:ext cx="885443" cy="228600"/>
          </a:xfrm>
          <a:prstGeom prst="rect">
            <a:avLst/>
          </a:prstGeom>
          <a:noFill/>
        </p:spPr>
        <p:txBody>
          <a:bodyPr wrap="square">
            <a:spAutoFit/>
          </a:bodyPr>
          <a:lstStyle/>
          <a:p>
            <a:pPr algn="ctr"/>
            <a:r>
              <a:rPr sz="900" b="0" i="0">
                <a:solidFill>
                  <a:srgbClr val="4A5A7A"/>
                </a:solidFill>
              </a:rPr>
              <a:t>Oct</a:t>
            </a:r>
          </a:p>
        </p:txBody>
      </p:sp>
      <p:sp>
        <p:nvSpPr>
          <p:cNvPr id="32" name="Rectangle 31"/>
          <p:cNvSpPr/>
          <p:nvPr/>
        </p:nvSpPr>
        <p:spPr>
          <a:xfrm>
            <a:off x="9768839" y="2395727"/>
            <a:ext cx="885443" cy="164592"/>
          </a:xfrm>
          <a:prstGeom prst="rect">
            <a:avLst/>
          </a:prstGeom>
          <a:solidFill>
            <a:srgbClr val="4A9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768839" y="2578608"/>
            <a:ext cx="885443" cy="228600"/>
          </a:xfrm>
          <a:prstGeom prst="rect">
            <a:avLst/>
          </a:prstGeom>
          <a:noFill/>
        </p:spPr>
        <p:txBody>
          <a:bodyPr wrap="square">
            <a:spAutoFit/>
          </a:bodyPr>
          <a:lstStyle/>
          <a:p>
            <a:pPr algn="ctr"/>
            <a:r>
              <a:rPr sz="900" b="0" i="0">
                <a:solidFill>
                  <a:srgbClr val="4A5A7A"/>
                </a:solidFill>
              </a:rPr>
              <a:t>Nov</a:t>
            </a:r>
          </a:p>
        </p:txBody>
      </p:sp>
      <p:sp>
        <p:nvSpPr>
          <p:cNvPr id="34" name="Rectangle 33"/>
          <p:cNvSpPr/>
          <p:nvPr/>
        </p:nvSpPr>
        <p:spPr>
          <a:xfrm>
            <a:off x="10690860" y="2240279"/>
            <a:ext cx="885443" cy="320040"/>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690860" y="2578608"/>
            <a:ext cx="885443" cy="228600"/>
          </a:xfrm>
          <a:prstGeom prst="rect">
            <a:avLst/>
          </a:prstGeom>
          <a:noFill/>
        </p:spPr>
        <p:txBody>
          <a:bodyPr wrap="square">
            <a:spAutoFit/>
          </a:bodyPr>
          <a:lstStyle/>
          <a:p>
            <a:pPr algn="ctr"/>
            <a:r>
              <a:rPr sz="900" b="0" i="0">
                <a:solidFill>
                  <a:srgbClr val="4A5A7A"/>
                </a:solidFill>
              </a:rPr>
              <a:t>Déc</a:t>
            </a:r>
          </a:p>
        </p:txBody>
      </p:sp>
      <p:sp>
        <p:nvSpPr>
          <p:cNvPr id="36" name="TextBox 35"/>
          <p:cNvSpPr txBox="1"/>
          <p:nvPr/>
        </p:nvSpPr>
        <p:spPr>
          <a:xfrm>
            <a:off x="548640" y="2999232"/>
            <a:ext cx="10972800" cy="320040"/>
          </a:xfrm>
          <a:prstGeom prst="rect">
            <a:avLst/>
          </a:prstGeom>
          <a:noFill/>
        </p:spPr>
        <p:txBody>
          <a:bodyPr wrap="square">
            <a:spAutoFit/>
          </a:bodyPr>
          <a:lstStyle/>
          <a:p>
            <a:pPr algn="l"/>
            <a:r>
              <a:rPr sz="1300" b="1" i="0">
                <a:solidFill>
                  <a:srgbClr val="FF6B6B"/>
                </a:solidFill>
              </a:rPr>
              <a:t>🔴 Pic rentrée : +52,1 % CA en août vs décembre</a:t>
            </a:r>
          </a:p>
        </p:txBody>
      </p:sp>
      <p:sp>
        <p:nvSpPr>
          <p:cNvPr id="37" name="Rectangle 36"/>
          <p:cNvSpPr/>
          <p:nvPr/>
        </p:nvSpPr>
        <p:spPr>
          <a:xfrm>
            <a:off x="365760" y="3401568"/>
            <a:ext cx="3749039" cy="228600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65760" y="3493008"/>
            <a:ext cx="3749039" cy="566928"/>
          </a:xfrm>
          <a:prstGeom prst="rect">
            <a:avLst/>
          </a:prstGeom>
          <a:noFill/>
        </p:spPr>
        <p:txBody>
          <a:bodyPr wrap="square">
            <a:spAutoFit/>
          </a:bodyPr>
          <a:lstStyle/>
          <a:p>
            <a:pPr algn="ctr"/>
            <a:r>
              <a:rPr sz="2800" b="0" i="0">
                <a:solidFill>
                  <a:srgbClr val="FFFFFF"/>
                </a:solidFill>
              </a:rPr>
              <a:t>🆕</a:t>
            </a:r>
          </a:p>
        </p:txBody>
      </p:sp>
      <p:sp>
        <p:nvSpPr>
          <p:cNvPr id="39" name="TextBox 38"/>
          <p:cNvSpPr txBox="1"/>
          <p:nvPr/>
        </p:nvSpPr>
        <p:spPr>
          <a:xfrm>
            <a:off x="502920" y="4078224"/>
            <a:ext cx="3474720" cy="420624"/>
          </a:xfrm>
          <a:prstGeom prst="rect">
            <a:avLst/>
          </a:prstGeom>
          <a:noFill/>
        </p:spPr>
        <p:txBody>
          <a:bodyPr wrap="square">
            <a:spAutoFit/>
          </a:bodyPr>
          <a:lstStyle/>
          <a:p>
            <a:pPr algn="ctr"/>
            <a:r>
              <a:rPr sz="1600" b="1" i="0">
                <a:solidFill>
                  <a:srgbClr val="FFC200"/>
                </a:solidFill>
              </a:rPr>
              <a:t>Achat de nouveauté</a:t>
            </a:r>
          </a:p>
        </p:txBody>
      </p:sp>
      <p:sp>
        <p:nvSpPr>
          <p:cNvPr id="40" name="TextBox 39"/>
          <p:cNvSpPr txBox="1"/>
          <p:nvPr/>
        </p:nvSpPr>
        <p:spPr>
          <a:xfrm>
            <a:off x="548640" y="4553712"/>
            <a:ext cx="3383280" cy="1005840"/>
          </a:xfrm>
          <a:prstGeom prst="rect">
            <a:avLst/>
          </a:prstGeom>
          <a:noFill/>
        </p:spPr>
        <p:txBody>
          <a:bodyPr wrap="square">
            <a:spAutoFit/>
          </a:bodyPr>
          <a:lstStyle/>
          <a:p>
            <a:pPr algn="l"/>
            <a:r>
              <a:rPr sz="1400" b="0" i="0">
                <a:solidFill>
                  <a:srgbClr val="FFFFFF"/>
                </a:solidFill>
              </a:rPr>
              <a:t>Produit inconnu — forte implication.
Démonstration en magasin indispensable.</a:t>
            </a:r>
          </a:p>
        </p:txBody>
      </p:sp>
      <p:sp>
        <p:nvSpPr>
          <p:cNvPr id="41" name="Rectangle 40"/>
          <p:cNvSpPr/>
          <p:nvPr/>
        </p:nvSpPr>
        <p:spPr>
          <a:xfrm>
            <a:off x="4315968" y="3401568"/>
            <a:ext cx="3749039" cy="2286000"/>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15968" y="3493008"/>
            <a:ext cx="3749039" cy="566928"/>
          </a:xfrm>
          <a:prstGeom prst="rect">
            <a:avLst/>
          </a:prstGeom>
          <a:noFill/>
        </p:spPr>
        <p:txBody>
          <a:bodyPr wrap="square">
            <a:spAutoFit/>
          </a:bodyPr>
          <a:lstStyle/>
          <a:p>
            <a:pPr algn="ctr"/>
            <a:r>
              <a:rPr sz="2800" b="0" i="0">
                <a:solidFill>
                  <a:srgbClr val="FFFFFF"/>
                </a:solidFill>
              </a:rPr>
              <a:t>🤔</a:t>
            </a:r>
          </a:p>
        </p:txBody>
      </p:sp>
      <p:sp>
        <p:nvSpPr>
          <p:cNvPr id="43" name="TextBox 42"/>
          <p:cNvSpPr txBox="1"/>
          <p:nvPr/>
        </p:nvSpPr>
        <p:spPr>
          <a:xfrm>
            <a:off x="4453128" y="4078224"/>
            <a:ext cx="3474720" cy="420624"/>
          </a:xfrm>
          <a:prstGeom prst="rect">
            <a:avLst/>
          </a:prstGeom>
          <a:noFill/>
        </p:spPr>
        <p:txBody>
          <a:bodyPr wrap="square">
            <a:spAutoFit/>
          </a:bodyPr>
          <a:lstStyle/>
          <a:p>
            <a:pPr algn="ctr"/>
            <a:r>
              <a:rPr sz="1600" b="1" i="0">
                <a:solidFill>
                  <a:srgbClr val="FFC200"/>
                </a:solidFill>
              </a:rPr>
              <a:t>Achat réfléchi</a:t>
            </a:r>
          </a:p>
        </p:txBody>
      </p:sp>
      <p:sp>
        <p:nvSpPr>
          <p:cNvPr id="44" name="TextBox 43"/>
          <p:cNvSpPr txBox="1"/>
          <p:nvPr/>
        </p:nvSpPr>
        <p:spPr>
          <a:xfrm>
            <a:off x="4498848" y="4553712"/>
            <a:ext cx="3383280" cy="1005840"/>
          </a:xfrm>
          <a:prstGeom prst="rect">
            <a:avLst/>
          </a:prstGeom>
          <a:noFill/>
        </p:spPr>
        <p:txBody>
          <a:bodyPr wrap="square">
            <a:spAutoFit/>
          </a:bodyPr>
          <a:lstStyle/>
          <a:p>
            <a:pPr algn="l"/>
            <a:r>
              <a:rPr sz="1400" b="0" i="0">
                <a:solidFill>
                  <a:srgbClr val="FFFFFF"/>
                </a:solidFill>
              </a:rPr>
              <a:t>Prix 99,90 € — achat planifié.
Justifié par l'USP unique sur le marché.</a:t>
            </a:r>
          </a:p>
        </p:txBody>
      </p:sp>
      <p:sp>
        <p:nvSpPr>
          <p:cNvPr id="45" name="Rectangle 44"/>
          <p:cNvSpPr/>
          <p:nvPr/>
        </p:nvSpPr>
        <p:spPr>
          <a:xfrm>
            <a:off x="8266176" y="3401568"/>
            <a:ext cx="3749039" cy="2286000"/>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266176" y="3493008"/>
            <a:ext cx="3749039" cy="566928"/>
          </a:xfrm>
          <a:prstGeom prst="rect">
            <a:avLst/>
          </a:prstGeom>
          <a:noFill/>
        </p:spPr>
        <p:txBody>
          <a:bodyPr wrap="square">
            <a:spAutoFit/>
          </a:bodyPr>
          <a:lstStyle/>
          <a:p>
            <a:pPr algn="ctr"/>
            <a:r>
              <a:rPr sz="2800" b="0" i="0">
                <a:solidFill>
                  <a:srgbClr val="FFFFFF"/>
                </a:solidFill>
              </a:rPr>
              <a:t>📋</a:t>
            </a:r>
          </a:p>
        </p:txBody>
      </p:sp>
      <p:sp>
        <p:nvSpPr>
          <p:cNvPr id="47" name="TextBox 46"/>
          <p:cNvSpPr txBox="1"/>
          <p:nvPr/>
        </p:nvSpPr>
        <p:spPr>
          <a:xfrm>
            <a:off x="8403336" y="4078224"/>
            <a:ext cx="3474720" cy="420624"/>
          </a:xfrm>
          <a:prstGeom prst="rect">
            <a:avLst/>
          </a:prstGeom>
          <a:noFill/>
        </p:spPr>
        <p:txBody>
          <a:bodyPr wrap="square">
            <a:spAutoFit/>
          </a:bodyPr>
          <a:lstStyle/>
          <a:p>
            <a:pPr algn="ctr"/>
            <a:r>
              <a:rPr sz="1600" b="1" i="0">
                <a:solidFill>
                  <a:srgbClr val="FFC200"/>
                </a:solidFill>
              </a:rPr>
              <a:t>Achat prescrit</a:t>
            </a:r>
          </a:p>
        </p:txBody>
      </p:sp>
      <p:sp>
        <p:nvSpPr>
          <p:cNvPr id="48" name="TextBox 47"/>
          <p:cNvSpPr txBox="1"/>
          <p:nvPr/>
        </p:nvSpPr>
        <p:spPr>
          <a:xfrm>
            <a:off x="8449056" y="4553712"/>
            <a:ext cx="3383280" cy="1005840"/>
          </a:xfrm>
          <a:prstGeom prst="rect">
            <a:avLst/>
          </a:prstGeom>
          <a:noFill/>
        </p:spPr>
        <p:txBody>
          <a:bodyPr wrap="square">
            <a:spAutoFit/>
          </a:bodyPr>
          <a:lstStyle/>
          <a:p>
            <a:pPr algn="l"/>
            <a:r>
              <a:rPr sz="1400" b="0" i="0">
                <a:solidFill>
                  <a:srgbClr val="FFFFFF"/>
                </a:solidFill>
              </a:rPr>
              <a:t>Recommandation d'un enseignant
ou d'un parent — effet bouche-à-oreille.</a:t>
            </a:r>
          </a:p>
        </p:txBody>
      </p:sp>
      <p:sp>
        <p:nvSpPr>
          <p:cNvPr id="49" name="Rectangle 48"/>
          <p:cNvSpPr/>
          <p:nvPr/>
        </p:nvSpPr>
        <p:spPr>
          <a:xfrm>
            <a:off x="365760" y="5806440"/>
            <a:ext cx="11457432" cy="82296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548640" y="5943600"/>
            <a:ext cx="11064240" cy="594360"/>
          </a:xfrm>
          <a:prstGeom prst="rect">
            <a:avLst/>
          </a:prstGeom>
          <a:noFill/>
        </p:spPr>
        <p:txBody>
          <a:bodyPr wrap="square">
            <a:spAutoFit/>
          </a:bodyPr>
          <a:lstStyle/>
          <a:p>
            <a:pPr algn="ctr"/>
            <a:r>
              <a:rPr sz="1500" b="1" i="0">
                <a:solidFill>
                  <a:srgbClr val="FFFFFF"/>
                </a:solidFill>
              </a:rPr>
              <a:t>📊 56,6 % utilisent le correcteur téléphone · 43,4 % le correcteur Word — mais aucun ne fonctionne sur papier. Le Stylo Ortho est le seul outil qui fait ça.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OFFRE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3.1 Produits et segments du marché</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Où se positionne le Stylo Ortho dans le marché papeterie ?</a:t>
            </a:r>
          </a:p>
        </p:txBody>
      </p:sp>
      <p:sp>
        <p:nvSpPr>
          <p:cNvPr id="9" name="Rectangle 8"/>
          <p:cNvSpPr/>
          <p:nvPr/>
        </p:nvSpPr>
        <p:spPr>
          <a:xfrm>
            <a:off x="365760" y="1600200"/>
            <a:ext cx="2788920" cy="4023360"/>
          </a:xfrm>
          <a:prstGeom prst="rect">
            <a:avLst/>
          </a:prstGeom>
          <a:solidFill>
            <a:srgbClr val="4A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691640"/>
            <a:ext cx="2788920" cy="640080"/>
          </a:xfrm>
          <a:prstGeom prst="rect">
            <a:avLst/>
          </a:prstGeom>
          <a:noFill/>
        </p:spPr>
        <p:txBody>
          <a:bodyPr wrap="square">
            <a:spAutoFit/>
          </a:bodyPr>
          <a:lstStyle/>
          <a:p>
            <a:pPr algn="ctr"/>
            <a:r>
              <a:rPr sz="3000" b="0" i="0">
                <a:solidFill>
                  <a:srgbClr val="FFFFFF"/>
                </a:solidFill>
              </a:rPr>
              <a:t>📏</a:t>
            </a:r>
          </a:p>
        </p:txBody>
      </p:sp>
      <p:sp>
        <p:nvSpPr>
          <p:cNvPr id="11" name="TextBox 10"/>
          <p:cNvSpPr txBox="1"/>
          <p:nvPr/>
        </p:nvSpPr>
        <p:spPr>
          <a:xfrm>
            <a:off x="457200" y="2359152"/>
            <a:ext cx="2606040" cy="566928"/>
          </a:xfrm>
          <a:prstGeom prst="rect">
            <a:avLst/>
          </a:prstGeom>
          <a:noFill/>
        </p:spPr>
        <p:txBody>
          <a:bodyPr wrap="square">
            <a:spAutoFit/>
          </a:bodyPr>
          <a:lstStyle/>
          <a:p>
            <a:pPr algn="ctr"/>
            <a:r>
              <a:rPr sz="1400" b="1" i="0">
                <a:solidFill>
                  <a:srgbClr val="FFC200"/>
                </a:solidFill>
              </a:rPr>
              <a:t>Stylos classiques
(BIC, Pilot…)</a:t>
            </a:r>
          </a:p>
        </p:txBody>
      </p:sp>
      <p:sp>
        <p:nvSpPr>
          <p:cNvPr id="12" name="Rectangle 11"/>
          <p:cNvSpPr/>
          <p:nvPr/>
        </p:nvSpPr>
        <p:spPr>
          <a:xfrm>
            <a:off x="640080" y="2926080"/>
            <a:ext cx="224028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2920" y="3035808"/>
            <a:ext cx="2514600" cy="320040"/>
          </a:xfrm>
          <a:prstGeom prst="rect">
            <a:avLst/>
          </a:prstGeom>
          <a:noFill/>
        </p:spPr>
        <p:txBody>
          <a:bodyPr wrap="square">
            <a:spAutoFit/>
          </a:bodyPr>
          <a:lstStyle/>
          <a:p>
            <a:pPr algn="l"/>
            <a:r>
              <a:rPr sz="1100" b="0" i="1">
                <a:solidFill>
                  <a:srgbClr val="C8D8E8"/>
                </a:solidFill>
              </a:rPr>
              <a:t>Part de marché</a:t>
            </a:r>
          </a:p>
        </p:txBody>
      </p:sp>
      <p:sp>
        <p:nvSpPr>
          <p:cNvPr id="14" name="TextBox 13"/>
          <p:cNvSpPr txBox="1"/>
          <p:nvPr/>
        </p:nvSpPr>
        <p:spPr>
          <a:xfrm>
            <a:off x="502920" y="3310128"/>
            <a:ext cx="2514600" cy="502920"/>
          </a:xfrm>
          <a:prstGeom prst="rect">
            <a:avLst/>
          </a:prstGeom>
          <a:noFill/>
        </p:spPr>
        <p:txBody>
          <a:bodyPr wrap="square">
            <a:spAutoFit/>
          </a:bodyPr>
          <a:lstStyle/>
          <a:p>
            <a:pPr algn="ctr"/>
            <a:r>
              <a:rPr sz="1500" b="1" i="0">
                <a:solidFill>
                  <a:srgbClr val="FFFFFF"/>
                </a:solidFill>
              </a:rPr>
              <a:t>≈ 60–65 %
du marché</a:t>
            </a:r>
          </a:p>
        </p:txBody>
      </p:sp>
      <p:sp>
        <p:nvSpPr>
          <p:cNvPr id="15" name="TextBox 14"/>
          <p:cNvSpPr txBox="1"/>
          <p:nvPr/>
        </p:nvSpPr>
        <p:spPr>
          <a:xfrm>
            <a:off x="502920" y="3840480"/>
            <a:ext cx="2514600" cy="292608"/>
          </a:xfrm>
          <a:prstGeom prst="rect">
            <a:avLst/>
          </a:prstGeom>
          <a:noFill/>
        </p:spPr>
        <p:txBody>
          <a:bodyPr wrap="square">
            <a:spAutoFit/>
          </a:bodyPr>
          <a:lstStyle/>
          <a:p>
            <a:pPr algn="l"/>
            <a:r>
              <a:rPr sz="1100" b="0" i="1">
                <a:solidFill>
                  <a:srgbClr val="C8D8E8"/>
                </a:solidFill>
              </a:rPr>
              <a:t>Évolution</a:t>
            </a:r>
          </a:p>
        </p:txBody>
      </p:sp>
      <p:sp>
        <p:nvSpPr>
          <p:cNvPr id="16" name="TextBox 15"/>
          <p:cNvSpPr txBox="1"/>
          <p:nvPr/>
        </p:nvSpPr>
        <p:spPr>
          <a:xfrm>
            <a:off x="502920" y="4114800"/>
            <a:ext cx="2514600" cy="411480"/>
          </a:xfrm>
          <a:prstGeom prst="rect">
            <a:avLst/>
          </a:prstGeom>
          <a:noFill/>
        </p:spPr>
        <p:txBody>
          <a:bodyPr wrap="square">
            <a:spAutoFit/>
          </a:bodyPr>
          <a:lstStyle/>
          <a:p>
            <a:pPr algn="ctr"/>
            <a:r>
              <a:rPr sz="1300" b="0" i="0">
                <a:solidFill>
                  <a:srgbClr val="FFFFFF"/>
                </a:solidFill>
              </a:rPr>
              <a:t>Stable / léger recul</a:t>
            </a:r>
          </a:p>
        </p:txBody>
      </p:sp>
      <p:sp>
        <p:nvSpPr>
          <p:cNvPr id="17" name="TextBox 16"/>
          <p:cNvSpPr txBox="1"/>
          <p:nvPr/>
        </p:nvSpPr>
        <p:spPr>
          <a:xfrm>
            <a:off x="502920" y="4553712"/>
            <a:ext cx="2514600" cy="502920"/>
          </a:xfrm>
          <a:prstGeom prst="rect">
            <a:avLst/>
          </a:prstGeom>
          <a:noFill/>
        </p:spPr>
        <p:txBody>
          <a:bodyPr wrap="square">
            <a:spAutoFit/>
          </a:bodyPr>
          <a:lstStyle/>
          <a:p>
            <a:pPr algn="ctr"/>
            <a:r>
              <a:rPr sz="1300" b="1" i="0">
                <a:solidFill>
                  <a:srgbClr val="FFC200"/>
                </a:solidFill>
              </a:rPr>
              <a:t>Concurrent
indirect</a:t>
            </a:r>
          </a:p>
        </p:txBody>
      </p:sp>
      <p:sp>
        <p:nvSpPr>
          <p:cNvPr id="18" name="Rectangle 17"/>
          <p:cNvSpPr/>
          <p:nvPr/>
        </p:nvSpPr>
        <p:spPr>
          <a:xfrm>
            <a:off x="3310128" y="1600200"/>
            <a:ext cx="2788920" cy="4023360"/>
          </a:xfrm>
          <a:prstGeom prst="rect">
            <a:avLst/>
          </a:prstGeom>
          <a:solidFill>
            <a:srgbClr val="2E7D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310128" y="1691640"/>
            <a:ext cx="2788920" cy="640080"/>
          </a:xfrm>
          <a:prstGeom prst="rect">
            <a:avLst/>
          </a:prstGeom>
          <a:noFill/>
        </p:spPr>
        <p:txBody>
          <a:bodyPr wrap="square">
            <a:spAutoFit/>
          </a:bodyPr>
          <a:lstStyle/>
          <a:p>
            <a:pPr algn="ctr"/>
            <a:r>
              <a:rPr sz="3000" b="0" i="0">
                <a:solidFill>
                  <a:srgbClr val="FFFFFF"/>
                </a:solidFill>
              </a:rPr>
              <a:t>✏️</a:t>
            </a:r>
          </a:p>
        </p:txBody>
      </p:sp>
      <p:sp>
        <p:nvSpPr>
          <p:cNvPr id="20" name="TextBox 19"/>
          <p:cNvSpPr txBox="1"/>
          <p:nvPr/>
        </p:nvSpPr>
        <p:spPr>
          <a:xfrm>
            <a:off x="3401568" y="2359152"/>
            <a:ext cx="2606040" cy="566928"/>
          </a:xfrm>
          <a:prstGeom prst="rect">
            <a:avLst/>
          </a:prstGeom>
          <a:noFill/>
        </p:spPr>
        <p:txBody>
          <a:bodyPr wrap="square">
            <a:spAutoFit/>
          </a:bodyPr>
          <a:lstStyle/>
          <a:p>
            <a:pPr algn="ctr"/>
            <a:r>
              <a:rPr sz="1400" b="1" i="0">
                <a:solidFill>
                  <a:srgbClr val="FFC200"/>
                </a:solidFill>
              </a:rPr>
              <a:t>Stylos effaçables
(FriXion…)</a:t>
            </a:r>
          </a:p>
        </p:txBody>
      </p:sp>
      <p:sp>
        <p:nvSpPr>
          <p:cNvPr id="21" name="Rectangle 20"/>
          <p:cNvSpPr/>
          <p:nvPr/>
        </p:nvSpPr>
        <p:spPr>
          <a:xfrm>
            <a:off x="3584448" y="2926080"/>
            <a:ext cx="224028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47288" y="3035808"/>
            <a:ext cx="2514600" cy="320040"/>
          </a:xfrm>
          <a:prstGeom prst="rect">
            <a:avLst/>
          </a:prstGeom>
          <a:noFill/>
        </p:spPr>
        <p:txBody>
          <a:bodyPr wrap="square">
            <a:spAutoFit/>
          </a:bodyPr>
          <a:lstStyle/>
          <a:p>
            <a:pPr algn="l"/>
            <a:r>
              <a:rPr sz="1100" b="0" i="1">
                <a:solidFill>
                  <a:srgbClr val="C8D8E8"/>
                </a:solidFill>
              </a:rPr>
              <a:t>Part de marché</a:t>
            </a:r>
          </a:p>
        </p:txBody>
      </p:sp>
      <p:sp>
        <p:nvSpPr>
          <p:cNvPr id="23" name="TextBox 22"/>
          <p:cNvSpPr txBox="1"/>
          <p:nvPr/>
        </p:nvSpPr>
        <p:spPr>
          <a:xfrm>
            <a:off x="3447288" y="3310128"/>
            <a:ext cx="2514600" cy="502920"/>
          </a:xfrm>
          <a:prstGeom prst="rect">
            <a:avLst/>
          </a:prstGeom>
          <a:noFill/>
        </p:spPr>
        <p:txBody>
          <a:bodyPr wrap="square">
            <a:spAutoFit/>
          </a:bodyPr>
          <a:lstStyle/>
          <a:p>
            <a:pPr algn="ctr"/>
            <a:r>
              <a:rPr sz="1500" b="1" i="0">
                <a:solidFill>
                  <a:srgbClr val="FFFFFF"/>
                </a:solidFill>
              </a:rPr>
              <a:t>≈ 10–15 %</a:t>
            </a:r>
          </a:p>
        </p:txBody>
      </p:sp>
      <p:sp>
        <p:nvSpPr>
          <p:cNvPr id="24" name="TextBox 23"/>
          <p:cNvSpPr txBox="1"/>
          <p:nvPr/>
        </p:nvSpPr>
        <p:spPr>
          <a:xfrm>
            <a:off x="3447288" y="3840480"/>
            <a:ext cx="2514600" cy="292608"/>
          </a:xfrm>
          <a:prstGeom prst="rect">
            <a:avLst/>
          </a:prstGeom>
          <a:noFill/>
        </p:spPr>
        <p:txBody>
          <a:bodyPr wrap="square">
            <a:spAutoFit/>
          </a:bodyPr>
          <a:lstStyle/>
          <a:p>
            <a:pPr algn="l"/>
            <a:r>
              <a:rPr sz="1100" b="0" i="1">
                <a:solidFill>
                  <a:srgbClr val="C8D8E8"/>
                </a:solidFill>
              </a:rPr>
              <a:t>Évolution</a:t>
            </a:r>
          </a:p>
        </p:txBody>
      </p:sp>
      <p:sp>
        <p:nvSpPr>
          <p:cNvPr id="25" name="TextBox 24"/>
          <p:cNvSpPr txBox="1"/>
          <p:nvPr/>
        </p:nvSpPr>
        <p:spPr>
          <a:xfrm>
            <a:off x="3447288" y="4114800"/>
            <a:ext cx="2514600" cy="411480"/>
          </a:xfrm>
          <a:prstGeom prst="rect">
            <a:avLst/>
          </a:prstGeom>
          <a:noFill/>
        </p:spPr>
        <p:txBody>
          <a:bodyPr wrap="square">
            <a:spAutoFit/>
          </a:bodyPr>
          <a:lstStyle/>
          <a:p>
            <a:pPr algn="ctr"/>
            <a:r>
              <a:rPr sz="1300" b="0" i="0">
                <a:solidFill>
                  <a:srgbClr val="FFFFFF"/>
                </a:solidFill>
              </a:rPr>
              <a:t>En croissance</a:t>
            </a:r>
          </a:p>
        </p:txBody>
      </p:sp>
      <p:sp>
        <p:nvSpPr>
          <p:cNvPr id="26" name="TextBox 25"/>
          <p:cNvSpPr txBox="1"/>
          <p:nvPr/>
        </p:nvSpPr>
        <p:spPr>
          <a:xfrm>
            <a:off x="3447288" y="4553712"/>
            <a:ext cx="2514600" cy="502920"/>
          </a:xfrm>
          <a:prstGeom prst="rect">
            <a:avLst/>
          </a:prstGeom>
          <a:noFill/>
        </p:spPr>
        <p:txBody>
          <a:bodyPr wrap="square">
            <a:spAutoFit/>
          </a:bodyPr>
          <a:lstStyle/>
          <a:p>
            <a:pPr algn="ctr"/>
            <a:r>
              <a:rPr sz="1300" b="1" i="0">
                <a:solidFill>
                  <a:srgbClr val="FFC200"/>
                </a:solidFill>
              </a:rPr>
              <a:t>Complémentaire
(encre effaçable)</a:t>
            </a:r>
          </a:p>
        </p:txBody>
      </p:sp>
      <p:sp>
        <p:nvSpPr>
          <p:cNvPr id="27" name="Rectangle 26"/>
          <p:cNvSpPr/>
          <p:nvPr/>
        </p:nvSpPr>
        <p:spPr>
          <a:xfrm>
            <a:off x="6254496" y="1600200"/>
            <a:ext cx="2788920" cy="4023360"/>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1691640"/>
            <a:ext cx="2788920" cy="640080"/>
          </a:xfrm>
          <a:prstGeom prst="rect">
            <a:avLst/>
          </a:prstGeom>
          <a:noFill/>
        </p:spPr>
        <p:txBody>
          <a:bodyPr wrap="square">
            <a:spAutoFit/>
          </a:bodyPr>
          <a:lstStyle/>
          <a:p>
            <a:pPr algn="ctr"/>
            <a:r>
              <a:rPr sz="3000" b="0" i="0">
                <a:solidFill>
                  <a:srgbClr val="FFFFFF"/>
                </a:solidFill>
              </a:rPr>
              <a:t>💎</a:t>
            </a:r>
          </a:p>
        </p:txBody>
      </p:sp>
      <p:sp>
        <p:nvSpPr>
          <p:cNvPr id="29" name="TextBox 28"/>
          <p:cNvSpPr txBox="1"/>
          <p:nvPr/>
        </p:nvSpPr>
        <p:spPr>
          <a:xfrm>
            <a:off x="6345936" y="2359152"/>
            <a:ext cx="2606040" cy="566928"/>
          </a:xfrm>
          <a:prstGeom prst="rect">
            <a:avLst/>
          </a:prstGeom>
          <a:noFill/>
        </p:spPr>
        <p:txBody>
          <a:bodyPr wrap="square">
            <a:spAutoFit/>
          </a:bodyPr>
          <a:lstStyle/>
          <a:p>
            <a:pPr algn="ctr"/>
            <a:r>
              <a:rPr sz="1400" b="1" i="0">
                <a:solidFill>
                  <a:srgbClr val="FFC200"/>
                </a:solidFill>
              </a:rPr>
              <a:t>Stylos premium
/ luxe</a:t>
            </a:r>
          </a:p>
        </p:txBody>
      </p:sp>
      <p:sp>
        <p:nvSpPr>
          <p:cNvPr id="30" name="Rectangle 29"/>
          <p:cNvSpPr/>
          <p:nvPr/>
        </p:nvSpPr>
        <p:spPr>
          <a:xfrm>
            <a:off x="6528816" y="2926080"/>
            <a:ext cx="224028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91656" y="3035808"/>
            <a:ext cx="2514600" cy="320040"/>
          </a:xfrm>
          <a:prstGeom prst="rect">
            <a:avLst/>
          </a:prstGeom>
          <a:noFill/>
        </p:spPr>
        <p:txBody>
          <a:bodyPr wrap="square">
            <a:spAutoFit/>
          </a:bodyPr>
          <a:lstStyle/>
          <a:p>
            <a:pPr algn="l"/>
            <a:r>
              <a:rPr sz="1100" b="0" i="1">
                <a:solidFill>
                  <a:srgbClr val="C8D8E8"/>
                </a:solidFill>
              </a:rPr>
              <a:t>Part de marché</a:t>
            </a:r>
          </a:p>
        </p:txBody>
      </p:sp>
      <p:sp>
        <p:nvSpPr>
          <p:cNvPr id="32" name="TextBox 31"/>
          <p:cNvSpPr txBox="1"/>
          <p:nvPr/>
        </p:nvSpPr>
        <p:spPr>
          <a:xfrm>
            <a:off x="6391656" y="3310128"/>
            <a:ext cx="2514600" cy="502920"/>
          </a:xfrm>
          <a:prstGeom prst="rect">
            <a:avLst/>
          </a:prstGeom>
          <a:noFill/>
        </p:spPr>
        <p:txBody>
          <a:bodyPr wrap="square">
            <a:spAutoFit/>
          </a:bodyPr>
          <a:lstStyle/>
          <a:p>
            <a:pPr algn="ctr"/>
            <a:r>
              <a:rPr sz="1500" b="1" i="0">
                <a:solidFill>
                  <a:srgbClr val="FFFFFF"/>
                </a:solidFill>
              </a:rPr>
              <a:t>≈ 5–8 %</a:t>
            </a:r>
          </a:p>
        </p:txBody>
      </p:sp>
      <p:sp>
        <p:nvSpPr>
          <p:cNvPr id="33" name="TextBox 32"/>
          <p:cNvSpPr txBox="1"/>
          <p:nvPr/>
        </p:nvSpPr>
        <p:spPr>
          <a:xfrm>
            <a:off x="6391656" y="3840480"/>
            <a:ext cx="2514600" cy="292608"/>
          </a:xfrm>
          <a:prstGeom prst="rect">
            <a:avLst/>
          </a:prstGeom>
          <a:noFill/>
        </p:spPr>
        <p:txBody>
          <a:bodyPr wrap="square">
            <a:spAutoFit/>
          </a:bodyPr>
          <a:lstStyle/>
          <a:p>
            <a:pPr algn="l"/>
            <a:r>
              <a:rPr sz="1100" b="0" i="1">
                <a:solidFill>
                  <a:srgbClr val="C8D8E8"/>
                </a:solidFill>
              </a:rPr>
              <a:t>Évolution</a:t>
            </a:r>
          </a:p>
        </p:txBody>
      </p:sp>
      <p:sp>
        <p:nvSpPr>
          <p:cNvPr id="34" name="TextBox 33"/>
          <p:cNvSpPr txBox="1"/>
          <p:nvPr/>
        </p:nvSpPr>
        <p:spPr>
          <a:xfrm>
            <a:off x="6391656" y="4114800"/>
            <a:ext cx="2514600" cy="411480"/>
          </a:xfrm>
          <a:prstGeom prst="rect">
            <a:avLst/>
          </a:prstGeom>
          <a:noFill/>
        </p:spPr>
        <p:txBody>
          <a:bodyPr wrap="square">
            <a:spAutoFit/>
          </a:bodyPr>
          <a:lstStyle/>
          <a:p>
            <a:pPr algn="ctr"/>
            <a:r>
              <a:rPr sz="1300" b="0" i="0">
                <a:solidFill>
                  <a:srgbClr val="FFFFFF"/>
                </a:solidFill>
              </a:rPr>
              <a:t>Stable — niche</a:t>
            </a:r>
          </a:p>
        </p:txBody>
      </p:sp>
      <p:sp>
        <p:nvSpPr>
          <p:cNvPr id="35" name="TextBox 34"/>
          <p:cNvSpPr txBox="1"/>
          <p:nvPr/>
        </p:nvSpPr>
        <p:spPr>
          <a:xfrm>
            <a:off x="6391656" y="4553712"/>
            <a:ext cx="2514600" cy="502920"/>
          </a:xfrm>
          <a:prstGeom prst="rect">
            <a:avLst/>
          </a:prstGeom>
          <a:noFill/>
        </p:spPr>
        <p:txBody>
          <a:bodyPr wrap="square">
            <a:spAutoFit/>
          </a:bodyPr>
          <a:lstStyle/>
          <a:p>
            <a:pPr algn="ctr"/>
            <a:r>
              <a:rPr sz="1300" b="1" i="0">
                <a:solidFill>
                  <a:srgbClr val="FFC200"/>
                </a:solidFill>
              </a:rPr>
              <a:t>Inspiration
positionnement</a:t>
            </a:r>
          </a:p>
        </p:txBody>
      </p:sp>
      <p:sp>
        <p:nvSpPr>
          <p:cNvPr id="36" name="Rectangle 35"/>
          <p:cNvSpPr/>
          <p:nvPr/>
        </p:nvSpPr>
        <p:spPr>
          <a:xfrm>
            <a:off x="9198864" y="1600200"/>
            <a:ext cx="2788920" cy="4023360"/>
          </a:xfrm>
          <a:prstGeom prst="rect">
            <a:avLst/>
          </a:prstGeom>
          <a:solidFill>
            <a:srgbClr val="FF6B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98864" y="1691640"/>
            <a:ext cx="2788920" cy="640080"/>
          </a:xfrm>
          <a:prstGeom prst="rect">
            <a:avLst/>
          </a:prstGeom>
          <a:noFill/>
        </p:spPr>
        <p:txBody>
          <a:bodyPr wrap="square">
            <a:spAutoFit/>
          </a:bodyPr>
          <a:lstStyle/>
          <a:p>
            <a:pPr algn="ctr"/>
            <a:r>
              <a:rPr sz="3000" b="0" i="0">
                <a:solidFill>
                  <a:srgbClr val="FFFFFF"/>
                </a:solidFill>
              </a:rPr>
              <a:t>🧠</a:t>
            </a:r>
          </a:p>
        </p:txBody>
      </p:sp>
      <p:sp>
        <p:nvSpPr>
          <p:cNvPr id="38" name="TextBox 37"/>
          <p:cNvSpPr txBox="1"/>
          <p:nvPr/>
        </p:nvSpPr>
        <p:spPr>
          <a:xfrm>
            <a:off x="9290304" y="2359152"/>
            <a:ext cx="2606040" cy="566928"/>
          </a:xfrm>
          <a:prstGeom prst="rect">
            <a:avLst/>
          </a:prstGeom>
          <a:noFill/>
        </p:spPr>
        <p:txBody>
          <a:bodyPr wrap="square">
            <a:spAutoFit/>
          </a:bodyPr>
          <a:lstStyle/>
          <a:p>
            <a:pPr algn="ctr"/>
            <a:r>
              <a:rPr sz="1400" b="1" i="0">
                <a:solidFill>
                  <a:srgbClr val="FFC200"/>
                </a:solidFill>
              </a:rPr>
              <a:t>Instruments
intelligents</a:t>
            </a:r>
          </a:p>
        </p:txBody>
      </p:sp>
      <p:sp>
        <p:nvSpPr>
          <p:cNvPr id="39" name="Rectangle 38"/>
          <p:cNvSpPr/>
          <p:nvPr/>
        </p:nvSpPr>
        <p:spPr>
          <a:xfrm>
            <a:off x="9473184" y="2926080"/>
            <a:ext cx="224028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336024" y="3035808"/>
            <a:ext cx="2514600" cy="320040"/>
          </a:xfrm>
          <a:prstGeom prst="rect">
            <a:avLst/>
          </a:prstGeom>
          <a:noFill/>
        </p:spPr>
        <p:txBody>
          <a:bodyPr wrap="square">
            <a:spAutoFit/>
          </a:bodyPr>
          <a:lstStyle/>
          <a:p>
            <a:pPr algn="l"/>
            <a:r>
              <a:rPr sz="1100" b="0" i="1">
                <a:solidFill>
                  <a:srgbClr val="C8D8E8"/>
                </a:solidFill>
              </a:rPr>
              <a:t>Part de marché</a:t>
            </a:r>
          </a:p>
        </p:txBody>
      </p:sp>
      <p:sp>
        <p:nvSpPr>
          <p:cNvPr id="41" name="TextBox 40"/>
          <p:cNvSpPr txBox="1"/>
          <p:nvPr/>
        </p:nvSpPr>
        <p:spPr>
          <a:xfrm>
            <a:off x="9336024" y="3310128"/>
            <a:ext cx="2514600" cy="502920"/>
          </a:xfrm>
          <a:prstGeom prst="rect">
            <a:avLst/>
          </a:prstGeom>
          <a:noFill/>
        </p:spPr>
        <p:txBody>
          <a:bodyPr wrap="square">
            <a:spAutoFit/>
          </a:bodyPr>
          <a:lstStyle/>
          <a:p>
            <a:pPr algn="ctr"/>
            <a:r>
              <a:rPr sz="1500" b="1" i="0">
                <a:solidFill>
                  <a:srgbClr val="FFFFFF"/>
                </a:solidFill>
              </a:rPr>
              <a:t>Quasi
inexistant</a:t>
            </a:r>
          </a:p>
        </p:txBody>
      </p:sp>
      <p:sp>
        <p:nvSpPr>
          <p:cNvPr id="42" name="TextBox 41"/>
          <p:cNvSpPr txBox="1"/>
          <p:nvPr/>
        </p:nvSpPr>
        <p:spPr>
          <a:xfrm>
            <a:off x="9336024" y="3840480"/>
            <a:ext cx="2514600" cy="292608"/>
          </a:xfrm>
          <a:prstGeom prst="rect">
            <a:avLst/>
          </a:prstGeom>
          <a:noFill/>
        </p:spPr>
        <p:txBody>
          <a:bodyPr wrap="square">
            <a:spAutoFit/>
          </a:bodyPr>
          <a:lstStyle/>
          <a:p>
            <a:pPr algn="l"/>
            <a:r>
              <a:rPr sz="1100" b="0" i="1">
                <a:solidFill>
                  <a:srgbClr val="C8D8E8"/>
                </a:solidFill>
              </a:rPr>
              <a:t>Évolution</a:t>
            </a:r>
          </a:p>
        </p:txBody>
      </p:sp>
      <p:sp>
        <p:nvSpPr>
          <p:cNvPr id="43" name="TextBox 42"/>
          <p:cNvSpPr txBox="1"/>
          <p:nvPr/>
        </p:nvSpPr>
        <p:spPr>
          <a:xfrm>
            <a:off x="9336024" y="4114800"/>
            <a:ext cx="2514600" cy="411480"/>
          </a:xfrm>
          <a:prstGeom prst="rect">
            <a:avLst/>
          </a:prstGeom>
          <a:noFill/>
        </p:spPr>
        <p:txBody>
          <a:bodyPr wrap="square">
            <a:spAutoFit/>
          </a:bodyPr>
          <a:lstStyle/>
          <a:p>
            <a:pPr algn="ctr"/>
            <a:r>
              <a:rPr sz="1300" b="0" i="0">
                <a:solidFill>
                  <a:srgbClr val="FFFFFF"/>
                </a:solidFill>
              </a:rPr>
              <a:t>Fort
potentiel</a:t>
            </a:r>
          </a:p>
        </p:txBody>
      </p:sp>
      <p:sp>
        <p:nvSpPr>
          <p:cNvPr id="44" name="TextBox 43"/>
          <p:cNvSpPr txBox="1"/>
          <p:nvPr/>
        </p:nvSpPr>
        <p:spPr>
          <a:xfrm>
            <a:off x="9336024" y="4553712"/>
            <a:ext cx="2514600" cy="502920"/>
          </a:xfrm>
          <a:prstGeom prst="rect">
            <a:avLst/>
          </a:prstGeom>
          <a:noFill/>
        </p:spPr>
        <p:txBody>
          <a:bodyPr wrap="square">
            <a:spAutoFit/>
          </a:bodyPr>
          <a:lstStyle/>
          <a:p>
            <a:pPr algn="ctr"/>
            <a:r>
              <a:rPr sz="1300" b="1" i="0">
                <a:solidFill>
                  <a:srgbClr val="FFC200"/>
                </a:solidFill>
              </a:rPr>
              <a:t>🎯 Terrain
vierge</a:t>
            </a:r>
          </a:p>
        </p:txBody>
      </p:sp>
      <p:sp>
        <p:nvSpPr>
          <p:cNvPr id="45" name="Rectangle 44"/>
          <p:cNvSpPr/>
          <p:nvPr/>
        </p:nvSpPr>
        <p:spPr>
          <a:xfrm>
            <a:off x="365760" y="5742432"/>
            <a:ext cx="11457432" cy="896112"/>
          </a:xfrm>
          <a:prstGeom prst="rect">
            <a:avLst/>
          </a:prstGeom>
          <a:solidFill>
            <a:srgbClr val="D4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5760" y="5742432"/>
            <a:ext cx="109728" cy="896112"/>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94360" y="5833872"/>
            <a:ext cx="10972800" cy="731520"/>
          </a:xfrm>
          <a:prstGeom prst="rect">
            <a:avLst/>
          </a:prstGeom>
          <a:noFill/>
        </p:spPr>
        <p:txBody>
          <a:bodyPr wrap="square">
            <a:spAutoFit/>
          </a:bodyPr>
          <a:lstStyle/>
          <a:p>
            <a:pPr algn="l"/>
            <a:r>
              <a:rPr sz="1400" b="0" i="0">
                <a:solidFill>
                  <a:srgbClr val="0D1B3E"/>
                </a:solidFill>
              </a:rPr>
              <a:t>📊 Tri à plat — 56,6 % utilisent le correcteur téléphone et 43,4 % le correcteur Word, mais aucun ne fonctionne sur papier. Le Stylo Ortho occupe un territoire inexploité.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OFFRE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3.2 Analyse concurrentielle</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Concurrents directs (numérique) et indirects (papeterie)</a:t>
            </a:r>
          </a:p>
        </p:txBody>
      </p:sp>
      <p:sp>
        <p:nvSpPr>
          <p:cNvPr id="9" name="Rectangle 8"/>
          <p:cNvSpPr/>
          <p:nvPr/>
        </p:nvSpPr>
        <p:spPr>
          <a:xfrm>
            <a:off x="365760" y="1572768"/>
            <a:ext cx="5394960" cy="5074920"/>
          </a:xfrm>
          <a:prstGeom prst="rect">
            <a:avLst/>
          </a:prstGeom>
          <a:solidFill>
            <a:srgbClr val="E8F0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97880" y="1572768"/>
            <a:ext cx="5925312" cy="5074920"/>
          </a:xfrm>
          <a:prstGeom prst="rect">
            <a:avLst/>
          </a:prstGeom>
          <a:solidFill>
            <a:srgbClr val="FF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1572768"/>
            <a:ext cx="5394960" cy="47548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897880" y="1572768"/>
            <a:ext cx="5925312" cy="475488"/>
          </a:xfrm>
          <a:prstGeom prst="rect">
            <a:avLst/>
          </a:prstGeom>
          <a:solidFill>
            <a:srgbClr val="C0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618488"/>
            <a:ext cx="5394960" cy="384048"/>
          </a:xfrm>
          <a:prstGeom prst="rect">
            <a:avLst/>
          </a:prstGeom>
          <a:noFill/>
        </p:spPr>
        <p:txBody>
          <a:bodyPr wrap="square">
            <a:spAutoFit/>
          </a:bodyPr>
          <a:lstStyle/>
          <a:p>
            <a:pPr algn="ctr"/>
            <a:r>
              <a:rPr sz="1500" b="1" i="0">
                <a:solidFill>
                  <a:srgbClr val="FFFFFF"/>
                </a:solidFill>
              </a:rPr>
              <a:t>INDIRECTS — Papeterie</a:t>
            </a:r>
          </a:p>
        </p:txBody>
      </p:sp>
      <p:sp>
        <p:nvSpPr>
          <p:cNvPr id="14" name="TextBox 13"/>
          <p:cNvSpPr txBox="1"/>
          <p:nvPr/>
        </p:nvSpPr>
        <p:spPr>
          <a:xfrm>
            <a:off x="5897880" y="1618488"/>
            <a:ext cx="5925312" cy="384048"/>
          </a:xfrm>
          <a:prstGeom prst="rect">
            <a:avLst/>
          </a:prstGeom>
          <a:noFill/>
        </p:spPr>
        <p:txBody>
          <a:bodyPr wrap="square">
            <a:spAutoFit/>
          </a:bodyPr>
          <a:lstStyle/>
          <a:p>
            <a:pPr algn="ctr"/>
            <a:r>
              <a:rPr sz="1500" b="1" i="0">
                <a:solidFill>
                  <a:srgbClr val="FFFFFF"/>
                </a:solidFill>
              </a:rPr>
              <a:t>DIRECTS — Numérique</a:t>
            </a:r>
          </a:p>
        </p:txBody>
      </p:sp>
      <p:sp>
        <p:nvSpPr>
          <p:cNvPr id="15" name="Rectangle 14"/>
          <p:cNvSpPr/>
          <p:nvPr/>
        </p:nvSpPr>
        <p:spPr>
          <a:xfrm>
            <a:off x="502920" y="2212848"/>
            <a:ext cx="5120640" cy="11155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304288"/>
            <a:ext cx="2743200" cy="384048"/>
          </a:xfrm>
          <a:prstGeom prst="rect">
            <a:avLst/>
          </a:prstGeom>
          <a:noFill/>
        </p:spPr>
        <p:txBody>
          <a:bodyPr wrap="square">
            <a:spAutoFit/>
          </a:bodyPr>
          <a:lstStyle/>
          <a:p>
            <a:pPr algn="l"/>
            <a:r>
              <a:rPr sz="1500" b="1" i="0">
                <a:solidFill>
                  <a:srgbClr val="1A4F8A"/>
                </a:solidFill>
              </a:rPr>
              <a:t>BIC</a:t>
            </a:r>
          </a:p>
        </p:txBody>
      </p:sp>
      <p:sp>
        <p:nvSpPr>
          <p:cNvPr id="17" name="TextBox 16"/>
          <p:cNvSpPr txBox="1"/>
          <p:nvPr/>
        </p:nvSpPr>
        <p:spPr>
          <a:xfrm>
            <a:off x="658368" y="2688336"/>
            <a:ext cx="2743200" cy="320040"/>
          </a:xfrm>
          <a:prstGeom prst="rect">
            <a:avLst/>
          </a:prstGeom>
          <a:noFill/>
        </p:spPr>
        <p:txBody>
          <a:bodyPr wrap="square">
            <a:spAutoFit/>
          </a:bodyPr>
          <a:lstStyle/>
          <a:p>
            <a:pPr algn="l"/>
            <a:r>
              <a:rPr sz="1200" b="0" i="1">
                <a:solidFill>
                  <a:srgbClr val="4A5A7A"/>
                </a:solidFill>
              </a:rPr>
              <a:t>≈ 20–25 % marché stylos</a:t>
            </a:r>
          </a:p>
        </p:txBody>
      </p:sp>
      <p:sp>
        <p:nvSpPr>
          <p:cNvPr id="18" name="TextBox 17"/>
          <p:cNvSpPr txBox="1"/>
          <p:nvPr/>
        </p:nvSpPr>
        <p:spPr>
          <a:xfrm>
            <a:off x="658368" y="2926080"/>
            <a:ext cx="2377440" cy="320040"/>
          </a:xfrm>
          <a:prstGeom prst="rect">
            <a:avLst/>
          </a:prstGeom>
          <a:noFill/>
        </p:spPr>
        <p:txBody>
          <a:bodyPr wrap="square">
            <a:spAutoFit/>
          </a:bodyPr>
          <a:lstStyle/>
          <a:p>
            <a:pPr algn="l"/>
            <a:r>
              <a:rPr sz="1200" b="0" i="0">
                <a:solidFill>
                  <a:srgbClr val="0E6B5E"/>
                </a:solidFill>
              </a:rPr>
              <a:t>✅ Notoriété mondiale, prix très bas</a:t>
            </a:r>
          </a:p>
        </p:txBody>
      </p:sp>
      <p:sp>
        <p:nvSpPr>
          <p:cNvPr id="19" name="TextBox 18"/>
          <p:cNvSpPr txBox="1"/>
          <p:nvPr/>
        </p:nvSpPr>
        <p:spPr>
          <a:xfrm>
            <a:off x="3108960" y="2304288"/>
            <a:ext cx="2377440" cy="685800"/>
          </a:xfrm>
          <a:prstGeom prst="rect">
            <a:avLst/>
          </a:prstGeom>
          <a:noFill/>
        </p:spPr>
        <p:txBody>
          <a:bodyPr wrap="square">
            <a:spAutoFit/>
          </a:bodyPr>
          <a:lstStyle/>
          <a:p>
            <a:pPr algn="l"/>
            <a:r>
              <a:rPr sz="1200" b="1" i="0">
                <a:solidFill>
                  <a:srgbClr val="FF6B6B"/>
                </a:solidFill>
              </a:rPr>
              <a:t>❌ Aucune correction intégrée</a:t>
            </a:r>
          </a:p>
        </p:txBody>
      </p:sp>
      <p:sp>
        <p:nvSpPr>
          <p:cNvPr id="20" name="Rectangle 19"/>
          <p:cNvSpPr/>
          <p:nvPr/>
        </p:nvSpPr>
        <p:spPr>
          <a:xfrm>
            <a:off x="502920" y="3447288"/>
            <a:ext cx="5120640" cy="11155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538728"/>
            <a:ext cx="2743200" cy="384048"/>
          </a:xfrm>
          <a:prstGeom prst="rect">
            <a:avLst/>
          </a:prstGeom>
          <a:noFill/>
        </p:spPr>
        <p:txBody>
          <a:bodyPr wrap="square">
            <a:spAutoFit/>
          </a:bodyPr>
          <a:lstStyle/>
          <a:p>
            <a:pPr algn="l"/>
            <a:r>
              <a:rPr sz="1500" b="1" i="0">
                <a:solidFill>
                  <a:srgbClr val="1A4F8A"/>
                </a:solidFill>
              </a:rPr>
              <a:t>Pilot / Stabilo / Pentel</a:t>
            </a:r>
          </a:p>
        </p:txBody>
      </p:sp>
      <p:sp>
        <p:nvSpPr>
          <p:cNvPr id="22" name="TextBox 21"/>
          <p:cNvSpPr txBox="1"/>
          <p:nvPr/>
        </p:nvSpPr>
        <p:spPr>
          <a:xfrm>
            <a:off x="658368" y="3922776"/>
            <a:ext cx="2743200" cy="320040"/>
          </a:xfrm>
          <a:prstGeom prst="rect">
            <a:avLst/>
          </a:prstGeom>
          <a:noFill/>
        </p:spPr>
        <p:txBody>
          <a:bodyPr wrap="square">
            <a:spAutoFit/>
          </a:bodyPr>
          <a:lstStyle/>
          <a:p>
            <a:pPr algn="l"/>
            <a:r>
              <a:rPr sz="1200" b="0" i="1">
                <a:solidFill>
                  <a:srgbClr val="4A5A7A"/>
                </a:solidFill>
              </a:rPr>
              <a:t>≈ 15–20 % cumulés</a:t>
            </a:r>
          </a:p>
        </p:txBody>
      </p:sp>
      <p:sp>
        <p:nvSpPr>
          <p:cNvPr id="23" name="TextBox 22"/>
          <p:cNvSpPr txBox="1"/>
          <p:nvPr/>
        </p:nvSpPr>
        <p:spPr>
          <a:xfrm>
            <a:off x="658368" y="4160520"/>
            <a:ext cx="2377440" cy="320040"/>
          </a:xfrm>
          <a:prstGeom prst="rect">
            <a:avLst/>
          </a:prstGeom>
          <a:noFill/>
        </p:spPr>
        <p:txBody>
          <a:bodyPr wrap="square">
            <a:spAutoFit/>
          </a:bodyPr>
          <a:lstStyle/>
          <a:p>
            <a:pPr algn="l"/>
            <a:r>
              <a:rPr sz="1200" b="0" i="0">
                <a:solidFill>
                  <a:srgbClr val="0E6B5E"/>
                </a:solidFill>
              </a:rPr>
              <a:t>✅ Innovation stylos effaçables</a:t>
            </a:r>
          </a:p>
        </p:txBody>
      </p:sp>
      <p:sp>
        <p:nvSpPr>
          <p:cNvPr id="24" name="TextBox 23"/>
          <p:cNvSpPr txBox="1"/>
          <p:nvPr/>
        </p:nvSpPr>
        <p:spPr>
          <a:xfrm>
            <a:off x="3108960" y="3538728"/>
            <a:ext cx="2377440" cy="685800"/>
          </a:xfrm>
          <a:prstGeom prst="rect">
            <a:avLst/>
          </a:prstGeom>
          <a:noFill/>
        </p:spPr>
        <p:txBody>
          <a:bodyPr wrap="square">
            <a:spAutoFit/>
          </a:bodyPr>
          <a:lstStyle/>
          <a:p>
            <a:pPr algn="l"/>
            <a:r>
              <a:rPr sz="1200" b="1" i="0">
                <a:solidFill>
                  <a:srgbClr val="FF6B6B"/>
                </a:solidFill>
              </a:rPr>
              <a:t>❌ Pas de correction ortho</a:t>
            </a:r>
          </a:p>
        </p:txBody>
      </p:sp>
      <p:sp>
        <p:nvSpPr>
          <p:cNvPr id="25" name="Rectangle 24"/>
          <p:cNvSpPr/>
          <p:nvPr/>
        </p:nvSpPr>
        <p:spPr>
          <a:xfrm>
            <a:off x="6035040" y="2212848"/>
            <a:ext cx="5623560" cy="8046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2200" y="2276856"/>
            <a:ext cx="2926080" cy="384048"/>
          </a:xfrm>
          <a:prstGeom prst="rect">
            <a:avLst/>
          </a:prstGeom>
          <a:noFill/>
        </p:spPr>
        <p:txBody>
          <a:bodyPr wrap="square">
            <a:spAutoFit/>
          </a:bodyPr>
          <a:lstStyle/>
          <a:p>
            <a:pPr algn="l"/>
            <a:r>
              <a:rPr sz="1400" b="1" i="0">
                <a:solidFill>
                  <a:srgbClr val="C03A2B"/>
                </a:solidFill>
              </a:rPr>
              <a:t>Correcteur téléphone</a:t>
            </a:r>
          </a:p>
        </p:txBody>
      </p:sp>
      <p:sp>
        <p:nvSpPr>
          <p:cNvPr id="27" name="TextBox 26"/>
          <p:cNvSpPr txBox="1"/>
          <p:nvPr/>
        </p:nvSpPr>
        <p:spPr>
          <a:xfrm>
            <a:off x="6172200" y="2670048"/>
            <a:ext cx="1828800" cy="274320"/>
          </a:xfrm>
          <a:prstGeom prst="rect">
            <a:avLst/>
          </a:prstGeom>
          <a:noFill/>
        </p:spPr>
        <p:txBody>
          <a:bodyPr wrap="square">
            <a:spAutoFit/>
          </a:bodyPr>
          <a:lstStyle/>
          <a:p>
            <a:pPr algn="l"/>
            <a:r>
              <a:rPr sz="1100" b="0" i="1">
                <a:solidFill>
                  <a:srgbClr val="4A5A7A"/>
                </a:solidFill>
              </a:rPr>
              <a:t>≈ 56,6 % utilisateurs</a:t>
            </a:r>
          </a:p>
        </p:txBody>
      </p:sp>
      <p:sp>
        <p:nvSpPr>
          <p:cNvPr id="28" name="TextBox 27"/>
          <p:cNvSpPr txBox="1"/>
          <p:nvPr/>
        </p:nvSpPr>
        <p:spPr>
          <a:xfrm>
            <a:off x="8321040" y="2276856"/>
            <a:ext cx="3200400" cy="685800"/>
          </a:xfrm>
          <a:prstGeom prst="rect">
            <a:avLst/>
          </a:prstGeom>
          <a:noFill/>
        </p:spPr>
        <p:txBody>
          <a:bodyPr wrap="square">
            <a:spAutoFit/>
          </a:bodyPr>
          <a:lstStyle/>
          <a:p>
            <a:pPr algn="l"/>
            <a:r>
              <a:rPr sz="1200" b="1" i="0">
                <a:solidFill>
                  <a:srgbClr val="FF6B6B"/>
                </a:solidFill>
              </a:rPr>
              <a:t>❌ Hors papier</a:t>
            </a:r>
          </a:p>
        </p:txBody>
      </p:sp>
      <p:sp>
        <p:nvSpPr>
          <p:cNvPr id="29" name="TextBox 28"/>
          <p:cNvSpPr txBox="1"/>
          <p:nvPr/>
        </p:nvSpPr>
        <p:spPr>
          <a:xfrm>
            <a:off x="6172200" y="2734056"/>
            <a:ext cx="2743200" cy="256032"/>
          </a:xfrm>
          <a:prstGeom prst="rect">
            <a:avLst/>
          </a:prstGeom>
          <a:noFill/>
        </p:spPr>
        <p:txBody>
          <a:bodyPr wrap="square">
            <a:spAutoFit/>
          </a:bodyPr>
          <a:lstStyle/>
          <a:p>
            <a:pPr algn="l"/>
            <a:r>
              <a:rPr sz="1100" b="0" i="0">
                <a:solidFill>
                  <a:srgbClr val="0E6B5E"/>
                </a:solidFill>
              </a:rPr>
              <a:t>✅ Gratuit, partout, instantané</a:t>
            </a:r>
          </a:p>
        </p:txBody>
      </p:sp>
      <p:sp>
        <p:nvSpPr>
          <p:cNvPr id="30" name="Rectangle 29"/>
          <p:cNvSpPr/>
          <p:nvPr/>
        </p:nvSpPr>
        <p:spPr>
          <a:xfrm>
            <a:off x="6035040" y="3127248"/>
            <a:ext cx="5623560" cy="8046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3191256"/>
            <a:ext cx="2926080" cy="384048"/>
          </a:xfrm>
          <a:prstGeom prst="rect">
            <a:avLst/>
          </a:prstGeom>
          <a:noFill/>
        </p:spPr>
        <p:txBody>
          <a:bodyPr wrap="square">
            <a:spAutoFit/>
          </a:bodyPr>
          <a:lstStyle/>
          <a:p>
            <a:pPr algn="l"/>
            <a:r>
              <a:rPr sz="1400" b="1" i="0">
                <a:solidFill>
                  <a:srgbClr val="C03A2B"/>
                </a:solidFill>
              </a:rPr>
              <a:t>Microsoft Word /
Google Docs</a:t>
            </a:r>
          </a:p>
        </p:txBody>
      </p:sp>
      <p:sp>
        <p:nvSpPr>
          <p:cNvPr id="32" name="TextBox 31"/>
          <p:cNvSpPr txBox="1"/>
          <p:nvPr/>
        </p:nvSpPr>
        <p:spPr>
          <a:xfrm>
            <a:off x="6172200" y="3584448"/>
            <a:ext cx="1828800" cy="274320"/>
          </a:xfrm>
          <a:prstGeom prst="rect">
            <a:avLst/>
          </a:prstGeom>
          <a:noFill/>
        </p:spPr>
        <p:txBody>
          <a:bodyPr wrap="square">
            <a:spAutoFit/>
          </a:bodyPr>
          <a:lstStyle/>
          <a:p>
            <a:pPr algn="l"/>
            <a:r>
              <a:rPr sz="1100" b="0" i="1">
                <a:solidFill>
                  <a:srgbClr val="4A5A7A"/>
                </a:solidFill>
              </a:rPr>
              <a:t>≈ 43,4 % utilisateurs</a:t>
            </a:r>
          </a:p>
        </p:txBody>
      </p:sp>
      <p:sp>
        <p:nvSpPr>
          <p:cNvPr id="33" name="TextBox 32"/>
          <p:cNvSpPr txBox="1"/>
          <p:nvPr/>
        </p:nvSpPr>
        <p:spPr>
          <a:xfrm>
            <a:off x="8321040" y="3191256"/>
            <a:ext cx="3200400" cy="685800"/>
          </a:xfrm>
          <a:prstGeom prst="rect">
            <a:avLst/>
          </a:prstGeom>
          <a:noFill/>
        </p:spPr>
        <p:txBody>
          <a:bodyPr wrap="square">
            <a:spAutoFit/>
          </a:bodyPr>
          <a:lstStyle/>
          <a:p>
            <a:pPr algn="l"/>
            <a:r>
              <a:rPr sz="1200" b="1" i="0">
                <a:solidFill>
                  <a:srgbClr val="FF6B6B"/>
                </a:solidFill>
              </a:rPr>
              <a:t>❌ Inutilisable manuscrit</a:t>
            </a:r>
          </a:p>
        </p:txBody>
      </p:sp>
      <p:sp>
        <p:nvSpPr>
          <p:cNvPr id="34" name="TextBox 33"/>
          <p:cNvSpPr txBox="1"/>
          <p:nvPr/>
        </p:nvSpPr>
        <p:spPr>
          <a:xfrm>
            <a:off x="6172200" y="3648456"/>
            <a:ext cx="2743200" cy="256032"/>
          </a:xfrm>
          <a:prstGeom prst="rect">
            <a:avLst/>
          </a:prstGeom>
          <a:noFill/>
        </p:spPr>
        <p:txBody>
          <a:bodyPr wrap="square">
            <a:spAutoFit/>
          </a:bodyPr>
          <a:lstStyle/>
          <a:p>
            <a:pPr algn="l"/>
            <a:r>
              <a:rPr sz="1100" b="0" i="0">
                <a:solidFill>
                  <a:srgbClr val="0E6B5E"/>
                </a:solidFill>
              </a:rPr>
              <a:t>✅ Intégré, gratuit</a:t>
            </a:r>
          </a:p>
        </p:txBody>
      </p:sp>
      <p:sp>
        <p:nvSpPr>
          <p:cNvPr id="35" name="Rectangle 34"/>
          <p:cNvSpPr/>
          <p:nvPr/>
        </p:nvSpPr>
        <p:spPr>
          <a:xfrm>
            <a:off x="6035040" y="4041648"/>
            <a:ext cx="5623560" cy="8046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72200" y="4105656"/>
            <a:ext cx="2926080" cy="384048"/>
          </a:xfrm>
          <a:prstGeom prst="rect">
            <a:avLst/>
          </a:prstGeom>
          <a:noFill/>
        </p:spPr>
        <p:txBody>
          <a:bodyPr wrap="square">
            <a:spAutoFit/>
          </a:bodyPr>
          <a:lstStyle/>
          <a:p>
            <a:pPr algn="l"/>
            <a:r>
              <a:rPr sz="1400" b="1" i="0">
                <a:solidFill>
                  <a:srgbClr val="C03A2B"/>
                </a:solidFill>
              </a:rPr>
              <a:t>Grammarly / Antidote</a:t>
            </a:r>
          </a:p>
        </p:txBody>
      </p:sp>
      <p:sp>
        <p:nvSpPr>
          <p:cNvPr id="37" name="TextBox 36"/>
          <p:cNvSpPr txBox="1"/>
          <p:nvPr/>
        </p:nvSpPr>
        <p:spPr>
          <a:xfrm>
            <a:off x="6172200" y="4498848"/>
            <a:ext cx="1828800" cy="274320"/>
          </a:xfrm>
          <a:prstGeom prst="rect">
            <a:avLst/>
          </a:prstGeom>
          <a:noFill/>
        </p:spPr>
        <p:txBody>
          <a:bodyPr wrap="square">
            <a:spAutoFit/>
          </a:bodyPr>
          <a:lstStyle/>
          <a:p>
            <a:pPr algn="l"/>
            <a:r>
              <a:rPr sz="1100" b="0" i="1">
                <a:solidFill>
                  <a:srgbClr val="4A5A7A"/>
                </a:solidFill>
              </a:rPr>
              <a:t>Niche</a:t>
            </a:r>
          </a:p>
        </p:txBody>
      </p:sp>
      <p:sp>
        <p:nvSpPr>
          <p:cNvPr id="38" name="TextBox 37"/>
          <p:cNvSpPr txBox="1"/>
          <p:nvPr/>
        </p:nvSpPr>
        <p:spPr>
          <a:xfrm>
            <a:off x="8321040" y="4105656"/>
            <a:ext cx="3200400" cy="685800"/>
          </a:xfrm>
          <a:prstGeom prst="rect">
            <a:avLst/>
          </a:prstGeom>
          <a:noFill/>
        </p:spPr>
        <p:txBody>
          <a:bodyPr wrap="square">
            <a:spAutoFit/>
          </a:bodyPr>
          <a:lstStyle/>
          <a:p>
            <a:pPr algn="l"/>
            <a:r>
              <a:rPr sz="1200" b="1" i="0">
                <a:solidFill>
                  <a:srgbClr val="FF6B6B"/>
                </a:solidFill>
              </a:rPr>
              <a:t>❌ Réservé numérique</a:t>
            </a:r>
          </a:p>
        </p:txBody>
      </p:sp>
      <p:sp>
        <p:nvSpPr>
          <p:cNvPr id="39" name="TextBox 38"/>
          <p:cNvSpPr txBox="1"/>
          <p:nvPr/>
        </p:nvSpPr>
        <p:spPr>
          <a:xfrm>
            <a:off x="6172200" y="4562856"/>
            <a:ext cx="2743200" cy="256032"/>
          </a:xfrm>
          <a:prstGeom prst="rect">
            <a:avLst/>
          </a:prstGeom>
          <a:noFill/>
        </p:spPr>
        <p:txBody>
          <a:bodyPr wrap="square">
            <a:spAutoFit/>
          </a:bodyPr>
          <a:lstStyle/>
          <a:p>
            <a:pPr algn="l"/>
            <a:r>
              <a:rPr sz="1100" b="0" i="0">
                <a:solidFill>
                  <a:srgbClr val="0E6B5E"/>
                </a:solidFill>
              </a:rPr>
              <a:t>✅ Très performant à l'écrit</a:t>
            </a:r>
          </a:p>
        </p:txBody>
      </p:sp>
      <p:sp>
        <p:nvSpPr>
          <p:cNvPr id="40" name="Rectangle 39"/>
          <p:cNvSpPr/>
          <p:nvPr/>
        </p:nvSpPr>
        <p:spPr>
          <a:xfrm>
            <a:off x="365760" y="5870448"/>
            <a:ext cx="11457432" cy="77724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48640" y="6007608"/>
            <a:ext cx="11064240" cy="548640"/>
          </a:xfrm>
          <a:prstGeom prst="rect">
            <a:avLst/>
          </a:prstGeom>
          <a:noFill/>
        </p:spPr>
        <p:txBody>
          <a:bodyPr wrap="square">
            <a:spAutoFit/>
          </a:bodyPr>
          <a:lstStyle/>
          <a:p>
            <a:pPr algn="ctr"/>
            <a:r>
              <a:rPr sz="1500" b="1" i="0">
                <a:solidFill>
                  <a:srgbClr val="FFFFFF"/>
                </a:solidFill>
              </a:rPr>
              <a:t>🎯 Le Stylo Ortho occupe un territoire inexploité : correction en temps réel sur papier, sans internet — aucun concurrent direct.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OFFRE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3.3 Stratégie de distribution</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Priorités et circuits de mise sur le marché</a:t>
            </a:r>
          </a:p>
        </p:txBody>
      </p:sp>
      <p:sp>
        <p:nvSpPr>
          <p:cNvPr id="9" name="Rectangle 8"/>
          <p:cNvSpPr/>
          <p:nvPr/>
        </p:nvSpPr>
        <p:spPr>
          <a:xfrm>
            <a:off x="365760" y="1600200"/>
            <a:ext cx="11457432" cy="1170432"/>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1600200"/>
            <a:ext cx="1371600" cy="1170432"/>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1933956"/>
            <a:ext cx="1371600" cy="502920"/>
          </a:xfrm>
          <a:prstGeom prst="rect">
            <a:avLst/>
          </a:prstGeom>
          <a:noFill/>
        </p:spPr>
        <p:txBody>
          <a:bodyPr wrap="square">
            <a:spAutoFit/>
          </a:bodyPr>
          <a:lstStyle/>
          <a:p>
            <a:pPr algn="ctr"/>
            <a:r>
              <a:rPr sz="2800" b="1" i="0">
                <a:solidFill>
                  <a:srgbClr val="FFFFFF"/>
                </a:solidFill>
              </a:rPr>
              <a:t>1</a:t>
            </a:r>
          </a:p>
        </p:txBody>
      </p:sp>
      <p:sp>
        <p:nvSpPr>
          <p:cNvPr id="12" name="TextBox 11"/>
          <p:cNvSpPr txBox="1"/>
          <p:nvPr/>
        </p:nvSpPr>
        <p:spPr>
          <a:xfrm>
            <a:off x="1828800" y="1691640"/>
            <a:ext cx="4114800" cy="438912"/>
          </a:xfrm>
          <a:prstGeom prst="rect">
            <a:avLst/>
          </a:prstGeom>
          <a:noFill/>
        </p:spPr>
        <p:txBody>
          <a:bodyPr wrap="square">
            <a:spAutoFit/>
          </a:bodyPr>
          <a:lstStyle/>
          <a:p>
            <a:pPr algn="l"/>
            <a:r>
              <a:rPr sz="1600" b="1" i="0">
                <a:solidFill>
                  <a:srgbClr val="0D1B3E"/>
                </a:solidFill>
              </a:rPr>
              <a:t>Bureau Vallée · Fnac · Cultura</a:t>
            </a:r>
          </a:p>
        </p:txBody>
      </p:sp>
      <p:sp>
        <p:nvSpPr>
          <p:cNvPr id="13" name="TextBox 12"/>
          <p:cNvSpPr txBox="1"/>
          <p:nvPr/>
        </p:nvSpPr>
        <p:spPr>
          <a:xfrm>
            <a:off x="1828800" y="2130552"/>
            <a:ext cx="3200400" cy="320040"/>
          </a:xfrm>
          <a:prstGeom prst="rect">
            <a:avLst/>
          </a:prstGeom>
          <a:noFill/>
        </p:spPr>
        <p:txBody>
          <a:bodyPr wrap="square">
            <a:spAutoFit/>
          </a:bodyPr>
          <a:lstStyle/>
          <a:p>
            <a:pPr algn="l"/>
            <a:r>
              <a:rPr sz="1300" b="0" i="1">
                <a:solidFill>
                  <a:srgbClr val="4A5A7A"/>
                </a:solidFill>
              </a:rPr>
              <a:t>Circuit spécialisé (court)</a:t>
            </a:r>
          </a:p>
        </p:txBody>
      </p:sp>
      <p:sp>
        <p:nvSpPr>
          <p:cNvPr id="14" name="Rectangle 13"/>
          <p:cNvSpPr/>
          <p:nvPr/>
        </p:nvSpPr>
        <p:spPr>
          <a:xfrm>
            <a:off x="6035040" y="1783080"/>
            <a:ext cx="45720" cy="804672"/>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72200" y="1691640"/>
            <a:ext cx="1828800" cy="384048"/>
          </a:xfrm>
          <a:prstGeom prst="rect">
            <a:avLst/>
          </a:prstGeom>
          <a:noFill/>
        </p:spPr>
        <p:txBody>
          <a:bodyPr wrap="square">
            <a:spAutoFit/>
          </a:bodyPr>
          <a:lstStyle/>
          <a:p>
            <a:pPr algn="l"/>
            <a:r>
              <a:rPr sz="1300" b="1" i="0">
                <a:solidFill>
                  <a:srgbClr val="1A4F8A"/>
                </a:solidFill>
              </a:rPr>
              <a:t>PDM : ≈ 15–20 %</a:t>
            </a:r>
          </a:p>
        </p:txBody>
      </p:sp>
      <p:sp>
        <p:nvSpPr>
          <p:cNvPr id="16" name="TextBox 15"/>
          <p:cNvSpPr txBox="1"/>
          <p:nvPr/>
        </p:nvSpPr>
        <p:spPr>
          <a:xfrm>
            <a:off x="6172200" y="2075688"/>
            <a:ext cx="5303520" cy="658368"/>
          </a:xfrm>
          <a:prstGeom prst="rect">
            <a:avLst/>
          </a:prstGeom>
          <a:noFill/>
        </p:spPr>
        <p:txBody>
          <a:bodyPr wrap="square">
            <a:spAutoFit/>
          </a:bodyPr>
          <a:lstStyle/>
          <a:p>
            <a:pPr algn="l"/>
            <a:r>
              <a:rPr sz="1300" b="0" i="0">
                <a:solidFill>
                  <a:srgbClr val="4A5A7A"/>
                </a:solidFill>
              </a:rPr>
              <a:t>Démonstration produit possible en rayon.
Essentiel pour un produit innovant → Priorité 1.</a:t>
            </a:r>
          </a:p>
        </p:txBody>
      </p:sp>
      <p:sp>
        <p:nvSpPr>
          <p:cNvPr id="17" name="Rectangle 16"/>
          <p:cNvSpPr/>
          <p:nvPr/>
        </p:nvSpPr>
        <p:spPr>
          <a:xfrm>
            <a:off x="365760" y="2834640"/>
            <a:ext cx="11457432" cy="1170432"/>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5760" y="2834640"/>
            <a:ext cx="1371600" cy="1170432"/>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3168396"/>
            <a:ext cx="1371600" cy="502920"/>
          </a:xfrm>
          <a:prstGeom prst="rect">
            <a:avLst/>
          </a:prstGeom>
          <a:noFill/>
        </p:spPr>
        <p:txBody>
          <a:bodyPr wrap="square">
            <a:spAutoFit/>
          </a:bodyPr>
          <a:lstStyle/>
          <a:p>
            <a:pPr algn="ctr"/>
            <a:r>
              <a:rPr sz="2800" b="1" i="0">
                <a:solidFill>
                  <a:srgbClr val="FFFFFF"/>
                </a:solidFill>
              </a:rPr>
              <a:t>2</a:t>
            </a:r>
          </a:p>
        </p:txBody>
      </p:sp>
      <p:sp>
        <p:nvSpPr>
          <p:cNvPr id="20" name="TextBox 19"/>
          <p:cNvSpPr txBox="1"/>
          <p:nvPr/>
        </p:nvSpPr>
        <p:spPr>
          <a:xfrm>
            <a:off x="1828800" y="2926080"/>
            <a:ext cx="4114800" cy="438912"/>
          </a:xfrm>
          <a:prstGeom prst="rect">
            <a:avLst/>
          </a:prstGeom>
          <a:noFill/>
        </p:spPr>
        <p:txBody>
          <a:bodyPr wrap="square">
            <a:spAutoFit/>
          </a:bodyPr>
          <a:lstStyle/>
          <a:p>
            <a:pPr algn="l"/>
            <a:r>
              <a:rPr sz="1600" b="1" i="0">
                <a:solidFill>
                  <a:srgbClr val="0D1B3E"/>
                </a:solidFill>
              </a:rPr>
              <a:t>Amazon · Fnac.com · stylo-ortho.fr</a:t>
            </a:r>
          </a:p>
        </p:txBody>
      </p:sp>
      <p:sp>
        <p:nvSpPr>
          <p:cNvPr id="21" name="TextBox 20"/>
          <p:cNvSpPr txBox="1"/>
          <p:nvPr/>
        </p:nvSpPr>
        <p:spPr>
          <a:xfrm>
            <a:off x="1828800" y="3364992"/>
            <a:ext cx="3200400" cy="320040"/>
          </a:xfrm>
          <a:prstGeom prst="rect">
            <a:avLst/>
          </a:prstGeom>
          <a:noFill/>
        </p:spPr>
        <p:txBody>
          <a:bodyPr wrap="square">
            <a:spAutoFit/>
          </a:bodyPr>
          <a:lstStyle/>
          <a:p>
            <a:pPr algn="l"/>
            <a:r>
              <a:rPr sz="1300" b="0" i="1">
                <a:solidFill>
                  <a:srgbClr val="4A5A7A"/>
                </a:solidFill>
              </a:rPr>
              <a:t>E-commerce (ultra-court)</a:t>
            </a:r>
          </a:p>
        </p:txBody>
      </p:sp>
      <p:sp>
        <p:nvSpPr>
          <p:cNvPr id="22" name="Rectangle 21"/>
          <p:cNvSpPr/>
          <p:nvPr/>
        </p:nvSpPr>
        <p:spPr>
          <a:xfrm>
            <a:off x="6035040" y="3017520"/>
            <a:ext cx="45720" cy="804672"/>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2926080"/>
            <a:ext cx="1828800" cy="384048"/>
          </a:xfrm>
          <a:prstGeom prst="rect">
            <a:avLst/>
          </a:prstGeom>
          <a:noFill/>
        </p:spPr>
        <p:txBody>
          <a:bodyPr wrap="square">
            <a:spAutoFit/>
          </a:bodyPr>
          <a:lstStyle/>
          <a:p>
            <a:pPr algn="l"/>
            <a:r>
              <a:rPr sz="1300" b="1" i="0">
                <a:solidFill>
                  <a:srgbClr val="0E6B5E"/>
                </a:solidFill>
              </a:rPr>
              <a:t>PDM : ≈ 49 %</a:t>
            </a:r>
          </a:p>
        </p:txBody>
      </p:sp>
      <p:sp>
        <p:nvSpPr>
          <p:cNvPr id="24" name="TextBox 23"/>
          <p:cNvSpPr txBox="1"/>
          <p:nvPr/>
        </p:nvSpPr>
        <p:spPr>
          <a:xfrm>
            <a:off x="6172200" y="3310128"/>
            <a:ext cx="5303520" cy="658368"/>
          </a:xfrm>
          <a:prstGeom prst="rect">
            <a:avLst/>
          </a:prstGeom>
          <a:noFill/>
        </p:spPr>
        <p:txBody>
          <a:bodyPr wrap="square">
            <a:spAutoFit/>
          </a:bodyPr>
          <a:lstStyle/>
          <a:p>
            <a:pPr algn="l"/>
            <a:r>
              <a:rPr sz="1300" b="0" i="0">
                <a:solidFill>
                  <a:srgbClr val="4A5A7A"/>
                </a:solidFill>
              </a:rPr>
              <a:t>Parents qui achètent en ligne.
Marge maîtrisée — forte progression +15 %/an → Priorité 2.</a:t>
            </a:r>
          </a:p>
        </p:txBody>
      </p:sp>
      <p:sp>
        <p:nvSpPr>
          <p:cNvPr id="25" name="Rectangle 24"/>
          <p:cNvSpPr/>
          <p:nvPr/>
        </p:nvSpPr>
        <p:spPr>
          <a:xfrm>
            <a:off x="365760" y="4069080"/>
            <a:ext cx="11457432" cy="1170432"/>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5760" y="4069080"/>
            <a:ext cx="1371600" cy="1170432"/>
          </a:xfrm>
          <a:prstGeom prst="rect">
            <a:avLst/>
          </a:prstGeom>
          <a:solidFill>
            <a:srgbClr val="4A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60" y="4402836"/>
            <a:ext cx="1371600" cy="502920"/>
          </a:xfrm>
          <a:prstGeom prst="rect">
            <a:avLst/>
          </a:prstGeom>
          <a:noFill/>
        </p:spPr>
        <p:txBody>
          <a:bodyPr wrap="square">
            <a:spAutoFit/>
          </a:bodyPr>
          <a:lstStyle/>
          <a:p>
            <a:pPr algn="ctr"/>
            <a:r>
              <a:rPr sz="2800" b="1" i="0">
                <a:solidFill>
                  <a:srgbClr val="FFFFFF"/>
                </a:solidFill>
              </a:rPr>
              <a:t>⏳</a:t>
            </a:r>
          </a:p>
        </p:txBody>
      </p:sp>
      <p:sp>
        <p:nvSpPr>
          <p:cNvPr id="28" name="TextBox 27"/>
          <p:cNvSpPr txBox="1"/>
          <p:nvPr/>
        </p:nvSpPr>
        <p:spPr>
          <a:xfrm>
            <a:off x="1828800" y="4160520"/>
            <a:ext cx="4114800" cy="438912"/>
          </a:xfrm>
          <a:prstGeom prst="rect">
            <a:avLst/>
          </a:prstGeom>
          <a:noFill/>
        </p:spPr>
        <p:txBody>
          <a:bodyPr wrap="square">
            <a:spAutoFit/>
          </a:bodyPr>
          <a:lstStyle/>
          <a:p>
            <a:pPr algn="l"/>
            <a:r>
              <a:rPr sz="1600" b="1" i="0">
                <a:solidFill>
                  <a:srgbClr val="0D1B3E"/>
                </a:solidFill>
              </a:rPr>
              <a:t>Carrefour · E.Leclerc</a:t>
            </a:r>
          </a:p>
        </p:txBody>
      </p:sp>
      <p:sp>
        <p:nvSpPr>
          <p:cNvPr id="29" name="TextBox 28"/>
          <p:cNvSpPr txBox="1"/>
          <p:nvPr/>
        </p:nvSpPr>
        <p:spPr>
          <a:xfrm>
            <a:off x="1828800" y="4599432"/>
            <a:ext cx="3200400" cy="320040"/>
          </a:xfrm>
          <a:prstGeom prst="rect">
            <a:avLst/>
          </a:prstGeom>
          <a:noFill/>
        </p:spPr>
        <p:txBody>
          <a:bodyPr wrap="square">
            <a:spAutoFit/>
          </a:bodyPr>
          <a:lstStyle/>
          <a:p>
            <a:pPr algn="l"/>
            <a:r>
              <a:rPr sz="1300" b="0" i="1">
                <a:solidFill>
                  <a:srgbClr val="4A5A7A"/>
                </a:solidFill>
              </a:rPr>
              <a:t>Grandes surfaces (circuit long)</a:t>
            </a:r>
          </a:p>
        </p:txBody>
      </p:sp>
      <p:sp>
        <p:nvSpPr>
          <p:cNvPr id="30" name="Rectangle 29"/>
          <p:cNvSpPr/>
          <p:nvPr/>
        </p:nvSpPr>
        <p:spPr>
          <a:xfrm>
            <a:off x="6035040" y="4251960"/>
            <a:ext cx="45720" cy="804672"/>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4160520"/>
            <a:ext cx="1828800" cy="384048"/>
          </a:xfrm>
          <a:prstGeom prst="rect">
            <a:avLst/>
          </a:prstGeom>
          <a:noFill/>
        </p:spPr>
        <p:txBody>
          <a:bodyPr wrap="square">
            <a:spAutoFit/>
          </a:bodyPr>
          <a:lstStyle/>
          <a:p>
            <a:pPr algn="l"/>
            <a:r>
              <a:rPr sz="1300" b="1" i="0">
                <a:solidFill>
                  <a:srgbClr val="4A5A7A"/>
                </a:solidFill>
              </a:rPr>
              <a:t>PDM : 332 M€ rentrée</a:t>
            </a:r>
          </a:p>
        </p:txBody>
      </p:sp>
      <p:sp>
        <p:nvSpPr>
          <p:cNvPr id="32" name="TextBox 31"/>
          <p:cNvSpPr txBox="1"/>
          <p:nvPr/>
        </p:nvSpPr>
        <p:spPr>
          <a:xfrm>
            <a:off x="6172200" y="4544568"/>
            <a:ext cx="5303520" cy="658368"/>
          </a:xfrm>
          <a:prstGeom prst="rect">
            <a:avLst/>
          </a:prstGeom>
          <a:noFill/>
        </p:spPr>
        <p:txBody>
          <a:bodyPr wrap="square">
            <a:spAutoFit/>
          </a:bodyPr>
          <a:lstStyle/>
          <a:p>
            <a:pPr algn="l"/>
            <a:r>
              <a:rPr sz="1300" b="0" i="0">
                <a:solidFill>
                  <a:srgbClr val="4A5A7A"/>
                </a:solidFill>
              </a:rPr>
              <a:t>Phase 2 uniquement — après notoriété établie.
Recul –7 % en 2024 → approche prudente.</a:t>
            </a:r>
          </a:p>
        </p:txBody>
      </p:sp>
      <p:sp>
        <p:nvSpPr>
          <p:cNvPr id="33" name="Rectangle 32"/>
          <p:cNvSpPr/>
          <p:nvPr/>
        </p:nvSpPr>
        <p:spPr>
          <a:xfrm>
            <a:off x="365760" y="5303520"/>
            <a:ext cx="11457432" cy="1170432"/>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5760" y="5303520"/>
            <a:ext cx="1371600" cy="1170432"/>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5760" y="5637276"/>
            <a:ext cx="1371600" cy="502920"/>
          </a:xfrm>
          <a:prstGeom prst="rect">
            <a:avLst/>
          </a:prstGeom>
          <a:noFill/>
        </p:spPr>
        <p:txBody>
          <a:bodyPr wrap="square">
            <a:spAutoFit/>
          </a:bodyPr>
          <a:lstStyle/>
          <a:p>
            <a:pPr algn="ctr"/>
            <a:r>
              <a:rPr sz="2800" b="1" i="0">
                <a:solidFill>
                  <a:srgbClr val="FFFFFF"/>
                </a:solidFill>
              </a:rPr>
              <a:t>🤝</a:t>
            </a:r>
          </a:p>
        </p:txBody>
      </p:sp>
      <p:sp>
        <p:nvSpPr>
          <p:cNvPr id="36" name="TextBox 35"/>
          <p:cNvSpPr txBox="1"/>
          <p:nvPr/>
        </p:nvSpPr>
        <p:spPr>
          <a:xfrm>
            <a:off x="1828800" y="5394960"/>
            <a:ext cx="4114800" cy="438912"/>
          </a:xfrm>
          <a:prstGeom prst="rect">
            <a:avLst/>
          </a:prstGeom>
          <a:noFill/>
        </p:spPr>
        <p:txBody>
          <a:bodyPr wrap="square">
            <a:spAutoFit/>
          </a:bodyPr>
          <a:lstStyle/>
          <a:p>
            <a:pPr algn="l"/>
            <a:r>
              <a:rPr sz="1600" b="1" i="0">
                <a:solidFill>
                  <a:srgbClr val="0D1B3E"/>
                </a:solidFill>
              </a:rPr>
              <a:t>Lycées · Collèges · Entreprises</a:t>
            </a:r>
          </a:p>
        </p:txBody>
      </p:sp>
      <p:sp>
        <p:nvSpPr>
          <p:cNvPr id="37" name="TextBox 36"/>
          <p:cNvSpPr txBox="1"/>
          <p:nvPr/>
        </p:nvSpPr>
        <p:spPr>
          <a:xfrm>
            <a:off x="1828800" y="5833872"/>
            <a:ext cx="3200400" cy="320040"/>
          </a:xfrm>
          <a:prstGeom prst="rect">
            <a:avLst/>
          </a:prstGeom>
          <a:noFill/>
        </p:spPr>
        <p:txBody>
          <a:bodyPr wrap="square">
            <a:spAutoFit/>
          </a:bodyPr>
          <a:lstStyle/>
          <a:p>
            <a:pPr algn="l"/>
            <a:r>
              <a:rPr sz="1300" b="0" i="1">
                <a:solidFill>
                  <a:srgbClr val="4A5A7A"/>
                </a:solidFill>
              </a:rPr>
              <a:t>Circuit direct B2B</a:t>
            </a:r>
          </a:p>
        </p:txBody>
      </p:sp>
      <p:sp>
        <p:nvSpPr>
          <p:cNvPr id="38" name="Rectangle 37"/>
          <p:cNvSpPr/>
          <p:nvPr/>
        </p:nvSpPr>
        <p:spPr>
          <a:xfrm>
            <a:off x="6035040" y="5486400"/>
            <a:ext cx="45720" cy="804672"/>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72200" y="5394960"/>
            <a:ext cx="1828800" cy="384048"/>
          </a:xfrm>
          <a:prstGeom prst="rect">
            <a:avLst/>
          </a:prstGeom>
          <a:noFill/>
        </p:spPr>
        <p:txBody>
          <a:bodyPr wrap="square">
            <a:spAutoFit/>
          </a:bodyPr>
          <a:lstStyle/>
          <a:p>
            <a:pPr algn="l"/>
            <a:r>
              <a:rPr sz="1300" b="1" i="0">
                <a:solidFill>
                  <a:srgbClr val="7B3F9E"/>
                </a:solidFill>
              </a:rPr>
              <a:t>PDM : Fort potentiel</a:t>
            </a:r>
          </a:p>
        </p:txBody>
      </p:sp>
      <p:sp>
        <p:nvSpPr>
          <p:cNvPr id="40" name="TextBox 39"/>
          <p:cNvSpPr txBox="1"/>
          <p:nvPr/>
        </p:nvSpPr>
        <p:spPr>
          <a:xfrm>
            <a:off x="6172200" y="5779008"/>
            <a:ext cx="5303520" cy="658368"/>
          </a:xfrm>
          <a:prstGeom prst="rect">
            <a:avLst/>
          </a:prstGeom>
          <a:noFill/>
        </p:spPr>
        <p:txBody>
          <a:bodyPr wrap="square">
            <a:spAutoFit/>
          </a:bodyPr>
          <a:lstStyle/>
          <a:p>
            <a:pPr algn="l"/>
            <a:r>
              <a:rPr sz="1300" b="0" i="0">
                <a:solidFill>
                  <a:srgbClr val="4A5A7A"/>
                </a:solidFill>
              </a:rPr>
              <a:t>Partenariat Ministère Éducation nationale.
Objectif : 500 stylos An 1, 2 000+ An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OFFRE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3.4 Analyse PESTEL</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Environnement macro-économique du Stylo Ortho</a:t>
            </a:r>
          </a:p>
        </p:txBody>
      </p:sp>
      <p:sp>
        <p:nvSpPr>
          <p:cNvPr id="9" name="Rectangle 8"/>
          <p:cNvSpPr/>
          <p:nvPr/>
        </p:nvSpPr>
        <p:spPr>
          <a:xfrm>
            <a:off x="365760" y="1572768"/>
            <a:ext cx="3749039" cy="233172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664208"/>
            <a:ext cx="3474720" cy="475488"/>
          </a:xfrm>
          <a:prstGeom prst="rect">
            <a:avLst/>
          </a:prstGeom>
          <a:noFill/>
        </p:spPr>
        <p:txBody>
          <a:bodyPr wrap="square">
            <a:spAutoFit/>
          </a:bodyPr>
          <a:lstStyle/>
          <a:p>
            <a:pPr algn="l"/>
            <a:r>
              <a:rPr sz="1600" b="1" i="0">
                <a:solidFill>
                  <a:srgbClr val="FFC200"/>
                </a:solidFill>
              </a:rPr>
              <a:t>🏛 Politique</a:t>
            </a:r>
          </a:p>
        </p:txBody>
      </p:sp>
      <p:sp>
        <p:nvSpPr>
          <p:cNvPr id="11" name="Rectangle 10"/>
          <p:cNvSpPr/>
          <p:nvPr/>
        </p:nvSpPr>
        <p:spPr>
          <a:xfrm>
            <a:off x="502920" y="2167128"/>
            <a:ext cx="347472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2286000"/>
            <a:ext cx="3429000" cy="822960"/>
          </a:xfrm>
          <a:prstGeom prst="rect">
            <a:avLst/>
          </a:prstGeom>
          <a:noFill/>
        </p:spPr>
        <p:txBody>
          <a:bodyPr wrap="square">
            <a:spAutoFit/>
          </a:bodyPr>
          <a:lstStyle/>
          <a:p>
            <a:pPr algn="l"/>
            <a:r>
              <a:rPr sz="1200" b="0" i="0">
                <a:solidFill>
                  <a:srgbClr val="FFFFFF"/>
                </a:solidFill>
              </a:rPr>
              <a:t>✅ Politiques éducation et lutte contre
l'illettrisme favorables</a:t>
            </a:r>
          </a:p>
        </p:txBody>
      </p:sp>
      <p:sp>
        <p:nvSpPr>
          <p:cNvPr id="13" name="TextBox 12"/>
          <p:cNvSpPr txBox="1"/>
          <p:nvPr/>
        </p:nvSpPr>
        <p:spPr>
          <a:xfrm>
            <a:off x="502920" y="3054096"/>
            <a:ext cx="3429000" cy="749808"/>
          </a:xfrm>
          <a:prstGeom prst="rect">
            <a:avLst/>
          </a:prstGeom>
          <a:noFill/>
        </p:spPr>
        <p:txBody>
          <a:bodyPr wrap="square">
            <a:spAutoFit/>
          </a:bodyPr>
          <a:lstStyle/>
          <a:p>
            <a:pPr algn="l"/>
            <a:r>
              <a:rPr sz="1200" b="0" i="0">
                <a:solidFill>
                  <a:srgbClr val="FFD0B0"/>
                </a:solidFill>
              </a:rPr>
              <a:t>⚠️ Réglementations électronique scolaire
Certifications obligatoires</a:t>
            </a:r>
          </a:p>
        </p:txBody>
      </p:sp>
      <p:sp>
        <p:nvSpPr>
          <p:cNvPr id="14" name="Rectangle 13"/>
          <p:cNvSpPr/>
          <p:nvPr/>
        </p:nvSpPr>
        <p:spPr>
          <a:xfrm>
            <a:off x="4297680" y="1572768"/>
            <a:ext cx="3749039" cy="2331720"/>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1664208"/>
            <a:ext cx="3474720" cy="475488"/>
          </a:xfrm>
          <a:prstGeom prst="rect">
            <a:avLst/>
          </a:prstGeom>
          <a:noFill/>
        </p:spPr>
        <p:txBody>
          <a:bodyPr wrap="square">
            <a:spAutoFit/>
          </a:bodyPr>
          <a:lstStyle/>
          <a:p>
            <a:pPr algn="l"/>
            <a:r>
              <a:rPr sz="1600" b="1" i="0">
                <a:solidFill>
                  <a:srgbClr val="FFC200"/>
                </a:solidFill>
              </a:rPr>
              <a:t>💶 Économique</a:t>
            </a:r>
          </a:p>
        </p:txBody>
      </p:sp>
      <p:sp>
        <p:nvSpPr>
          <p:cNvPr id="16" name="Rectangle 15"/>
          <p:cNvSpPr/>
          <p:nvPr/>
        </p:nvSpPr>
        <p:spPr>
          <a:xfrm>
            <a:off x="4434840" y="2167128"/>
            <a:ext cx="347472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34840" y="2286000"/>
            <a:ext cx="3429000" cy="822960"/>
          </a:xfrm>
          <a:prstGeom prst="rect">
            <a:avLst/>
          </a:prstGeom>
          <a:noFill/>
        </p:spPr>
        <p:txBody>
          <a:bodyPr wrap="square">
            <a:spAutoFit/>
          </a:bodyPr>
          <a:lstStyle/>
          <a:p>
            <a:pPr algn="l"/>
            <a:r>
              <a:rPr sz="1200" b="0" i="0">
                <a:solidFill>
                  <a:srgbClr val="FFFFFF"/>
                </a:solidFill>
              </a:rPr>
              <a:t>✅ Marché innovation en croissance
Budget scolaire familles stable</a:t>
            </a:r>
          </a:p>
        </p:txBody>
      </p:sp>
      <p:sp>
        <p:nvSpPr>
          <p:cNvPr id="18" name="TextBox 17"/>
          <p:cNvSpPr txBox="1"/>
          <p:nvPr/>
        </p:nvSpPr>
        <p:spPr>
          <a:xfrm>
            <a:off x="4434840" y="3054096"/>
            <a:ext cx="3429000" cy="749808"/>
          </a:xfrm>
          <a:prstGeom prst="rect">
            <a:avLst/>
          </a:prstGeom>
          <a:noFill/>
        </p:spPr>
        <p:txBody>
          <a:bodyPr wrap="square">
            <a:spAutoFit/>
          </a:bodyPr>
          <a:lstStyle/>
          <a:p>
            <a:pPr algn="l"/>
            <a:r>
              <a:rPr sz="1200" b="0" i="0">
                <a:solidFill>
                  <a:srgbClr val="FFD0B0"/>
                </a:solidFill>
              </a:rPr>
              <a:t>⚠️ Pouvoir d'achat sous pression
(99,90 € = achat réfléchi)</a:t>
            </a:r>
          </a:p>
        </p:txBody>
      </p:sp>
      <p:sp>
        <p:nvSpPr>
          <p:cNvPr id="19" name="Rectangle 18"/>
          <p:cNvSpPr/>
          <p:nvPr/>
        </p:nvSpPr>
        <p:spPr>
          <a:xfrm>
            <a:off x="8229600" y="1572768"/>
            <a:ext cx="3749039" cy="2331720"/>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66760" y="1664208"/>
            <a:ext cx="3474720" cy="475488"/>
          </a:xfrm>
          <a:prstGeom prst="rect">
            <a:avLst/>
          </a:prstGeom>
          <a:noFill/>
        </p:spPr>
        <p:txBody>
          <a:bodyPr wrap="square">
            <a:spAutoFit/>
          </a:bodyPr>
          <a:lstStyle/>
          <a:p>
            <a:pPr algn="l"/>
            <a:r>
              <a:rPr sz="1600" b="1" i="0">
                <a:solidFill>
                  <a:srgbClr val="FFC200"/>
                </a:solidFill>
              </a:rPr>
              <a:t>👥 Socioculturel</a:t>
            </a:r>
          </a:p>
        </p:txBody>
      </p:sp>
      <p:sp>
        <p:nvSpPr>
          <p:cNvPr id="21" name="Rectangle 20"/>
          <p:cNvSpPr/>
          <p:nvPr/>
        </p:nvSpPr>
        <p:spPr>
          <a:xfrm>
            <a:off x="8366760" y="2167128"/>
            <a:ext cx="347472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66760" y="2286000"/>
            <a:ext cx="3429000" cy="822960"/>
          </a:xfrm>
          <a:prstGeom prst="rect">
            <a:avLst/>
          </a:prstGeom>
          <a:noFill/>
        </p:spPr>
        <p:txBody>
          <a:bodyPr wrap="square">
            <a:spAutoFit/>
          </a:bodyPr>
          <a:lstStyle/>
          <a:p>
            <a:pPr algn="l"/>
            <a:r>
              <a:rPr sz="1200" b="0" i="0">
                <a:solidFill>
                  <a:srgbClr val="FFFFFF"/>
                </a:solidFill>
              </a:rPr>
              <a:t>✅ Orthographe = marqueur social en France
300 M francophones · Dyslexie 5–10 %</a:t>
            </a:r>
          </a:p>
        </p:txBody>
      </p:sp>
      <p:sp>
        <p:nvSpPr>
          <p:cNvPr id="23" name="TextBox 22"/>
          <p:cNvSpPr txBox="1"/>
          <p:nvPr/>
        </p:nvSpPr>
        <p:spPr>
          <a:xfrm>
            <a:off x="8366760" y="3054096"/>
            <a:ext cx="3429000" cy="749808"/>
          </a:xfrm>
          <a:prstGeom prst="rect">
            <a:avLst/>
          </a:prstGeom>
          <a:noFill/>
        </p:spPr>
        <p:txBody>
          <a:bodyPr wrap="square">
            <a:spAutoFit/>
          </a:bodyPr>
          <a:lstStyle/>
          <a:p>
            <a:pPr algn="l"/>
            <a:r>
              <a:rPr sz="1200" b="0" i="0">
                <a:solidFill>
                  <a:srgbClr val="FFD0B0"/>
                </a:solidFill>
              </a:rPr>
              <a:t>⚠️ Résistance enseignants
Habitude stylo classique</a:t>
            </a:r>
          </a:p>
        </p:txBody>
      </p:sp>
      <p:sp>
        <p:nvSpPr>
          <p:cNvPr id="24" name="Rectangle 23"/>
          <p:cNvSpPr/>
          <p:nvPr/>
        </p:nvSpPr>
        <p:spPr>
          <a:xfrm>
            <a:off x="365760" y="4059936"/>
            <a:ext cx="3749039" cy="2331720"/>
          </a:xfrm>
          <a:prstGeom prst="rect">
            <a:avLst/>
          </a:prstGeom>
          <a:solidFill>
            <a:srgbClr val="C0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4151376"/>
            <a:ext cx="3474720" cy="475488"/>
          </a:xfrm>
          <a:prstGeom prst="rect">
            <a:avLst/>
          </a:prstGeom>
          <a:noFill/>
        </p:spPr>
        <p:txBody>
          <a:bodyPr wrap="square">
            <a:spAutoFit/>
          </a:bodyPr>
          <a:lstStyle/>
          <a:p>
            <a:pPr algn="l"/>
            <a:r>
              <a:rPr sz="1600" b="1" i="0">
                <a:solidFill>
                  <a:srgbClr val="FFC200"/>
                </a:solidFill>
              </a:rPr>
              <a:t>🔬 Technologique</a:t>
            </a:r>
          </a:p>
        </p:txBody>
      </p:sp>
      <p:sp>
        <p:nvSpPr>
          <p:cNvPr id="26" name="Rectangle 25"/>
          <p:cNvSpPr/>
          <p:nvPr/>
        </p:nvSpPr>
        <p:spPr>
          <a:xfrm>
            <a:off x="502920" y="4654296"/>
            <a:ext cx="347472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2920" y="4773168"/>
            <a:ext cx="3429000" cy="822960"/>
          </a:xfrm>
          <a:prstGeom prst="rect">
            <a:avLst/>
          </a:prstGeom>
          <a:noFill/>
        </p:spPr>
        <p:txBody>
          <a:bodyPr wrap="square">
            <a:spAutoFit/>
          </a:bodyPr>
          <a:lstStyle/>
          <a:p>
            <a:pPr algn="l"/>
            <a:r>
              <a:rPr sz="1200" b="0" i="0">
                <a:solidFill>
                  <a:srgbClr val="FFFFFF"/>
                </a:solidFill>
              </a:rPr>
              <a:t>✅ Progrès composants électroniques
Stylos connectés en développement</a:t>
            </a:r>
          </a:p>
        </p:txBody>
      </p:sp>
      <p:sp>
        <p:nvSpPr>
          <p:cNvPr id="28" name="TextBox 27"/>
          <p:cNvSpPr txBox="1"/>
          <p:nvPr/>
        </p:nvSpPr>
        <p:spPr>
          <a:xfrm>
            <a:off x="502920" y="5541264"/>
            <a:ext cx="3429000" cy="749808"/>
          </a:xfrm>
          <a:prstGeom prst="rect">
            <a:avLst/>
          </a:prstGeom>
          <a:noFill/>
        </p:spPr>
        <p:txBody>
          <a:bodyPr wrap="square">
            <a:spAutoFit/>
          </a:bodyPr>
          <a:lstStyle/>
          <a:p>
            <a:pPr algn="l"/>
            <a:r>
              <a:rPr sz="1200" b="0" i="0">
                <a:solidFill>
                  <a:srgbClr val="FFD0B0"/>
                </a:solidFill>
              </a:rPr>
              <a:t>⚠️ Évolution rapide IA
Risque substitution à terme</a:t>
            </a:r>
          </a:p>
        </p:txBody>
      </p:sp>
      <p:sp>
        <p:nvSpPr>
          <p:cNvPr id="29" name="Rectangle 28"/>
          <p:cNvSpPr/>
          <p:nvPr/>
        </p:nvSpPr>
        <p:spPr>
          <a:xfrm>
            <a:off x="4297680" y="4059936"/>
            <a:ext cx="3749039" cy="2331720"/>
          </a:xfrm>
          <a:prstGeom prst="rect">
            <a:avLst/>
          </a:prstGeom>
          <a:solidFill>
            <a:srgbClr val="1A7A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434840" y="4151376"/>
            <a:ext cx="3474720" cy="475488"/>
          </a:xfrm>
          <a:prstGeom prst="rect">
            <a:avLst/>
          </a:prstGeom>
          <a:noFill/>
        </p:spPr>
        <p:txBody>
          <a:bodyPr wrap="square">
            <a:spAutoFit/>
          </a:bodyPr>
          <a:lstStyle/>
          <a:p>
            <a:pPr algn="l"/>
            <a:r>
              <a:rPr sz="1600" b="1" i="0">
                <a:solidFill>
                  <a:srgbClr val="FFC200"/>
                </a:solidFill>
              </a:rPr>
              <a:t>🌱 Écologique</a:t>
            </a:r>
          </a:p>
        </p:txBody>
      </p:sp>
      <p:sp>
        <p:nvSpPr>
          <p:cNvPr id="31" name="Rectangle 30"/>
          <p:cNvSpPr/>
          <p:nvPr/>
        </p:nvSpPr>
        <p:spPr>
          <a:xfrm>
            <a:off x="4434840" y="4654296"/>
            <a:ext cx="347472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434840" y="4773168"/>
            <a:ext cx="3429000" cy="822960"/>
          </a:xfrm>
          <a:prstGeom prst="rect">
            <a:avLst/>
          </a:prstGeom>
          <a:noFill/>
        </p:spPr>
        <p:txBody>
          <a:bodyPr wrap="square">
            <a:spAutoFit/>
          </a:bodyPr>
          <a:lstStyle/>
          <a:p>
            <a:pPr algn="l"/>
            <a:r>
              <a:rPr sz="1200" b="0" i="0">
                <a:solidFill>
                  <a:srgbClr val="FFFFFF"/>
                </a:solidFill>
              </a:rPr>
              <a:t>✅ Produit rechargeable USB-C
Faible empreinte vs stylos jetables</a:t>
            </a:r>
          </a:p>
        </p:txBody>
      </p:sp>
      <p:sp>
        <p:nvSpPr>
          <p:cNvPr id="33" name="TextBox 32"/>
          <p:cNvSpPr txBox="1"/>
          <p:nvPr/>
        </p:nvSpPr>
        <p:spPr>
          <a:xfrm>
            <a:off x="4434840" y="5541264"/>
            <a:ext cx="3429000" cy="749808"/>
          </a:xfrm>
          <a:prstGeom prst="rect">
            <a:avLst/>
          </a:prstGeom>
          <a:noFill/>
        </p:spPr>
        <p:txBody>
          <a:bodyPr wrap="square">
            <a:spAutoFit/>
          </a:bodyPr>
          <a:lstStyle/>
          <a:p>
            <a:pPr algn="l"/>
            <a:r>
              <a:rPr sz="1200" b="0" i="0">
                <a:solidFill>
                  <a:srgbClr val="FFD0B0"/>
                </a:solidFill>
              </a:rPr>
              <a:t>⚠️ Normes recyclabilité Europe
Demande réduction plastique</a:t>
            </a:r>
          </a:p>
        </p:txBody>
      </p:sp>
      <p:sp>
        <p:nvSpPr>
          <p:cNvPr id="34" name="Rectangle 33"/>
          <p:cNvSpPr/>
          <p:nvPr/>
        </p:nvSpPr>
        <p:spPr>
          <a:xfrm>
            <a:off x="8229600" y="4059936"/>
            <a:ext cx="3749039" cy="2331720"/>
          </a:xfrm>
          <a:prstGeom prst="rect">
            <a:avLst/>
          </a:prstGeom>
          <a:solidFill>
            <a:srgbClr val="4A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366760" y="4151376"/>
            <a:ext cx="3474720" cy="475488"/>
          </a:xfrm>
          <a:prstGeom prst="rect">
            <a:avLst/>
          </a:prstGeom>
          <a:noFill/>
        </p:spPr>
        <p:txBody>
          <a:bodyPr wrap="square">
            <a:spAutoFit/>
          </a:bodyPr>
          <a:lstStyle/>
          <a:p>
            <a:pPr algn="l"/>
            <a:r>
              <a:rPr sz="1600" b="1" i="0">
                <a:solidFill>
                  <a:srgbClr val="FFC200"/>
                </a:solidFill>
              </a:rPr>
              <a:t>⚖ Légal</a:t>
            </a:r>
          </a:p>
        </p:txBody>
      </p:sp>
      <p:sp>
        <p:nvSpPr>
          <p:cNvPr id="36" name="Rectangle 35"/>
          <p:cNvSpPr/>
          <p:nvPr/>
        </p:nvSpPr>
        <p:spPr>
          <a:xfrm>
            <a:off x="8366760" y="4654296"/>
            <a:ext cx="347472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366760" y="4773168"/>
            <a:ext cx="3429000" cy="822960"/>
          </a:xfrm>
          <a:prstGeom prst="rect">
            <a:avLst/>
          </a:prstGeom>
          <a:noFill/>
        </p:spPr>
        <p:txBody>
          <a:bodyPr wrap="square">
            <a:spAutoFit/>
          </a:bodyPr>
          <a:lstStyle/>
          <a:p>
            <a:pPr algn="l"/>
            <a:r>
              <a:rPr sz="1200" b="0" i="0">
                <a:solidFill>
                  <a:srgbClr val="FFFFFF"/>
                </a:solidFill>
              </a:rPr>
              <a:t>✅ Normes EU maîtrisables
Assemblage France → conformité CE</a:t>
            </a:r>
          </a:p>
        </p:txBody>
      </p:sp>
      <p:sp>
        <p:nvSpPr>
          <p:cNvPr id="38" name="TextBox 37"/>
          <p:cNvSpPr txBox="1"/>
          <p:nvPr/>
        </p:nvSpPr>
        <p:spPr>
          <a:xfrm>
            <a:off x="8366760" y="5541264"/>
            <a:ext cx="3429000" cy="749808"/>
          </a:xfrm>
          <a:prstGeom prst="rect">
            <a:avLst/>
          </a:prstGeom>
          <a:noFill/>
        </p:spPr>
        <p:txBody>
          <a:bodyPr wrap="square">
            <a:spAutoFit/>
          </a:bodyPr>
          <a:lstStyle/>
          <a:p>
            <a:pPr algn="l"/>
            <a:r>
              <a:rPr sz="1200" b="0" i="0">
                <a:solidFill>
                  <a:srgbClr val="FFD0B0"/>
                </a:solidFill>
              </a:rPr>
              <a:t>⚠️ Conformité produits enfants
Dépôt de brevet nécessaire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SYNTHÈSE</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Opportunités &amp; Menaces</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Synthèse stratégique du marché</a:t>
            </a:r>
          </a:p>
        </p:txBody>
      </p:sp>
      <p:sp>
        <p:nvSpPr>
          <p:cNvPr id="9" name="Rectangle 8"/>
          <p:cNvSpPr/>
          <p:nvPr/>
        </p:nvSpPr>
        <p:spPr>
          <a:xfrm>
            <a:off x="365760" y="1572768"/>
            <a:ext cx="5577840" cy="5074920"/>
          </a:xfrm>
          <a:prstGeom prst="rect">
            <a:avLst/>
          </a:prstGeom>
          <a:solidFill>
            <a:srgbClr val="E8F9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80760" y="1572768"/>
            <a:ext cx="5742432" cy="5074920"/>
          </a:xfrm>
          <a:prstGeom prst="rect">
            <a:avLst/>
          </a:prstGeom>
          <a:solidFill>
            <a:srgbClr val="FFEDE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1572768"/>
            <a:ext cx="5577840" cy="502920"/>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080760" y="1572768"/>
            <a:ext cx="5742432" cy="502920"/>
          </a:xfrm>
          <a:prstGeom prst="rect">
            <a:avLst/>
          </a:prstGeom>
          <a:solidFill>
            <a:srgbClr val="C0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 y="1627632"/>
            <a:ext cx="5577840" cy="402336"/>
          </a:xfrm>
          <a:prstGeom prst="rect">
            <a:avLst/>
          </a:prstGeom>
          <a:noFill/>
        </p:spPr>
        <p:txBody>
          <a:bodyPr wrap="square">
            <a:spAutoFit/>
          </a:bodyPr>
          <a:lstStyle/>
          <a:p>
            <a:pPr algn="ctr"/>
            <a:r>
              <a:rPr sz="1700" b="1" i="0">
                <a:solidFill>
                  <a:srgbClr val="FFFFFF"/>
                </a:solidFill>
              </a:rPr>
              <a:t>✅  OPPORTUNITÉS</a:t>
            </a:r>
          </a:p>
        </p:txBody>
      </p:sp>
      <p:sp>
        <p:nvSpPr>
          <p:cNvPr id="14" name="TextBox 13"/>
          <p:cNvSpPr txBox="1"/>
          <p:nvPr/>
        </p:nvSpPr>
        <p:spPr>
          <a:xfrm>
            <a:off x="6080760" y="1627632"/>
            <a:ext cx="5742432" cy="402336"/>
          </a:xfrm>
          <a:prstGeom prst="rect">
            <a:avLst/>
          </a:prstGeom>
          <a:noFill/>
        </p:spPr>
        <p:txBody>
          <a:bodyPr wrap="square">
            <a:spAutoFit/>
          </a:bodyPr>
          <a:lstStyle/>
          <a:p>
            <a:pPr algn="ctr"/>
            <a:r>
              <a:rPr sz="1700" b="1" i="0">
                <a:solidFill>
                  <a:srgbClr val="FFFFFF"/>
                </a:solidFill>
              </a:rPr>
              <a:t>⚠️  MENACES</a:t>
            </a:r>
          </a:p>
        </p:txBody>
      </p:sp>
      <p:sp>
        <p:nvSpPr>
          <p:cNvPr id="15" name="TextBox 14"/>
          <p:cNvSpPr txBox="1"/>
          <p:nvPr/>
        </p:nvSpPr>
        <p:spPr>
          <a:xfrm>
            <a:off x="502920" y="2240280"/>
            <a:ext cx="5303520" cy="658368"/>
          </a:xfrm>
          <a:prstGeom prst="rect">
            <a:avLst/>
          </a:prstGeom>
          <a:noFill/>
        </p:spPr>
        <p:txBody>
          <a:bodyPr wrap="square">
            <a:spAutoFit/>
          </a:bodyPr>
          <a:lstStyle/>
          <a:p>
            <a:pPr algn="l"/>
            <a:r>
              <a:rPr sz="1300" b="0" i="0">
                <a:solidFill>
                  <a:srgbClr val="0E4A2E"/>
                </a:solidFill>
              </a:rPr>
              <a:t>  • Besoin croissant d'outils pédagogiques innovants</a:t>
            </a:r>
          </a:p>
        </p:txBody>
      </p:sp>
      <p:sp>
        <p:nvSpPr>
          <p:cNvPr id="16" name="TextBox 15"/>
          <p:cNvSpPr txBox="1"/>
          <p:nvPr/>
        </p:nvSpPr>
        <p:spPr>
          <a:xfrm>
            <a:off x="6217920" y="2240280"/>
            <a:ext cx="5486400" cy="658368"/>
          </a:xfrm>
          <a:prstGeom prst="rect">
            <a:avLst/>
          </a:prstGeom>
          <a:noFill/>
        </p:spPr>
        <p:txBody>
          <a:bodyPr wrap="square">
            <a:spAutoFit/>
          </a:bodyPr>
          <a:lstStyle/>
          <a:p>
            <a:pPr algn="l"/>
            <a:r>
              <a:rPr sz="1300" b="0" i="0">
                <a:solidFill>
                  <a:srgbClr val="7A1010"/>
                </a:solidFill>
              </a:rPr>
              <a:t>  • Concurrence outils numériques (correcteurs, IA, GPT)</a:t>
            </a:r>
          </a:p>
        </p:txBody>
      </p:sp>
      <p:sp>
        <p:nvSpPr>
          <p:cNvPr id="17" name="TextBox 16"/>
          <p:cNvSpPr txBox="1"/>
          <p:nvPr/>
        </p:nvSpPr>
        <p:spPr>
          <a:xfrm>
            <a:off x="502920" y="2916936"/>
            <a:ext cx="5303520" cy="658368"/>
          </a:xfrm>
          <a:prstGeom prst="rect">
            <a:avLst/>
          </a:prstGeom>
          <a:noFill/>
        </p:spPr>
        <p:txBody>
          <a:bodyPr wrap="square">
            <a:spAutoFit/>
          </a:bodyPr>
          <a:lstStyle/>
          <a:p>
            <a:pPr algn="l"/>
            <a:r>
              <a:rPr sz="1300" b="0" i="0">
                <a:solidFill>
                  <a:srgbClr val="0E4A2E"/>
                </a:solidFill>
              </a:rPr>
              <a:t>  • Segment stylos intelligents quasi inexistant en France
→ positionnement pionnier</a:t>
            </a:r>
          </a:p>
        </p:txBody>
      </p:sp>
      <p:sp>
        <p:nvSpPr>
          <p:cNvPr id="18" name="TextBox 17"/>
          <p:cNvSpPr txBox="1"/>
          <p:nvPr/>
        </p:nvSpPr>
        <p:spPr>
          <a:xfrm>
            <a:off x="6217920" y="2916936"/>
            <a:ext cx="5486400" cy="658368"/>
          </a:xfrm>
          <a:prstGeom prst="rect">
            <a:avLst/>
          </a:prstGeom>
          <a:noFill/>
        </p:spPr>
        <p:txBody>
          <a:bodyPr wrap="square">
            <a:spAutoFit/>
          </a:bodyPr>
          <a:lstStyle/>
          <a:p>
            <a:pPr algn="l"/>
            <a:r>
              <a:rPr sz="1300" b="0" i="0">
                <a:solidFill>
                  <a:srgbClr val="7A1010"/>
                </a:solidFill>
              </a:rPr>
              <a:t>  • Prix 99,90 € perçu comme élevé vs stylo classique (1–5 €)</a:t>
            </a:r>
          </a:p>
        </p:txBody>
      </p:sp>
      <p:sp>
        <p:nvSpPr>
          <p:cNvPr id="19" name="TextBox 18"/>
          <p:cNvSpPr txBox="1"/>
          <p:nvPr/>
        </p:nvSpPr>
        <p:spPr>
          <a:xfrm>
            <a:off x="502920" y="3593592"/>
            <a:ext cx="5303520" cy="658368"/>
          </a:xfrm>
          <a:prstGeom prst="rect">
            <a:avLst/>
          </a:prstGeom>
          <a:noFill/>
        </p:spPr>
        <p:txBody>
          <a:bodyPr wrap="square">
            <a:spAutoFit/>
          </a:bodyPr>
          <a:lstStyle/>
          <a:p>
            <a:pPr algn="l"/>
            <a:r>
              <a:rPr sz="1300" b="0" i="0">
                <a:solidFill>
                  <a:srgbClr val="0E4A2E"/>
                </a:solidFill>
              </a:rPr>
              <a:t>  • 82,3 % des répondants intéressés (n=214)</a:t>
            </a:r>
          </a:p>
        </p:txBody>
      </p:sp>
      <p:sp>
        <p:nvSpPr>
          <p:cNvPr id="20" name="TextBox 19"/>
          <p:cNvSpPr txBox="1"/>
          <p:nvPr/>
        </p:nvSpPr>
        <p:spPr>
          <a:xfrm>
            <a:off x="6217920" y="3593592"/>
            <a:ext cx="5486400" cy="658368"/>
          </a:xfrm>
          <a:prstGeom prst="rect">
            <a:avLst/>
          </a:prstGeom>
          <a:noFill/>
        </p:spPr>
        <p:txBody>
          <a:bodyPr wrap="square">
            <a:spAutoFit/>
          </a:bodyPr>
          <a:lstStyle/>
          <a:p>
            <a:pPr algn="l"/>
            <a:r>
              <a:rPr sz="1300" b="0" i="0">
                <a:solidFill>
                  <a:srgbClr val="7A1010"/>
                </a:solidFill>
              </a:rPr>
              <a:t>  • Recul marché papeterie : –7 % en 2024 vs 2023</a:t>
            </a:r>
          </a:p>
        </p:txBody>
      </p:sp>
      <p:sp>
        <p:nvSpPr>
          <p:cNvPr id="21" name="TextBox 20"/>
          <p:cNvSpPr txBox="1"/>
          <p:nvPr/>
        </p:nvSpPr>
        <p:spPr>
          <a:xfrm>
            <a:off x="502920" y="4270248"/>
            <a:ext cx="5303520" cy="658368"/>
          </a:xfrm>
          <a:prstGeom prst="rect">
            <a:avLst/>
          </a:prstGeom>
          <a:noFill/>
        </p:spPr>
        <p:txBody>
          <a:bodyPr wrap="square">
            <a:spAutoFit/>
          </a:bodyPr>
          <a:lstStyle/>
          <a:p>
            <a:pPr algn="l"/>
            <a:r>
              <a:rPr sz="1300" b="0" i="0">
                <a:solidFill>
                  <a:srgbClr val="0E4A2E"/>
                </a:solidFill>
              </a:rPr>
              <a:t>  • Assemblage France (Nicomatic) → argument marketing et conformité CE</a:t>
            </a:r>
          </a:p>
        </p:txBody>
      </p:sp>
      <p:sp>
        <p:nvSpPr>
          <p:cNvPr id="22" name="TextBox 21"/>
          <p:cNvSpPr txBox="1"/>
          <p:nvPr/>
        </p:nvSpPr>
        <p:spPr>
          <a:xfrm>
            <a:off x="6217920" y="4270248"/>
            <a:ext cx="5486400" cy="658368"/>
          </a:xfrm>
          <a:prstGeom prst="rect">
            <a:avLst/>
          </a:prstGeom>
          <a:noFill/>
        </p:spPr>
        <p:txBody>
          <a:bodyPr wrap="square">
            <a:spAutoFit/>
          </a:bodyPr>
          <a:lstStyle/>
          <a:p>
            <a:pPr algn="l"/>
            <a:r>
              <a:rPr sz="1300" b="0" i="0">
                <a:solidFill>
                  <a:srgbClr val="7A1010"/>
                </a:solidFill>
              </a:rPr>
              <a:t>  • Résistance culturelle de certains enseignants</a:t>
            </a:r>
          </a:p>
        </p:txBody>
      </p:sp>
      <p:sp>
        <p:nvSpPr>
          <p:cNvPr id="23" name="TextBox 22"/>
          <p:cNvSpPr txBox="1"/>
          <p:nvPr/>
        </p:nvSpPr>
        <p:spPr>
          <a:xfrm>
            <a:off x="502920" y="4946904"/>
            <a:ext cx="5303520" cy="658368"/>
          </a:xfrm>
          <a:prstGeom prst="rect">
            <a:avLst/>
          </a:prstGeom>
          <a:noFill/>
        </p:spPr>
        <p:txBody>
          <a:bodyPr wrap="square">
            <a:spAutoFit/>
          </a:bodyPr>
          <a:lstStyle/>
          <a:p>
            <a:pPr algn="l"/>
            <a:r>
              <a:rPr sz="1300" b="0" i="0">
                <a:solidFill>
                  <a:srgbClr val="0E4A2E"/>
                </a:solidFill>
              </a:rPr>
              <a:t>  • 49 % des transactions papeterie en e-commerce
→ canal direct fort</a:t>
            </a:r>
          </a:p>
        </p:txBody>
      </p:sp>
      <p:sp>
        <p:nvSpPr>
          <p:cNvPr id="24" name="TextBox 23"/>
          <p:cNvSpPr txBox="1"/>
          <p:nvPr/>
        </p:nvSpPr>
        <p:spPr>
          <a:xfrm>
            <a:off x="6217920" y="4946904"/>
            <a:ext cx="5486400" cy="658368"/>
          </a:xfrm>
          <a:prstGeom prst="rect">
            <a:avLst/>
          </a:prstGeom>
          <a:noFill/>
        </p:spPr>
        <p:txBody>
          <a:bodyPr wrap="square">
            <a:spAutoFit/>
          </a:bodyPr>
          <a:lstStyle/>
          <a:p>
            <a:pPr algn="l"/>
            <a:r>
              <a:rPr sz="1300" b="0" i="0">
                <a:solidFill>
                  <a:srgbClr val="7A1010"/>
                </a:solidFill>
              </a:rPr>
              <a:t>  • Évolution rapide de l'IA — risque substitution à moyen terme</a:t>
            </a:r>
          </a:p>
        </p:txBody>
      </p:sp>
      <p:sp>
        <p:nvSpPr>
          <p:cNvPr id="25" name="TextBox 24"/>
          <p:cNvSpPr txBox="1"/>
          <p:nvPr/>
        </p:nvSpPr>
        <p:spPr>
          <a:xfrm>
            <a:off x="502920" y="5623560"/>
            <a:ext cx="5303520" cy="658368"/>
          </a:xfrm>
          <a:prstGeom prst="rect">
            <a:avLst/>
          </a:prstGeom>
          <a:noFill/>
        </p:spPr>
        <p:txBody>
          <a:bodyPr wrap="square">
            <a:spAutoFit/>
          </a:bodyPr>
          <a:lstStyle/>
          <a:p>
            <a:pPr algn="l"/>
            <a:r>
              <a:rPr sz="1300" b="0" i="0">
                <a:solidFill>
                  <a:srgbClr val="0E4A2E"/>
                </a:solidFill>
              </a:rPr>
              <a:t>  • Rentrée scolaire : pic achat prévisible et massif</a:t>
            </a:r>
          </a:p>
        </p:txBody>
      </p:sp>
      <p:sp>
        <p:nvSpPr>
          <p:cNvPr id="26" name="TextBox 25"/>
          <p:cNvSpPr txBox="1"/>
          <p:nvPr/>
        </p:nvSpPr>
        <p:spPr>
          <a:xfrm>
            <a:off x="6217920" y="5623560"/>
            <a:ext cx="5486400" cy="658368"/>
          </a:xfrm>
          <a:prstGeom prst="rect">
            <a:avLst/>
          </a:prstGeom>
          <a:noFill/>
        </p:spPr>
        <p:txBody>
          <a:bodyPr wrap="square">
            <a:spAutoFit/>
          </a:bodyPr>
          <a:lstStyle/>
          <a:p>
            <a:pPr algn="l"/>
            <a:r>
              <a:rPr sz="1300" b="0" i="0">
                <a:solidFill>
                  <a:srgbClr val="7A1010"/>
                </a:solidFill>
              </a:rPr>
              <a:t>  • Certifications et réglementations produits électroniques enfants</a:t>
            </a:r>
          </a:p>
        </p:txBody>
      </p:sp>
      <p:sp>
        <p:nvSpPr>
          <p:cNvPr id="27" name="Rectangle 26"/>
          <p:cNvSpPr/>
          <p:nvPr/>
        </p:nvSpPr>
        <p:spPr>
          <a:xfrm>
            <a:off x="365760" y="6291072"/>
            <a:ext cx="11457432" cy="4572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8640" y="6309360"/>
            <a:ext cx="11064240" cy="411480"/>
          </a:xfrm>
          <a:prstGeom prst="rect">
            <a:avLst/>
          </a:prstGeom>
          <a:noFill/>
        </p:spPr>
        <p:txBody>
          <a:bodyPr wrap="square">
            <a:spAutoFit/>
          </a:bodyPr>
          <a:lstStyle/>
          <a:p>
            <a:pPr algn="ctr"/>
            <a:r>
              <a:rPr sz="1400" b="1" i="0">
                <a:solidFill>
                  <a:srgbClr val="FFFFFF"/>
                </a:solidFill>
              </a:rPr>
              <a:t>Le Stylo Ortho est positionné pour être le leader d'un marché pionnier grâce à son USP unique : correction en temps réel sur papier, sans internet.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5029200" cy="685800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CONCEPT PRODUIT</a:t>
            </a:r>
          </a:p>
        </p:txBody>
      </p:sp>
      <p:sp>
        <p:nvSpPr>
          <p:cNvPr id="6" name="TextBox 5"/>
          <p:cNvSpPr txBox="1"/>
          <p:nvPr/>
        </p:nvSpPr>
        <p:spPr>
          <a:xfrm>
            <a:off x="365760" y="914400"/>
            <a:ext cx="4389120" cy="1645920"/>
          </a:xfrm>
          <a:prstGeom prst="rect">
            <a:avLst/>
          </a:prstGeom>
          <a:noFill/>
        </p:spPr>
        <p:txBody>
          <a:bodyPr wrap="square">
            <a:spAutoFit/>
          </a:bodyPr>
          <a:lstStyle/>
          <a:p>
            <a:pPr algn="l"/>
            <a:r>
              <a:rPr sz="3800" b="1" i="0">
                <a:solidFill>
                  <a:srgbClr val="FFFFFF"/>
                </a:solidFill>
              </a:rPr>
              <a:t>Concept
Produit</a:t>
            </a:r>
          </a:p>
        </p:txBody>
      </p:sp>
      <p:sp>
        <p:nvSpPr>
          <p:cNvPr id="7" name="Rectangle 6"/>
          <p:cNvSpPr/>
          <p:nvPr/>
        </p:nvSpPr>
        <p:spPr>
          <a:xfrm>
            <a:off x="365760" y="2542032"/>
            <a:ext cx="4114800" cy="73152"/>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2697480"/>
            <a:ext cx="4297680" cy="1371600"/>
          </a:xfrm>
          <a:prstGeom prst="rect">
            <a:avLst/>
          </a:prstGeom>
          <a:noFill/>
        </p:spPr>
        <p:txBody>
          <a:bodyPr wrap="square">
            <a:spAutoFit/>
          </a:bodyPr>
          <a:lstStyle/>
          <a:p>
            <a:pPr algn="l"/>
            <a:r>
              <a:rPr sz="1700" b="0" i="0">
                <a:solidFill>
                  <a:srgbClr val="4A90D9"/>
                </a:solidFill>
              </a:rPr>
              <a:t>Un stylo classique enrichi d'une
technologie discrète de correction
orthographique en temps réel.</a:t>
            </a:r>
          </a:p>
        </p:txBody>
      </p:sp>
      <p:sp>
        <p:nvSpPr>
          <p:cNvPr id="9" name="TextBox 8"/>
          <p:cNvSpPr txBox="1"/>
          <p:nvPr/>
        </p:nvSpPr>
        <p:spPr>
          <a:xfrm>
            <a:off x="365760" y="4754880"/>
            <a:ext cx="4297680" cy="347472"/>
          </a:xfrm>
          <a:prstGeom prst="rect">
            <a:avLst/>
          </a:prstGeom>
          <a:noFill/>
        </p:spPr>
        <p:txBody>
          <a:bodyPr wrap="square">
            <a:spAutoFit/>
          </a:bodyPr>
          <a:lstStyle/>
          <a:p>
            <a:pPr algn="l"/>
            <a:r>
              <a:rPr sz="1300" b="1" i="0">
                <a:solidFill>
                  <a:srgbClr val="FFC200"/>
                </a:solidFill>
              </a:rPr>
              <a:t>Partenaires :</a:t>
            </a:r>
          </a:p>
        </p:txBody>
      </p:sp>
      <p:sp>
        <p:nvSpPr>
          <p:cNvPr id="10" name="TextBox 9"/>
          <p:cNvSpPr txBox="1"/>
          <p:nvPr/>
        </p:nvSpPr>
        <p:spPr>
          <a:xfrm>
            <a:off x="365760" y="5102352"/>
            <a:ext cx="4389120" cy="1280160"/>
          </a:xfrm>
          <a:prstGeom prst="rect">
            <a:avLst/>
          </a:prstGeom>
          <a:noFill/>
        </p:spPr>
        <p:txBody>
          <a:bodyPr wrap="square">
            <a:spAutoFit/>
          </a:bodyPr>
          <a:lstStyle/>
          <a:p>
            <a:pPr algn="l">
              <a:spcAft>
                <a:spcPts val="400"/>
              </a:spcAft>
            </a:pPr>
            <a:r>
              <a:rPr sz="1300" b="0">
                <a:solidFill>
                  <a:srgbClr val="FFFFFF"/>
                </a:solidFill>
              </a:rPr>
              <a:t>🇨🇳 Shenzhen Apec — électronique</a:t>
            </a:r>
          </a:p>
          <a:p>
            <a:pPr algn="l">
              <a:spcAft>
                <a:spcPts val="400"/>
              </a:spcAft>
            </a:pPr>
            <a:r>
              <a:rPr sz="1300" b="0">
                <a:solidFill>
                  <a:srgbClr val="FFFFFF"/>
                </a:solidFill>
              </a:rPr>
              <a:t>🇯🇵 Pentel / Aihao — encre effaçable</a:t>
            </a:r>
          </a:p>
          <a:p>
            <a:pPr algn="l">
              <a:spcAft>
                <a:spcPts val="400"/>
              </a:spcAft>
            </a:pPr>
            <a:r>
              <a:rPr sz="1300" b="0">
                <a:solidFill>
                  <a:srgbClr val="FFFFFF"/>
                </a:solidFill>
              </a:rPr>
              <a:t>🇫🇷 Nicomatic — assemblage final</a:t>
            </a:r>
          </a:p>
        </p:txBody>
      </p:sp>
      <p:sp>
        <p:nvSpPr>
          <p:cNvPr id="11" name="Rectangle 10"/>
          <p:cNvSpPr/>
          <p:nvPr/>
        </p:nvSpPr>
        <p:spPr>
          <a:xfrm>
            <a:off x="5303520" y="1371600"/>
            <a:ext cx="3154680" cy="150876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13248" y="1508760"/>
            <a:ext cx="502920" cy="457200"/>
          </a:xfrm>
          <a:prstGeom prst="rect">
            <a:avLst/>
          </a:prstGeom>
          <a:noFill/>
        </p:spPr>
        <p:txBody>
          <a:bodyPr wrap="square">
            <a:spAutoFit/>
          </a:bodyPr>
          <a:lstStyle/>
          <a:p>
            <a:pPr algn="l"/>
            <a:r>
              <a:rPr sz="2400" b="0" i="0">
                <a:solidFill>
                  <a:srgbClr val="FFFFFF"/>
                </a:solidFill>
              </a:rPr>
              <a:t>⚡</a:t>
            </a:r>
          </a:p>
        </p:txBody>
      </p:sp>
      <p:sp>
        <p:nvSpPr>
          <p:cNvPr id="13" name="TextBox 12"/>
          <p:cNvSpPr txBox="1"/>
          <p:nvPr/>
        </p:nvSpPr>
        <p:spPr>
          <a:xfrm>
            <a:off x="5989320" y="1508760"/>
            <a:ext cx="2331720" cy="411480"/>
          </a:xfrm>
          <a:prstGeom prst="rect">
            <a:avLst/>
          </a:prstGeom>
          <a:noFill/>
        </p:spPr>
        <p:txBody>
          <a:bodyPr wrap="square">
            <a:spAutoFit/>
          </a:bodyPr>
          <a:lstStyle/>
          <a:p>
            <a:pPr algn="l"/>
            <a:r>
              <a:rPr sz="1400" b="1" i="0">
                <a:solidFill>
                  <a:srgbClr val="FFC200"/>
                </a:solidFill>
              </a:rPr>
              <a:t>Recharge USB-C</a:t>
            </a:r>
          </a:p>
        </p:txBody>
      </p:sp>
      <p:sp>
        <p:nvSpPr>
          <p:cNvPr id="14" name="TextBox 13"/>
          <p:cNvSpPr txBox="1"/>
          <p:nvPr/>
        </p:nvSpPr>
        <p:spPr>
          <a:xfrm>
            <a:off x="5989320" y="1920240"/>
            <a:ext cx="2331720" cy="731520"/>
          </a:xfrm>
          <a:prstGeom prst="rect">
            <a:avLst/>
          </a:prstGeom>
          <a:noFill/>
        </p:spPr>
        <p:txBody>
          <a:bodyPr wrap="square">
            <a:spAutoFit/>
          </a:bodyPr>
          <a:lstStyle/>
          <a:p>
            <a:pPr algn="l"/>
            <a:r>
              <a:rPr sz="1300" b="0" i="0">
                <a:solidFill>
                  <a:srgbClr val="FFFFFF"/>
                </a:solidFill>
              </a:rPr>
              <a:t>15 min de charge — pratique au quotidien</a:t>
            </a:r>
          </a:p>
        </p:txBody>
      </p:sp>
      <p:sp>
        <p:nvSpPr>
          <p:cNvPr id="15" name="Rectangle 14"/>
          <p:cNvSpPr/>
          <p:nvPr/>
        </p:nvSpPr>
        <p:spPr>
          <a:xfrm>
            <a:off x="8686800" y="1371600"/>
            <a:ext cx="3154680" cy="1508760"/>
          </a:xfrm>
          <a:prstGeom prst="rect">
            <a:avLst/>
          </a:prstGeom>
          <a:solidFill>
            <a:srgbClr val="C0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796528" y="1508760"/>
            <a:ext cx="502920" cy="457200"/>
          </a:xfrm>
          <a:prstGeom prst="rect">
            <a:avLst/>
          </a:prstGeom>
          <a:noFill/>
        </p:spPr>
        <p:txBody>
          <a:bodyPr wrap="square">
            <a:spAutoFit/>
          </a:bodyPr>
          <a:lstStyle/>
          <a:p>
            <a:pPr algn="l"/>
            <a:r>
              <a:rPr sz="2400" b="0" i="0">
                <a:solidFill>
                  <a:srgbClr val="FFFFFF"/>
                </a:solidFill>
              </a:rPr>
              <a:t>🖊</a:t>
            </a:r>
          </a:p>
        </p:txBody>
      </p:sp>
      <p:sp>
        <p:nvSpPr>
          <p:cNvPr id="17" name="TextBox 16"/>
          <p:cNvSpPr txBox="1"/>
          <p:nvPr/>
        </p:nvSpPr>
        <p:spPr>
          <a:xfrm>
            <a:off x="9372600" y="1508760"/>
            <a:ext cx="2331720" cy="411480"/>
          </a:xfrm>
          <a:prstGeom prst="rect">
            <a:avLst/>
          </a:prstGeom>
          <a:noFill/>
        </p:spPr>
        <p:txBody>
          <a:bodyPr wrap="square">
            <a:spAutoFit/>
          </a:bodyPr>
          <a:lstStyle/>
          <a:p>
            <a:pPr algn="l"/>
            <a:r>
              <a:rPr sz="1400" b="1" i="0">
                <a:solidFill>
                  <a:srgbClr val="FFC200"/>
                </a:solidFill>
              </a:rPr>
              <a:t>Écran intégré</a:t>
            </a:r>
          </a:p>
        </p:txBody>
      </p:sp>
      <p:sp>
        <p:nvSpPr>
          <p:cNvPr id="18" name="TextBox 17"/>
          <p:cNvSpPr txBox="1"/>
          <p:nvPr/>
        </p:nvSpPr>
        <p:spPr>
          <a:xfrm>
            <a:off x="9372600" y="1920240"/>
            <a:ext cx="2331720" cy="731520"/>
          </a:xfrm>
          <a:prstGeom prst="rect">
            <a:avLst/>
          </a:prstGeom>
          <a:noFill/>
        </p:spPr>
        <p:txBody>
          <a:bodyPr wrap="square">
            <a:spAutoFit/>
          </a:bodyPr>
          <a:lstStyle/>
          <a:p>
            <a:pPr algn="l"/>
            <a:r>
              <a:rPr sz="1300" b="0" i="0">
                <a:solidFill>
                  <a:srgbClr val="FFFFFF"/>
                </a:solidFill>
              </a:rPr>
              <a:t>Correction en rouge, orthographe proposée</a:t>
            </a:r>
          </a:p>
        </p:txBody>
      </p:sp>
      <p:sp>
        <p:nvSpPr>
          <p:cNvPr id="19" name="Rectangle 18"/>
          <p:cNvSpPr/>
          <p:nvPr/>
        </p:nvSpPr>
        <p:spPr>
          <a:xfrm>
            <a:off x="5303520" y="3035808"/>
            <a:ext cx="3154680" cy="1508760"/>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13248" y="3172968"/>
            <a:ext cx="502920" cy="457200"/>
          </a:xfrm>
          <a:prstGeom prst="rect">
            <a:avLst/>
          </a:prstGeom>
          <a:noFill/>
        </p:spPr>
        <p:txBody>
          <a:bodyPr wrap="square">
            <a:spAutoFit/>
          </a:bodyPr>
          <a:lstStyle/>
          <a:p>
            <a:pPr algn="l"/>
            <a:r>
              <a:rPr sz="2400" b="0" i="0">
                <a:solidFill>
                  <a:srgbClr val="FFFFFF"/>
                </a:solidFill>
              </a:rPr>
              <a:t>🔄</a:t>
            </a:r>
          </a:p>
        </p:txBody>
      </p:sp>
      <p:sp>
        <p:nvSpPr>
          <p:cNvPr id="21" name="TextBox 20"/>
          <p:cNvSpPr txBox="1"/>
          <p:nvPr/>
        </p:nvSpPr>
        <p:spPr>
          <a:xfrm>
            <a:off x="5989320" y="3172968"/>
            <a:ext cx="2331720" cy="411480"/>
          </a:xfrm>
          <a:prstGeom prst="rect">
            <a:avLst/>
          </a:prstGeom>
          <a:noFill/>
        </p:spPr>
        <p:txBody>
          <a:bodyPr wrap="square">
            <a:spAutoFit/>
          </a:bodyPr>
          <a:lstStyle/>
          <a:p>
            <a:pPr algn="l"/>
            <a:r>
              <a:rPr sz="1400" b="1" i="0">
                <a:solidFill>
                  <a:srgbClr val="FFC200"/>
                </a:solidFill>
              </a:rPr>
              <a:t>Encre rechargeable</a:t>
            </a:r>
          </a:p>
        </p:txBody>
      </p:sp>
      <p:sp>
        <p:nvSpPr>
          <p:cNvPr id="22" name="TextBox 21"/>
          <p:cNvSpPr txBox="1"/>
          <p:nvPr/>
        </p:nvSpPr>
        <p:spPr>
          <a:xfrm>
            <a:off x="5989320" y="3584448"/>
            <a:ext cx="2331720" cy="731520"/>
          </a:xfrm>
          <a:prstGeom prst="rect">
            <a:avLst/>
          </a:prstGeom>
          <a:noFill/>
        </p:spPr>
        <p:txBody>
          <a:bodyPr wrap="square">
            <a:spAutoFit/>
          </a:bodyPr>
          <a:lstStyle/>
          <a:p>
            <a:pPr algn="l"/>
            <a:r>
              <a:rPr sz="1300" b="0" i="0">
                <a:solidFill>
                  <a:srgbClr val="FFFFFF"/>
                </a:solidFill>
              </a:rPr>
              <a:t>Économique vs stylos jetables</a:t>
            </a:r>
          </a:p>
        </p:txBody>
      </p:sp>
      <p:sp>
        <p:nvSpPr>
          <p:cNvPr id="23" name="Rectangle 22"/>
          <p:cNvSpPr/>
          <p:nvPr/>
        </p:nvSpPr>
        <p:spPr>
          <a:xfrm>
            <a:off x="8686800" y="3035808"/>
            <a:ext cx="3154680" cy="1508760"/>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796528" y="3172968"/>
            <a:ext cx="502920" cy="457200"/>
          </a:xfrm>
          <a:prstGeom prst="rect">
            <a:avLst/>
          </a:prstGeom>
          <a:noFill/>
        </p:spPr>
        <p:txBody>
          <a:bodyPr wrap="square">
            <a:spAutoFit/>
          </a:bodyPr>
          <a:lstStyle/>
          <a:p>
            <a:pPr algn="l"/>
            <a:r>
              <a:rPr sz="2400" b="0" i="0">
                <a:solidFill>
                  <a:srgbClr val="FFFFFF"/>
                </a:solidFill>
              </a:rPr>
              <a:t>✏️</a:t>
            </a:r>
          </a:p>
        </p:txBody>
      </p:sp>
      <p:sp>
        <p:nvSpPr>
          <p:cNvPr id="25" name="TextBox 24"/>
          <p:cNvSpPr txBox="1"/>
          <p:nvPr/>
        </p:nvSpPr>
        <p:spPr>
          <a:xfrm>
            <a:off x="9372600" y="3172968"/>
            <a:ext cx="2331720" cy="411480"/>
          </a:xfrm>
          <a:prstGeom prst="rect">
            <a:avLst/>
          </a:prstGeom>
          <a:noFill/>
        </p:spPr>
        <p:txBody>
          <a:bodyPr wrap="square">
            <a:spAutoFit/>
          </a:bodyPr>
          <a:lstStyle/>
          <a:p>
            <a:pPr algn="l"/>
            <a:r>
              <a:rPr sz="1400" b="1" i="0">
                <a:solidFill>
                  <a:srgbClr val="FFC200"/>
                </a:solidFill>
              </a:rPr>
              <a:t>Gomme effaçable</a:t>
            </a:r>
          </a:p>
        </p:txBody>
      </p:sp>
      <p:sp>
        <p:nvSpPr>
          <p:cNvPr id="26" name="TextBox 25"/>
          <p:cNvSpPr txBox="1"/>
          <p:nvPr/>
        </p:nvSpPr>
        <p:spPr>
          <a:xfrm>
            <a:off x="9372600" y="3584448"/>
            <a:ext cx="2331720" cy="731520"/>
          </a:xfrm>
          <a:prstGeom prst="rect">
            <a:avLst/>
          </a:prstGeom>
          <a:noFill/>
        </p:spPr>
        <p:txBody>
          <a:bodyPr wrap="square">
            <a:spAutoFit/>
          </a:bodyPr>
          <a:lstStyle/>
          <a:p>
            <a:pPr algn="l"/>
            <a:r>
              <a:rPr sz="1300" b="0" i="0">
                <a:solidFill>
                  <a:srgbClr val="FFFFFF"/>
                </a:solidFill>
              </a:rPr>
              <a:t>Usage fluide, pas de correcteur blanc</a:t>
            </a:r>
          </a:p>
        </p:txBody>
      </p:sp>
      <p:sp>
        <p:nvSpPr>
          <p:cNvPr id="27" name="Rectangle 26"/>
          <p:cNvSpPr/>
          <p:nvPr/>
        </p:nvSpPr>
        <p:spPr>
          <a:xfrm>
            <a:off x="5303520" y="4700016"/>
            <a:ext cx="3154680" cy="1508760"/>
          </a:xfrm>
          <a:prstGeom prst="rect">
            <a:avLst/>
          </a:prstGeom>
          <a:solidFill>
            <a:srgbClr val="4A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413248" y="4837176"/>
            <a:ext cx="502920" cy="457200"/>
          </a:xfrm>
          <a:prstGeom prst="rect">
            <a:avLst/>
          </a:prstGeom>
          <a:noFill/>
        </p:spPr>
        <p:txBody>
          <a:bodyPr wrap="square">
            <a:spAutoFit/>
          </a:bodyPr>
          <a:lstStyle/>
          <a:p>
            <a:pPr algn="l"/>
            <a:r>
              <a:rPr sz="2400" b="0" i="0">
                <a:solidFill>
                  <a:srgbClr val="FFFFFF"/>
                </a:solidFill>
              </a:rPr>
              <a:t>🎨</a:t>
            </a:r>
          </a:p>
        </p:txBody>
      </p:sp>
      <p:sp>
        <p:nvSpPr>
          <p:cNvPr id="29" name="TextBox 28"/>
          <p:cNvSpPr txBox="1"/>
          <p:nvPr/>
        </p:nvSpPr>
        <p:spPr>
          <a:xfrm>
            <a:off x="5989320" y="4837176"/>
            <a:ext cx="2331720" cy="411480"/>
          </a:xfrm>
          <a:prstGeom prst="rect">
            <a:avLst/>
          </a:prstGeom>
          <a:noFill/>
        </p:spPr>
        <p:txBody>
          <a:bodyPr wrap="square">
            <a:spAutoFit/>
          </a:bodyPr>
          <a:lstStyle/>
          <a:p>
            <a:pPr algn="l"/>
            <a:r>
              <a:rPr sz="1400" b="1" i="0">
                <a:solidFill>
                  <a:srgbClr val="FFC200"/>
                </a:solidFill>
              </a:rPr>
              <a:t>4 couleurs</a:t>
            </a:r>
          </a:p>
        </p:txBody>
      </p:sp>
      <p:sp>
        <p:nvSpPr>
          <p:cNvPr id="30" name="TextBox 29"/>
          <p:cNvSpPr txBox="1"/>
          <p:nvPr/>
        </p:nvSpPr>
        <p:spPr>
          <a:xfrm>
            <a:off x="5989320" y="5248656"/>
            <a:ext cx="2331720" cy="731520"/>
          </a:xfrm>
          <a:prstGeom prst="rect">
            <a:avLst/>
          </a:prstGeom>
          <a:noFill/>
        </p:spPr>
        <p:txBody>
          <a:bodyPr wrap="square">
            <a:spAutoFit/>
          </a:bodyPr>
          <a:lstStyle/>
          <a:p>
            <a:pPr algn="l"/>
            <a:r>
              <a:rPr sz="1300" b="0" i="0">
                <a:solidFill>
                  <a:srgbClr val="FFFFFF"/>
                </a:solidFill>
              </a:rPr>
              <a:t>Noir · Bleu · Rouge · Vert</a:t>
            </a:r>
          </a:p>
        </p:txBody>
      </p:sp>
      <p:sp>
        <p:nvSpPr>
          <p:cNvPr id="31" name="Rectangle 30"/>
          <p:cNvSpPr/>
          <p:nvPr/>
        </p:nvSpPr>
        <p:spPr>
          <a:xfrm>
            <a:off x="8686800" y="4700016"/>
            <a:ext cx="3154680" cy="1508760"/>
          </a:xfrm>
          <a:prstGeom prst="rect">
            <a:avLst/>
          </a:prstGeom>
          <a:solidFill>
            <a:srgbClr val="2E5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796528" y="4837176"/>
            <a:ext cx="502920" cy="457200"/>
          </a:xfrm>
          <a:prstGeom prst="rect">
            <a:avLst/>
          </a:prstGeom>
          <a:noFill/>
        </p:spPr>
        <p:txBody>
          <a:bodyPr wrap="square">
            <a:spAutoFit/>
          </a:bodyPr>
          <a:lstStyle/>
          <a:p>
            <a:pPr algn="l"/>
            <a:r>
              <a:rPr sz="2400" b="0" i="0">
                <a:solidFill>
                  <a:srgbClr val="FFFFFF"/>
                </a:solidFill>
              </a:rPr>
              <a:t>🏃</a:t>
            </a:r>
          </a:p>
        </p:txBody>
      </p:sp>
      <p:sp>
        <p:nvSpPr>
          <p:cNvPr id="33" name="TextBox 32"/>
          <p:cNvSpPr txBox="1"/>
          <p:nvPr/>
        </p:nvSpPr>
        <p:spPr>
          <a:xfrm>
            <a:off x="9372600" y="4837176"/>
            <a:ext cx="2331720" cy="411480"/>
          </a:xfrm>
          <a:prstGeom prst="rect">
            <a:avLst/>
          </a:prstGeom>
          <a:noFill/>
        </p:spPr>
        <p:txBody>
          <a:bodyPr wrap="square">
            <a:spAutoFit/>
          </a:bodyPr>
          <a:lstStyle/>
          <a:p>
            <a:pPr algn="l"/>
            <a:r>
              <a:rPr sz="1400" b="1" i="0">
                <a:solidFill>
                  <a:srgbClr val="FFC200"/>
                </a:solidFill>
              </a:rPr>
              <a:t>Design ergonomique</a:t>
            </a:r>
          </a:p>
        </p:txBody>
      </p:sp>
      <p:sp>
        <p:nvSpPr>
          <p:cNvPr id="34" name="TextBox 33"/>
          <p:cNvSpPr txBox="1"/>
          <p:nvPr/>
        </p:nvSpPr>
        <p:spPr>
          <a:xfrm>
            <a:off x="9372600" y="5248656"/>
            <a:ext cx="2331720" cy="731520"/>
          </a:xfrm>
          <a:prstGeom prst="rect">
            <a:avLst/>
          </a:prstGeom>
          <a:noFill/>
        </p:spPr>
        <p:txBody>
          <a:bodyPr wrap="square">
            <a:spAutoFit/>
          </a:bodyPr>
          <a:lstStyle/>
          <a:p>
            <a:pPr algn="l"/>
            <a:r>
              <a:rPr sz="1300" b="0" i="0">
                <a:solidFill>
                  <a:srgbClr val="FFFFFF"/>
                </a:solidFill>
              </a:rPr>
              <a:t>Léger, toutes durées d'utilisation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MARKETING</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Segmentation du marché</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Qui sont nos clients ? Qui cibler en priorité ?</a:t>
            </a:r>
          </a:p>
        </p:txBody>
      </p:sp>
      <p:sp>
        <p:nvSpPr>
          <p:cNvPr id="9" name="Rectangle 8"/>
          <p:cNvSpPr/>
          <p:nvPr/>
        </p:nvSpPr>
        <p:spPr>
          <a:xfrm>
            <a:off x="365760" y="1572768"/>
            <a:ext cx="11457432" cy="138988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1984248"/>
            <a:ext cx="731520" cy="640080"/>
          </a:xfrm>
          <a:prstGeom prst="rect">
            <a:avLst/>
          </a:prstGeom>
          <a:noFill/>
        </p:spPr>
        <p:txBody>
          <a:bodyPr wrap="square">
            <a:spAutoFit/>
          </a:bodyPr>
          <a:lstStyle/>
          <a:p>
            <a:pPr algn="ctr"/>
            <a:r>
              <a:rPr sz="3000" b="0" i="0">
                <a:solidFill>
                  <a:srgbClr val="FFFFFF"/>
                </a:solidFill>
              </a:rPr>
              <a:t>🎯</a:t>
            </a:r>
          </a:p>
        </p:txBody>
      </p:sp>
      <p:sp>
        <p:nvSpPr>
          <p:cNvPr id="11" name="TextBox 10"/>
          <p:cNvSpPr txBox="1"/>
          <p:nvPr/>
        </p:nvSpPr>
        <p:spPr>
          <a:xfrm>
            <a:off x="1371600" y="1682495"/>
            <a:ext cx="4114800" cy="502920"/>
          </a:xfrm>
          <a:prstGeom prst="rect">
            <a:avLst/>
          </a:prstGeom>
          <a:noFill/>
        </p:spPr>
        <p:txBody>
          <a:bodyPr wrap="square">
            <a:spAutoFit/>
          </a:bodyPr>
          <a:lstStyle/>
          <a:p>
            <a:pPr algn="l"/>
            <a:r>
              <a:rPr sz="2000" b="1" i="0">
                <a:solidFill>
                  <a:srgbClr val="FFC200"/>
                </a:solidFill>
              </a:rPr>
              <a:t>Parents d'élèves</a:t>
            </a:r>
          </a:p>
        </p:txBody>
      </p:sp>
      <p:sp>
        <p:nvSpPr>
          <p:cNvPr id="12" name="TextBox 11"/>
          <p:cNvSpPr txBox="1"/>
          <p:nvPr/>
        </p:nvSpPr>
        <p:spPr>
          <a:xfrm>
            <a:off x="1371600" y="2194560"/>
            <a:ext cx="4114800" cy="411480"/>
          </a:xfrm>
          <a:prstGeom prst="rect">
            <a:avLst/>
          </a:prstGeom>
          <a:noFill/>
        </p:spPr>
        <p:txBody>
          <a:bodyPr wrap="square">
            <a:spAutoFit/>
          </a:bodyPr>
          <a:lstStyle/>
          <a:p>
            <a:pPr algn="l"/>
            <a:r>
              <a:rPr sz="1400" b="0" i="1">
                <a:solidFill>
                  <a:srgbClr val="FFFFFF"/>
                </a:solidFill>
              </a:rPr>
              <a:t>30–50 ans — acheteurs principaux</a:t>
            </a:r>
          </a:p>
        </p:txBody>
      </p:sp>
      <p:sp>
        <p:nvSpPr>
          <p:cNvPr id="13" name="Rectangle 12"/>
          <p:cNvSpPr/>
          <p:nvPr/>
        </p:nvSpPr>
        <p:spPr>
          <a:xfrm>
            <a:off x="5669280" y="1755648"/>
            <a:ext cx="457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52160" y="1737360"/>
            <a:ext cx="3840480" cy="731520"/>
          </a:xfrm>
          <a:prstGeom prst="rect">
            <a:avLst/>
          </a:prstGeom>
          <a:noFill/>
        </p:spPr>
        <p:txBody>
          <a:bodyPr wrap="square">
            <a:spAutoFit/>
          </a:bodyPr>
          <a:lstStyle/>
          <a:p>
            <a:pPr algn="l"/>
            <a:r>
              <a:rPr sz="1600" b="1" i="0">
                <a:solidFill>
                  <a:srgbClr val="FFFFFF"/>
                </a:solidFill>
              </a:rPr>
              <a:t>📊 46,9 % prêts à acheter
pour leur enfant (enquête)</a:t>
            </a:r>
          </a:p>
        </p:txBody>
      </p:sp>
      <p:sp>
        <p:nvSpPr>
          <p:cNvPr id="15" name="Rectangle 14"/>
          <p:cNvSpPr/>
          <p:nvPr/>
        </p:nvSpPr>
        <p:spPr>
          <a:xfrm>
            <a:off x="9875520" y="1645920"/>
            <a:ext cx="1783080" cy="411480"/>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0" y="1664208"/>
            <a:ext cx="1783080" cy="384048"/>
          </a:xfrm>
          <a:prstGeom prst="rect">
            <a:avLst/>
          </a:prstGeom>
          <a:noFill/>
        </p:spPr>
        <p:txBody>
          <a:bodyPr wrap="square">
            <a:spAutoFit/>
          </a:bodyPr>
          <a:lstStyle/>
          <a:p>
            <a:pPr algn="ctr"/>
            <a:r>
              <a:rPr sz="1100" b="1" i="0">
                <a:solidFill>
                  <a:srgbClr val="0D1B3E"/>
                </a:solidFill>
              </a:rPr>
              <a:t>CIBLE PRINCIPALE</a:t>
            </a:r>
          </a:p>
        </p:txBody>
      </p:sp>
      <p:sp>
        <p:nvSpPr>
          <p:cNvPr id="17" name="Rectangle 16"/>
          <p:cNvSpPr/>
          <p:nvPr/>
        </p:nvSpPr>
        <p:spPr>
          <a:xfrm>
            <a:off x="365760" y="3054096"/>
            <a:ext cx="11457432" cy="1389888"/>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02920" y="3465576"/>
            <a:ext cx="731520" cy="640080"/>
          </a:xfrm>
          <a:prstGeom prst="rect">
            <a:avLst/>
          </a:prstGeom>
          <a:noFill/>
        </p:spPr>
        <p:txBody>
          <a:bodyPr wrap="square">
            <a:spAutoFit/>
          </a:bodyPr>
          <a:lstStyle/>
          <a:p>
            <a:pPr algn="ctr"/>
            <a:r>
              <a:rPr sz="3000" b="0" i="0">
                <a:solidFill>
                  <a:srgbClr val="FFFFFF"/>
                </a:solidFill>
              </a:rPr>
              <a:t>✏️</a:t>
            </a:r>
          </a:p>
        </p:txBody>
      </p:sp>
      <p:sp>
        <p:nvSpPr>
          <p:cNvPr id="19" name="TextBox 18"/>
          <p:cNvSpPr txBox="1"/>
          <p:nvPr/>
        </p:nvSpPr>
        <p:spPr>
          <a:xfrm>
            <a:off x="1371600" y="3163824"/>
            <a:ext cx="4114800" cy="502920"/>
          </a:xfrm>
          <a:prstGeom prst="rect">
            <a:avLst/>
          </a:prstGeom>
          <a:noFill/>
        </p:spPr>
        <p:txBody>
          <a:bodyPr wrap="square">
            <a:spAutoFit/>
          </a:bodyPr>
          <a:lstStyle/>
          <a:p>
            <a:pPr algn="l"/>
            <a:r>
              <a:rPr sz="2000" b="1" i="0">
                <a:solidFill>
                  <a:srgbClr val="FFC200"/>
                </a:solidFill>
              </a:rPr>
              <a:t>Élèves &amp; Étudiants</a:t>
            </a:r>
          </a:p>
        </p:txBody>
      </p:sp>
      <p:sp>
        <p:nvSpPr>
          <p:cNvPr id="20" name="TextBox 19"/>
          <p:cNvSpPr txBox="1"/>
          <p:nvPr/>
        </p:nvSpPr>
        <p:spPr>
          <a:xfrm>
            <a:off x="1371600" y="3675887"/>
            <a:ext cx="4114800" cy="411480"/>
          </a:xfrm>
          <a:prstGeom prst="rect">
            <a:avLst/>
          </a:prstGeom>
          <a:noFill/>
        </p:spPr>
        <p:txBody>
          <a:bodyPr wrap="square">
            <a:spAutoFit/>
          </a:bodyPr>
          <a:lstStyle/>
          <a:p>
            <a:pPr algn="l"/>
            <a:r>
              <a:rPr sz="1400" b="0" i="1">
                <a:solidFill>
                  <a:srgbClr val="FFFFFF"/>
                </a:solidFill>
              </a:rPr>
              <a:t>11–25 ans — utilisateurs directs</a:t>
            </a:r>
          </a:p>
        </p:txBody>
      </p:sp>
      <p:sp>
        <p:nvSpPr>
          <p:cNvPr id="21" name="Rectangle 20"/>
          <p:cNvSpPr/>
          <p:nvPr/>
        </p:nvSpPr>
        <p:spPr>
          <a:xfrm>
            <a:off x="5669280" y="3236976"/>
            <a:ext cx="457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852160" y="3218688"/>
            <a:ext cx="3840480" cy="731520"/>
          </a:xfrm>
          <a:prstGeom prst="rect">
            <a:avLst/>
          </a:prstGeom>
          <a:noFill/>
        </p:spPr>
        <p:txBody>
          <a:bodyPr wrap="square">
            <a:spAutoFit/>
          </a:bodyPr>
          <a:lstStyle/>
          <a:p>
            <a:pPr algn="l"/>
            <a:r>
              <a:rPr sz="1600" b="1" i="0">
                <a:solidFill>
                  <a:srgbClr val="FFFFFF"/>
                </a:solidFill>
              </a:rPr>
              <a:t>📊 45 % font des fautes
souvent ou très souvent</a:t>
            </a:r>
          </a:p>
        </p:txBody>
      </p:sp>
      <p:sp>
        <p:nvSpPr>
          <p:cNvPr id="23" name="Rectangle 22"/>
          <p:cNvSpPr/>
          <p:nvPr/>
        </p:nvSpPr>
        <p:spPr>
          <a:xfrm>
            <a:off x="9875520" y="3127248"/>
            <a:ext cx="1783080" cy="411480"/>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875520" y="3145536"/>
            <a:ext cx="1783080" cy="384048"/>
          </a:xfrm>
          <a:prstGeom prst="rect">
            <a:avLst/>
          </a:prstGeom>
          <a:noFill/>
        </p:spPr>
        <p:txBody>
          <a:bodyPr wrap="square">
            <a:spAutoFit/>
          </a:bodyPr>
          <a:lstStyle/>
          <a:p>
            <a:pPr algn="ctr"/>
            <a:r>
              <a:rPr sz="1100" b="1" i="0">
                <a:solidFill>
                  <a:srgbClr val="0D1B3E"/>
                </a:solidFill>
              </a:rPr>
              <a:t>CIBLE SECONDAIRE</a:t>
            </a:r>
          </a:p>
        </p:txBody>
      </p:sp>
      <p:sp>
        <p:nvSpPr>
          <p:cNvPr id="25" name="Rectangle 24"/>
          <p:cNvSpPr/>
          <p:nvPr/>
        </p:nvSpPr>
        <p:spPr>
          <a:xfrm>
            <a:off x="365760" y="4535424"/>
            <a:ext cx="11457432" cy="1389888"/>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4946904"/>
            <a:ext cx="731520" cy="640080"/>
          </a:xfrm>
          <a:prstGeom prst="rect">
            <a:avLst/>
          </a:prstGeom>
          <a:noFill/>
        </p:spPr>
        <p:txBody>
          <a:bodyPr wrap="square">
            <a:spAutoFit/>
          </a:bodyPr>
          <a:lstStyle/>
          <a:p>
            <a:pPr algn="ctr"/>
            <a:r>
              <a:rPr sz="3000" b="0" i="0">
                <a:solidFill>
                  <a:srgbClr val="FFFFFF"/>
                </a:solidFill>
              </a:rPr>
              <a:t>🎓</a:t>
            </a:r>
          </a:p>
        </p:txBody>
      </p:sp>
      <p:sp>
        <p:nvSpPr>
          <p:cNvPr id="27" name="TextBox 26"/>
          <p:cNvSpPr txBox="1"/>
          <p:nvPr/>
        </p:nvSpPr>
        <p:spPr>
          <a:xfrm>
            <a:off x="1371600" y="4645152"/>
            <a:ext cx="4114800" cy="502920"/>
          </a:xfrm>
          <a:prstGeom prst="rect">
            <a:avLst/>
          </a:prstGeom>
          <a:noFill/>
        </p:spPr>
        <p:txBody>
          <a:bodyPr wrap="square">
            <a:spAutoFit/>
          </a:bodyPr>
          <a:lstStyle/>
          <a:p>
            <a:pPr algn="l"/>
            <a:r>
              <a:rPr sz="2000" b="1" i="0">
                <a:solidFill>
                  <a:srgbClr val="FFC200"/>
                </a:solidFill>
              </a:rPr>
              <a:t>Professionnels &amp; Enseignants</a:t>
            </a:r>
          </a:p>
        </p:txBody>
      </p:sp>
      <p:sp>
        <p:nvSpPr>
          <p:cNvPr id="28" name="TextBox 27"/>
          <p:cNvSpPr txBox="1"/>
          <p:nvPr/>
        </p:nvSpPr>
        <p:spPr>
          <a:xfrm>
            <a:off x="1371600" y="5157216"/>
            <a:ext cx="4114800" cy="411480"/>
          </a:xfrm>
          <a:prstGeom prst="rect">
            <a:avLst/>
          </a:prstGeom>
          <a:noFill/>
        </p:spPr>
        <p:txBody>
          <a:bodyPr wrap="square">
            <a:spAutoFit/>
          </a:bodyPr>
          <a:lstStyle/>
          <a:p>
            <a:pPr algn="l"/>
            <a:r>
              <a:rPr sz="1400" b="0" i="1">
                <a:solidFill>
                  <a:srgbClr val="FFFFFF"/>
                </a:solidFill>
              </a:rPr>
              <a:t>25–50 ans — prescripteurs</a:t>
            </a:r>
          </a:p>
        </p:txBody>
      </p:sp>
      <p:sp>
        <p:nvSpPr>
          <p:cNvPr id="29" name="Rectangle 28"/>
          <p:cNvSpPr/>
          <p:nvPr/>
        </p:nvSpPr>
        <p:spPr>
          <a:xfrm>
            <a:off x="5669280" y="4718304"/>
            <a:ext cx="45720" cy="10058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852160" y="4700016"/>
            <a:ext cx="3840480" cy="731520"/>
          </a:xfrm>
          <a:prstGeom prst="rect">
            <a:avLst/>
          </a:prstGeom>
          <a:noFill/>
        </p:spPr>
        <p:txBody>
          <a:bodyPr wrap="square">
            <a:spAutoFit/>
          </a:bodyPr>
          <a:lstStyle/>
          <a:p>
            <a:pPr algn="l"/>
            <a:r>
              <a:rPr sz="1600" b="1" i="0">
                <a:solidFill>
                  <a:srgbClr val="FFFFFF"/>
                </a:solidFill>
              </a:rPr>
              <a:t>📊 75,2 % voient l'utilité
pour élèves / collègues</a:t>
            </a:r>
          </a:p>
        </p:txBody>
      </p:sp>
      <p:sp>
        <p:nvSpPr>
          <p:cNvPr id="31" name="Rectangle 30"/>
          <p:cNvSpPr/>
          <p:nvPr/>
        </p:nvSpPr>
        <p:spPr>
          <a:xfrm>
            <a:off x="9875520" y="4608576"/>
            <a:ext cx="1783080" cy="411480"/>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875520" y="4626864"/>
            <a:ext cx="1783080" cy="384048"/>
          </a:xfrm>
          <a:prstGeom prst="rect">
            <a:avLst/>
          </a:prstGeom>
          <a:noFill/>
        </p:spPr>
        <p:txBody>
          <a:bodyPr wrap="square">
            <a:spAutoFit/>
          </a:bodyPr>
          <a:lstStyle/>
          <a:p>
            <a:pPr algn="ctr"/>
            <a:r>
              <a:rPr sz="1100" b="1" i="0">
                <a:solidFill>
                  <a:srgbClr val="0D1B3E"/>
                </a:solidFill>
              </a:rPr>
              <a:t>PRESCRIPTEURS</a:t>
            </a:r>
          </a:p>
        </p:txBody>
      </p:sp>
      <p:sp>
        <p:nvSpPr>
          <p:cNvPr id="33" name="Rectangle 32"/>
          <p:cNvSpPr/>
          <p:nvPr/>
        </p:nvSpPr>
        <p:spPr>
          <a:xfrm>
            <a:off x="365760" y="6144768"/>
            <a:ext cx="11457432" cy="59436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5760" y="6144768"/>
            <a:ext cx="109728" cy="59436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94360" y="6217920"/>
            <a:ext cx="10972800" cy="475488"/>
          </a:xfrm>
          <a:prstGeom prst="rect">
            <a:avLst/>
          </a:prstGeom>
          <a:noFill/>
        </p:spPr>
        <p:txBody>
          <a:bodyPr wrap="square">
            <a:spAutoFit/>
          </a:bodyPr>
          <a:lstStyle/>
          <a:p>
            <a:pPr algn="l"/>
            <a:r>
              <a:rPr sz="1400" b="1" i="0">
                <a:solidFill>
                  <a:srgbClr val="0D1B3E"/>
                </a:solidFill>
              </a:rPr>
              <a:t>Stratégie indifférenciée : un seul produit pour tous les profils. Communication en priorité sur les parents et élèves lors de la rentrée scolaire.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MARKETING</a:t>
            </a:r>
          </a:p>
        </p:txBody>
      </p:sp>
      <p:sp>
        <p:nvSpPr>
          <p:cNvPr id="6" name="TextBox 5"/>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Ciblage &amp; Positionnement</a:t>
            </a:r>
          </a:p>
        </p:txBody>
      </p:sp>
      <p:sp>
        <p:nvSpPr>
          <p:cNvPr id="7" name="Rectangle 6"/>
          <p:cNvSpPr/>
          <p:nvPr/>
        </p:nvSpPr>
        <p:spPr>
          <a:xfrm>
            <a:off x="365760" y="1536192"/>
            <a:ext cx="5394960" cy="3291840"/>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1536192"/>
            <a:ext cx="5394960" cy="45720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572768"/>
            <a:ext cx="5394960" cy="384048"/>
          </a:xfrm>
          <a:prstGeom prst="rect">
            <a:avLst/>
          </a:prstGeom>
          <a:noFill/>
        </p:spPr>
        <p:txBody>
          <a:bodyPr wrap="square">
            <a:spAutoFit/>
          </a:bodyPr>
          <a:lstStyle/>
          <a:p>
            <a:pPr algn="ctr"/>
            <a:r>
              <a:rPr sz="1600" b="1" i="0">
                <a:solidFill>
                  <a:srgbClr val="FFFFFF"/>
                </a:solidFill>
              </a:rPr>
              <a:t>CIBLAGE</a:t>
            </a:r>
          </a:p>
        </p:txBody>
      </p:sp>
      <p:sp>
        <p:nvSpPr>
          <p:cNvPr id="10" name="Rectangle 9"/>
          <p:cNvSpPr/>
          <p:nvPr/>
        </p:nvSpPr>
        <p:spPr>
          <a:xfrm>
            <a:off x="502920" y="2084831"/>
            <a:ext cx="5120640" cy="768096"/>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2176272"/>
            <a:ext cx="3200400" cy="384048"/>
          </a:xfrm>
          <a:prstGeom prst="rect">
            <a:avLst/>
          </a:prstGeom>
          <a:noFill/>
        </p:spPr>
        <p:txBody>
          <a:bodyPr wrap="square">
            <a:spAutoFit/>
          </a:bodyPr>
          <a:lstStyle/>
          <a:p>
            <a:pPr algn="l"/>
            <a:r>
              <a:rPr sz="1500" b="1" i="0">
                <a:solidFill>
                  <a:srgbClr val="FFFFFF"/>
                </a:solidFill>
              </a:rPr>
              <a:t>🥇 Parents d'élèves</a:t>
            </a:r>
          </a:p>
        </p:txBody>
      </p:sp>
      <p:sp>
        <p:nvSpPr>
          <p:cNvPr id="12" name="TextBox 11"/>
          <p:cNvSpPr txBox="1"/>
          <p:nvPr/>
        </p:nvSpPr>
        <p:spPr>
          <a:xfrm>
            <a:off x="3931920" y="2176272"/>
            <a:ext cx="1554480" cy="384048"/>
          </a:xfrm>
          <a:prstGeom prst="rect">
            <a:avLst/>
          </a:prstGeom>
          <a:noFill/>
        </p:spPr>
        <p:txBody>
          <a:bodyPr wrap="square">
            <a:spAutoFit/>
          </a:bodyPr>
          <a:lstStyle/>
          <a:p>
            <a:pPr algn="r"/>
            <a:r>
              <a:rPr sz="1300" b="1" i="0">
                <a:solidFill>
                  <a:srgbClr val="FFC200"/>
                </a:solidFill>
              </a:rPr>
              <a:t>46,9 % prêts à acheter</a:t>
            </a:r>
          </a:p>
        </p:txBody>
      </p:sp>
      <p:sp>
        <p:nvSpPr>
          <p:cNvPr id="13" name="Rectangle 12"/>
          <p:cNvSpPr/>
          <p:nvPr/>
        </p:nvSpPr>
        <p:spPr>
          <a:xfrm>
            <a:off x="502920" y="2971800"/>
            <a:ext cx="5120640" cy="768096"/>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063240"/>
            <a:ext cx="3200400" cy="384048"/>
          </a:xfrm>
          <a:prstGeom prst="rect">
            <a:avLst/>
          </a:prstGeom>
          <a:noFill/>
        </p:spPr>
        <p:txBody>
          <a:bodyPr wrap="square">
            <a:spAutoFit/>
          </a:bodyPr>
          <a:lstStyle/>
          <a:p>
            <a:pPr algn="l"/>
            <a:r>
              <a:rPr sz="1500" b="1" i="0">
                <a:solidFill>
                  <a:srgbClr val="FFFFFF"/>
                </a:solidFill>
              </a:rPr>
              <a:t>🥈 Élèves &amp; étudiants</a:t>
            </a:r>
          </a:p>
        </p:txBody>
      </p:sp>
      <p:sp>
        <p:nvSpPr>
          <p:cNvPr id="15" name="TextBox 14"/>
          <p:cNvSpPr txBox="1"/>
          <p:nvPr/>
        </p:nvSpPr>
        <p:spPr>
          <a:xfrm>
            <a:off x="3931920" y="3063240"/>
            <a:ext cx="1554480" cy="384048"/>
          </a:xfrm>
          <a:prstGeom prst="rect">
            <a:avLst/>
          </a:prstGeom>
          <a:noFill/>
        </p:spPr>
        <p:txBody>
          <a:bodyPr wrap="square">
            <a:spAutoFit/>
          </a:bodyPr>
          <a:lstStyle/>
          <a:p>
            <a:pPr algn="r"/>
            <a:r>
              <a:rPr sz="1300" b="1" i="0">
                <a:solidFill>
                  <a:srgbClr val="FFC200"/>
                </a:solidFill>
              </a:rPr>
              <a:t>45 % font souvent des fautes</a:t>
            </a:r>
          </a:p>
        </p:txBody>
      </p:sp>
      <p:sp>
        <p:nvSpPr>
          <p:cNvPr id="16" name="Rectangle 15"/>
          <p:cNvSpPr/>
          <p:nvPr/>
        </p:nvSpPr>
        <p:spPr>
          <a:xfrm>
            <a:off x="502920" y="3858768"/>
            <a:ext cx="5120640" cy="768096"/>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950207"/>
            <a:ext cx="3200400" cy="384048"/>
          </a:xfrm>
          <a:prstGeom prst="rect">
            <a:avLst/>
          </a:prstGeom>
          <a:noFill/>
        </p:spPr>
        <p:txBody>
          <a:bodyPr wrap="square">
            <a:spAutoFit/>
          </a:bodyPr>
          <a:lstStyle/>
          <a:p>
            <a:pPr algn="l"/>
            <a:r>
              <a:rPr sz="1500" b="1" i="0">
                <a:solidFill>
                  <a:srgbClr val="FFFFFF"/>
                </a:solidFill>
              </a:rPr>
              <a:t>🥉 Professionnels</a:t>
            </a:r>
          </a:p>
        </p:txBody>
      </p:sp>
      <p:sp>
        <p:nvSpPr>
          <p:cNvPr id="18" name="TextBox 17"/>
          <p:cNvSpPr txBox="1"/>
          <p:nvPr/>
        </p:nvSpPr>
        <p:spPr>
          <a:xfrm>
            <a:off x="3931920" y="3950207"/>
            <a:ext cx="1554480" cy="384048"/>
          </a:xfrm>
          <a:prstGeom prst="rect">
            <a:avLst/>
          </a:prstGeom>
          <a:noFill/>
        </p:spPr>
        <p:txBody>
          <a:bodyPr wrap="square">
            <a:spAutoFit/>
          </a:bodyPr>
          <a:lstStyle/>
          <a:p>
            <a:pPr algn="r"/>
            <a:r>
              <a:rPr sz="1300" b="1" i="0">
                <a:solidFill>
                  <a:srgbClr val="FFC200"/>
                </a:solidFill>
              </a:rPr>
              <a:t>75,2 % voient l'utilité</a:t>
            </a:r>
          </a:p>
        </p:txBody>
      </p:sp>
      <p:sp>
        <p:nvSpPr>
          <p:cNvPr id="19" name="Rectangle 18"/>
          <p:cNvSpPr/>
          <p:nvPr/>
        </p:nvSpPr>
        <p:spPr>
          <a:xfrm>
            <a:off x="5943600" y="1536192"/>
            <a:ext cx="5925312" cy="329184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943600" y="1536192"/>
            <a:ext cx="5925312" cy="45720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0" y="1572768"/>
            <a:ext cx="5925312" cy="384048"/>
          </a:xfrm>
          <a:prstGeom prst="rect">
            <a:avLst/>
          </a:prstGeom>
          <a:noFill/>
        </p:spPr>
        <p:txBody>
          <a:bodyPr wrap="square">
            <a:spAutoFit/>
          </a:bodyPr>
          <a:lstStyle/>
          <a:p>
            <a:pPr algn="ctr"/>
            <a:r>
              <a:rPr sz="1600" b="1" i="0">
                <a:solidFill>
                  <a:srgbClr val="FFFFFF"/>
                </a:solidFill>
              </a:rPr>
              <a:t>POSITIONNEMENT</a:t>
            </a:r>
          </a:p>
        </p:txBody>
      </p:sp>
      <p:sp>
        <p:nvSpPr>
          <p:cNvPr id="22" name="TextBox 21"/>
          <p:cNvSpPr txBox="1"/>
          <p:nvPr/>
        </p:nvSpPr>
        <p:spPr>
          <a:xfrm>
            <a:off x="6126480" y="2084831"/>
            <a:ext cx="5577840" cy="365760"/>
          </a:xfrm>
          <a:prstGeom prst="rect">
            <a:avLst/>
          </a:prstGeom>
          <a:noFill/>
        </p:spPr>
        <p:txBody>
          <a:bodyPr wrap="square">
            <a:spAutoFit/>
          </a:bodyPr>
          <a:lstStyle/>
          <a:p>
            <a:pPr algn="l"/>
            <a:r>
              <a:rPr sz="1400" b="0" i="1">
                <a:solidFill>
                  <a:srgbClr val="4A90D9"/>
                </a:solidFill>
              </a:rPr>
              <a:t>Dans la tête du consommateur :</a:t>
            </a:r>
          </a:p>
        </p:txBody>
      </p:sp>
      <p:sp>
        <p:nvSpPr>
          <p:cNvPr id="23" name="Rectangle 22"/>
          <p:cNvSpPr/>
          <p:nvPr/>
        </p:nvSpPr>
        <p:spPr>
          <a:xfrm>
            <a:off x="6126480" y="2514600"/>
            <a:ext cx="5486400" cy="54864"/>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26480" y="2633472"/>
            <a:ext cx="5486400" cy="1417320"/>
          </a:xfrm>
          <a:prstGeom prst="rect">
            <a:avLst/>
          </a:prstGeom>
          <a:noFill/>
        </p:spPr>
        <p:txBody>
          <a:bodyPr wrap="square">
            <a:spAutoFit/>
          </a:bodyPr>
          <a:lstStyle/>
          <a:p>
            <a:pPr algn="ctr"/>
            <a:r>
              <a:rPr sz="2200" b="1" i="0">
                <a:solidFill>
                  <a:srgbClr val="FFFFFF"/>
                </a:solidFill>
              </a:rPr>
              <a:t>« Le stylo intelligent
qui corrige mes fautes
quand j'écris à la main »</a:t>
            </a:r>
          </a:p>
        </p:txBody>
      </p:sp>
      <p:sp>
        <p:nvSpPr>
          <p:cNvPr id="25" name="TextBox 24"/>
          <p:cNvSpPr txBox="1"/>
          <p:nvPr/>
        </p:nvSpPr>
        <p:spPr>
          <a:xfrm>
            <a:off x="6126480" y="4069080"/>
            <a:ext cx="5486400" cy="384048"/>
          </a:xfrm>
          <a:prstGeom prst="rect">
            <a:avLst/>
          </a:prstGeom>
          <a:noFill/>
        </p:spPr>
        <p:txBody>
          <a:bodyPr wrap="square">
            <a:spAutoFit/>
          </a:bodyPr>
          <a:lstStyle/>
          <a:p>
            <a:pPr algn="ctr"/>
            <a:r>
              <a:rPr sz="1300" b="0" i="1">
                <a:solidFill>
                  <a:srgbClr val="4A90D9"/>
                </a:solidFill>
              </a:rPr>
              <a:t>Axe fonctionnel · Émotionnel · Made in France</a:t>
            </a:r>
          </a:p>
        </p:txBody>
      </p:sp>
      <p:sp>
        <p:nvSpPr>
          <p:cNvPr id="26" name="Rectangle 25"/>
          <p:cNvSpPr/>
          <p:nvPr/>
        </p:nvSpPr>
        <p:spPr>
          <a:xfrm>
            <a:off x="365760" y="4983480"/>
            <a:ext cx="11457432" cy="1691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5760" y="4983480"/>
            <a:ext cx="109728" cy="169164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47488"/>
            <a:ext cx="10972800" cy="384048"/>
          </a:xfrm>
          <a:prstGeom prst="rect">
            <a:avLst/>
          </a:prstGeom>
          <a:noFill/>
        </p:spPr>
        <p:txBody>
          <a:bodyPr wrap="square">
            <a:spAutoFit/>
          </a:bodyPr>
          <a:lstStyle/>
          <a:p>
            <a:pPr algn="l"/>
            <a:r>
              <a:rPr sz="1600" b="1" i="0">
                <a:solidFill>
                  <a:srgbClr val="0D1B3E"/>
                </a:solidFill>
              </a:rPr>
              <a:t>Axes de communication</a:t>
            </a:r>
          </a:p>
        </p:txBody>
      </p:sp>
      <p:sp>
        <p:nvSpPr>
          <p:cNvPr id="29" name="Rectangle 28"/>
          <p:cNvSpPr/>
          <p:nvPr/>
        </p:nvSpPr>
        <p:spPr>
          <a:xfrm>
            <a:off x="502920" y="5468112"/>
            <a:ext cx="2697480" cy="111556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94360" y="5532120"/>
            <a:ext cx="2514600" cy="384048"/>
          </a:xfrm>
          <a:prstGeom prst="rect">
            <a:avLst/>
          </a:prstGeom>
          <a:noFill/>
        </p:spPr>
        <p:txBody>
          <a:bodyPr wrap="square">
            <a:spAutoFit/>
          </a:bodyPr>
          <a:lstStyle/>
          <a:p>
            <a:pPr algn="l"/>
            <a:r>
              <a:rPr sz="1300" b="1" i="0">
                <a:solidFill>
                  <a:srgbClr val="FFC200"/>
                </a:solidFill>
              </a:rPr>
              <a:t>🎯 Fonctionnel</a:t>
            </a:r>
          </a:p>
        </p:txBody>
      </p:sp>
      <p:sp>
        <p:nvSpPr>
          <p:cNvPr id="31" name="TextBox 30"/>
          <p:cNvSpPr txBox="1"/>
          <p:nvPr/>
        </p:nvSpPr>
        <p:spPr>
          <a:xfrm>
            <a:off x="594360" y="5925312"/>
            <a:ext cx="2514600" cy="594360"/>
          </a:xfrm>
          <a:prstGeom prst="rect">
            <a:avLst/>
          </a:prstGeom>
          <a:noFill/>
        </p:spPr>
        <p:txBody>
          <a:bodyPr wrap="square">
            <a:spAutoFit/>
          </a:bodyPr>
          <a:lstStyle/>
          <a:p>
            <a:pPr algn="l"/>
            <a:r>
              <a:rPr sz="1300" b="0" i="0">
                <a:solidFill>
                  <a:srgbClr val="FFFFFF"/>
                </a:solidFill>
              </a:rPr>
              <a:t>Correction orthographique
en temps réel sur papier</a:t>
            </a:r>
          </a:p>
        </p:txBody>
      </p:sp>
      <p:sp>
        <p:nvSpPr>
          <p:cNvPr id="32" name="Rectangle 31"/>
          <p:cNvSpPr/>
          <p:nvPr/>
        </p:nvSpPr>
        <p:spPr>
          <a:xfrm>
            <a:off x="3337560" y="5468112"/>
            <a:ext cx="2697480" cy="1115568"/>
          </a:xfrm>
          <a:prstGeom prst="rect">
            <a:avLst/>
          </a:prstGeom>
          <a:solidFill>
            <a:srgbClr val="C0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29000" y="5532120"/>
            <a:ext cx="2514600" cy="384048"/>
          </a:xfrm>
          <a:prstGeom prst="rect">
            <a:avLst/>
          </a:prstGeom>
          <a:noFill/>
        </p:spPr>
        <p:txBody>
          <a:bodyPr wrap="square">
            <a:spAutoFit/>
          </a:bodyPr>
          <a:lstStyle/>
          <a:p>
            <a:pPr algn="l"/>
            <a:r>
              <a:rPr sz="1300" b="1" i="0">
                <a:solidFill>
                  <a:srgbClr val="FFC200"/>
                </a:solidFill>
              </a:rPr>
              <a:t>❤️ Émotionnel</a:t>
            </a:r>
          </a:p>
        </p:txBody>
      </p:sp>
      <p:sp>
        <p:nvSpPr>
          <p:cNvPr id="34" name="TextBox 33"/>
          <p:cNvSpPr txBox="1"/>
          <p:nvPr/>
        </p:nvSpPr>
        <p:spPr>
          <a:xfrm>
            <a:off x="3429000" y="5925312"/>
            <a:ext cx="2514600" cy="594360"/>
          </a:xfrm>
          <a:prstGeom prst="rect">
            <a:avLst/>
          </a:prstGeom>
          <a:noFill/>
        </p:spPr>
        <p:txBody>
          <a:bodyPr wrap="square">
            <a:spAutoFit/>
          </a:bodyPr>
          <a:lstStyle/>
          <a:p>
            <a:pPr algn="l"/>
            <a:r>
              <a:rPr sz="1300" b="0" i="0">
                <a:solidFill>
                  <a:srgbClr val="FFFFFF"/>
                </a:solidFill>
              </a:rPr>
              <a:t>Confiance en soi
Réussite scolaire et pro</a:t>
            </a:r>
          </a:p>
        </p:txBody>
      </p:sp>
      <p:sp>
        <p:nvSpPr>
          <p:cNvPr id="35" name="Rectangle 34"/>
          <p:cNvSpPr/>
          <p:nvPr/>
        </p:nvSpPr>
        <p:spPr>
          <a:xfrm>
            <a:off x="6172200" y="5468112"/>
            <a:ext cx="2697480" cy="1115568"/>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263640" y="5532120"/>
            <a:ext cx="2514600" cy="384048"/>
          </a:xfrm>
          <a:prstGeom prst="rect">
            <a:avLst/>
          </a:prstGeom>
          <a:noFill/>
        </p:spPr>
        <p:txBody>
          <a:bodyPr wrap="square">
            <a:spAutoFit/>
          </a:bodyPr>
          <a:lstStyle/>
          <a:p>
            <a:pPr algn="l"/>
            <a:r>
              <a:rPr sz="1300" b="1" i="0">
                <a:solidFill>
                  <a:srgbClr val="FFC200"/>
                </a:solidFill>
              </a:rPr>
              <a:t>🏅 Symbolique</a:t>
            </a:r>
          </a:p>
        </p:txBody>
      </p:sp>
      <p:sp>
        <p:nvSpPr>
          <p:cNvPr id="37" name="TextBox 36"/>
          <p:cNvSpPr txBox="1"/>
          <p:nvPr/>
        </p:nvSpPr>
        <p:spPr>
          <a:xfrm>
            <a:off x="6263640" y="5925312"/>
            <a:ext cx="2514600" cy="594360"/>
          </a:xfrm>
          <a:prstGeom prst="rect">
            <a:avLst/>
          </a:prstGeom>
          <a:noFill/>
        </p:spPr>
        <p:txBody>
          <a:bodyPr wrap="square">
            <a:spAutoFit/>
          </a:bodyPr>
          <a:lstStyle/>
          <a:p>
            <a:pPr algn="l"/>
            <a:r>
              <a:rPr sz="1300" b="0" i="0">
                <a:solidFill>
                  <a:srgbClr val="FFFFFF"/>
                </a:solidFill>
              </a:rPr>
              <a:t>Produit made in France
Discrèt et innovant</a:t>
            </a:r>
          </a:p>
        </p:txBody>
      </p:sp>
      <p:sp>
        <p:nvSpPr>
          <p:cNvPr id="38" name="Rectangle 37"/>
          <p:cNvSpPr/>
          <p:nvPr/>
        </p:nvSpPr>
        <p:spPr>
          <a:xfrm>
            <a:off x="9006840" y="5468112"/>
            <a:ext cx="2697480" cy="1115568"/>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098280" y="5532120"/>
            <a:ext cx="2514600" cy="384048"/>
          </a:xfrm>
          <a:prstGeom prst="rect">
            <a:avLst/>
          </a:prstGeom>
          <a:noFill/>
        </p:spPr>
        <p:txBody>
          <a:bodyPr wrap="square">
            <a:spAutoFit/>
          </a:bodyPr>
          <a:lstStyle/>
          <a:p>
            <a:pPr algn="l"/>
            <a:r>
              <a:rPr sz="1300" b="1" i="0">
                <a:solidFill>
                  <a:srgbClr val="FFC200"/>
                </a:solidFill>
              </a:rPr>
              <a:t>📱 Digital</a:t>
            </a:r>
          </a:p>
        </p:txBody>
      </p:sp>
      <p:sp>
        <p:nvSpPr>
          <p:cNvPr id="40" name="TextBox 39"/>
          <p:cNvSpPr txBox="1"/>
          <p:nvPr/>
        </p:nvSpPr>
        <p:spPr>
          <a:xfrm>
            <a:off x="9098280" y="5925312"/>
            <a:ext cx="2514600" cy="594360"/>
          </a:xfrm>
          <a:prstGeom prst="rect">
            <a:avLst/>
          </a:prstGeom>
          <a:noFill/>
        </p:spPr>
        <p:txBody>
          <a:bodyPr wrap="square">
            <a:spAutoFit/>
          </a:bodyPr>
          <a:lstStyle/>
          <a:p>
            <a:pPr algn="l"/>
            <a:r>
              <a:rPr sz="1300" b="0" i="0">
                <a:solidFill>
                  <a:srgbClr val="FFFFFF"/>
                </a:solidFill>
              </a:rPr>
              <a:t>Aucun concurrent
sur papier — USP unique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MARKETING</a:t>
            </a:r>
          </a:p>
        </p:txBody>
      </p:sp>
      <p:sp>
        <p:nvSpPr>
          <p:cNvPr id="5" name="TextBox 4"/>
          <p:cNvSpPr txBox="1"/>
          <p:nvPr/>
        </p:nvSpPr>
        <p:spPr>
          <a:xfrm>
            <a:off x="457200" y="320040"/>
            <a:ext cx="9144000" cy="1371600"/>
          </a:xfrm>
          <a:prstGeom prst="rect">
            <a:avLst/>
          </a:prstGeom>
          <a:noFill/>
        </p:spPr>
        <p:txBody>
          <a:bodyPr wrap="square">
            <a:spAutoFit/>
          </a:bodyPr>
          <a:lstStyle/>
          <a:p>
            <a:pPr algn="l"/>
            <a:r>
              <a:rPr sz="4200" b="1" i="0">
                <a:solidFill>
                  <a:srgbClr val="FFFFFF"/>
                </a:solidFill>
              </a:rPr>
              <a:t>Bénéfice
Consommateur</a:t>
            </a:r>
          </a:p>
        </p:txBody>
      </p:sp>
      <p:sp>
        <p:nvSpPr>
          <p:cNvPr id="6" name="Rectangle 5"/>
          <p:cNvSpPr/>
          <p:nvPr/>
        </p:nvSpPr>
        <p:spPr>
          <a:xfrm>
            <a:off x="457200" y="1691640"/>
            <a:ext cx="11274552" cy="73152"/>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920240"/>
            <a:ext cx="3749039" cy="324612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2011680"/>
            <a:ext cx="3749039" cy="685800"/>
          </a:xfrm>
          <a:prstGeom prst="rect">
            <a:avLst/>
          </a:prstGeom>
          <a:noFill/>
        </p:spPr>
        <p:txBody>
          <a:bodyPr wrap="square">
            <a:spAutoFit/>
          </a:bodyPr>
          <a:lstStyle/>
          <a:p>
            <a:pPr algn="ctr"/>
            <a:r>
              <a:rPr sz="3200" b="0" i="0">
                <a:solidFill>
                  <a:srgbClr val="FFFFFF"/>
                </a:solidFill>
              </a:rPr>
              <a:t>🔧</a:t>
            </a:r>
          </a:p>
        </p:txBody>
      </p:sp>
      <p:sp>
        <p:nvSpPr>
          <p:cNvPr id="9" name="TextBox 8"/>
          <p:cNvSpPr txBox="1"/>
          <p:nvPr/>
        </p:nvSpPr>
        <p:spPr>
          <a:xfrm>
            <a:off x="502920" y="2715768"/>
            <a:ext cx="3474720" cy="640080"/>
          </a:xfrm>
          <a:prstGeom prst="rect">
            <a:avLst/>
          </a:prstGeom>
          <a:noFill/>
        </p:spPr>
        <p:txBody>
          <a:bodyPr wrap="square">
            <a:spAutoFit/>
          </a:bodyPr>
          <a:lstStyle/>
          <a:p>
            <a:pPr algn="ctr"/>
            <a:r>
              <a:rPr sz="1800" b="1" i="0">
                <a:solidFill>
                  <a:srgbClr val="FFC200"/>
                </a:solidFill>
              </a:rPr>
              <a:t>Bénéfice
Fonctionnel</a:t>
            </a:r>
          </a:p>
        </p:txBody>
      </p:sp>
      <p:sp>
        <p:nvSpPr>
          <p:cNvPr id="10" name="TextBox 9"/>
          <p:cNvSpPr txBox="1"/>
          <p:nvPr/>
        </p:nvSpPr>
        <p:spPr>
          <a:xfrm>
            <a:off x="502920" y="3337560"/>
            <a:ext cx="3474720" cy="347472"/>
          </a:xfrm>
          <a:prstGeom prst="rect">
            <a:avLst/>
          </a:prstGeom>
          <a:noFill/>
        </p:spPr>
        <p:txBody>
          <a:bodyPr wrap="square">
            <a:spAutoFit/>
          </a:bodyPr>
          <a:lstStyle/>
          <a:p>
            <a:pPr algn="ctr"/>
            <a:r>
              <a:rPr sz="1200" b="0" i="1">
                <a:solidFill>
                  <a:srgbClr val="C8D8E8"/>
                </a:solidFill>
              </a:rPr>
              <a:t>Ce que le produit fait</a:t>
            </a:r>
          </a:p>
        </p:txBody>
      </p:sp>
      <p:sp>
        <p:nvSpPr>
          <p:cNvPr id="11" name="Rectangle 10"/>
          <p:cNvSpPr/>
          <p:nvPr/>
        </p:nvSpPr>
        <p:spPr>
          <a:xfrm>
            <a:off x="685800" y="3675887"/>
            <a:ext cx="310896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 y="3794760"/>
            <a:ext cx="3383280" cy="1261872"/>
          </a:xfrm>
          <a:prstGeom prst="rect">
            <a:avLst/>
          </a:prstGeom>
          <a:noFill/>
        </p:spPr>
        <p:txBody>
          <a:bodyPr wrap="square">
            <a:spAutoFit/>
          </a:bodyPr>
          <a:lstStyle/>
          <a:p>
            <a:pPr algn="l"/>
            <a:r>
              <a:rPr sz="1300" b="0" i="0">
                <a:solidFill>
                  <a:srgbClr val="FFFFFF"/>
                </a:solidFill>
              </a:rPr>
              <a:t>Corriger les fautes d'orthographe en temps réel sur papier, sans connexion, en situation de manuscrit (école, bureau, examen).</a:t>
            </a:r>
          </a:p>
        </p:txBody>
      </p:sp>
      <p:sp>
        <p:nvSpPr>
          <p:cNvPr id="13" name="Rectangle 12"/>
          <p:cNvSpPr/>
          <p:nvPr/>
        </p:nvSpPr>
        <p:spPr>
          <a:xfrm>
            <a:off x="4297680" y="1920240"/>
            <a:ext cx="3749039" cy="3246120"/>
          </a:xfrm>
          <a:prstGeom prst="rect">
            <a:avLst/>
          </a:prstGeom>
          <a:solidFill>
            <a:srgbClr val="C03A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2011680"/>
            <a:ext cx="3749039" cy="685800"/>
          </a:xfrm>
          <a:prstGeom prst="rect">
            <a:avLst/>
          </a:prstGeom>
          <a:noFill/>
        </p:spPr>
        <p:txBody>
          <a:bodyPr wrap="square">
            <a:spAutoFit/>
          </a:bodyPr>
          <a:lstStyle/>
          <a:p>
            <a:pPr algn="ctr"/>
            <a:r>
              <a:rPr sz="3200" b="0" i="0">
                <a:solidFill>
                  <a:srgbClr val="FFFFFF"/>
                </a:solidFill>
              </a:rPr>
              <a:t>❤️</a:t>
            </a:r>
          </a:p>
        </p:txBody>
      </p:sp>
      <p:sp>
        <p:nvSpPr>
          <p:cNvPr id="15" name="TextBox 14"/>
          <p:cNvSpPr txBox="1"/>
          <p:nvPr/>
        </p:nvSpPr>
        <p:spPr>
          <a:xfrm>
            <a:off x="4434840" y="2715768"/>
            <a:ext cx="3474720" cy="640080"/>
          </a:xfrm>
          <a:prstGeom prst="rect">
            <a:avLst/>
          </a:prstGeom>
          <a:noFill/>
        </p:spPr>
        <p:txBody>
          <a:bodyPr wrap="square">
            <a:spAutoFit/>
          </a:bodyPr>
          <a:lstStyle/>
          <a:p>
            <a:pPr algn="ctr"/>
            <a:r>
              <a:rPr sz="1800" b="1" i="0">
                <a:solidFill>
                  <a:srgbClr val="FFC200"/>
                </a:solidFill>
              </a:rPr>
              <a:t>Bénéfice
Émotionnel</a:t>
            </a:r>
          </a:p>
        </p:txBody>
      </p:sp>
      <p:sp>
        <p:nvSpPr>
          <p:cNvPr id="16" name="TextBox 15"/>
          <p:cNvSpPr txBox="1"/>
          <p:nvPr/>
        </p:nvSpPr>
        <p:spPr>
          <a:xfrm>
            <a:off x="4434840" y="3337560"/>
            <a:ext cx="3474720" cy="347472"/>
          </a:xfrm>
          <a:prstGeom prst="rect">
            <a:avLst/>
          </a:prstGeom>
          <a:noFill/>
        </p:spPr>
        <p:txBody>
          <a:bodyPr wrap="square">
            <a:spAutoFit/>
          </a:bodyPr>
          <a:lstStyle/>
          <a:p>
            <a:pPr algn="ctr"/>
            <a:r>
              <a:rPr sz="1200" b="0" i="1">
                <a:solidFill>
                  <a:srgbClr val="C8D8E8"/>
                </a:solidFill>
              </a:rPr>
              <a:t>Ce que l'utilisateur ressent</a:t>
            </a:r>
          </a:p>
        </p:txBody>
      </p:sp>
      <p:sp>
        <p:nvSpPr>
          <p:cNvPr id="17" name="Rectangle 16"/>
          <p:cNvSpPr/>
          <p:nvPr/>
        </p:nvSpPr>
        <p:spPr>
          <a:xfrm>
            <a:off x="4617720" y="3675887"/>
            <a:ext cx="310896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80560" y="3794760"/>
            <a:ext cx="3383280" cy="1261872"/>
          </a:xfrm>
          <a:prstGeom prst="rect">
            <a:avLst/>
          </a:prstGeom>
          <a:noFill/>
        </p:spPr>
        <p:txBody>
          <a:bodyPr wrap="square">
            <a:spAutoFit/>
          </a:bodyPr>
          <a:lstStyle/>
          <a:p>
            <a:pPr algn="l"/>
            <a:r>
              <a:rPr sz="1300" b="0" i="0">
                <a:solidFill>
                  <a:srgbClr val="FFFFFF"/>
                </a:solidFill>
              </a:rPr>
              <a:t>Confiance en soi, réduction de la honte liée aux fautes, sérénité lors des examens et prises de notes importantes.</a:t>
            </a:r>
          </a:p>
        </p:txBody>
      </p:sp>
      <p:sp>
        <p:nvSpPr>
          <p:cNvPr id="19" name="Rectangle 18"/>
          <p:cNvSpPr/>
          <p:nvPr/>
        </p:nvSpPr>
        <p:spPr>
          <a:xfrm>
            <a:off x="8229600" y="1920240"/>
            <a:ext cx="3749039" cy="3246120"/>
          </a:xfrm>
          <a:prstGeom prst="rect">
            <a:avLst/>
          </a:prstGeom>
          <a:solidFill>
            <a:srgbClr val="7B3F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2011680"/>
            <a:ext cx="3749039" cy="685800"/>
          </a:xfrm>
          <a:prstGeom prst="rect">
            <a:avLst/>
          </a:prstGeom>
          <a:noFill/>
        </p:spPr>
        <p:txBody>
          <a:bodyPr wrap="square">
            <a:spAutoFit/>
          </a:bodyPr>
          <a:lstStyle/>
          <a:p>
            <a:pPr algn="ctr"/>
            <a:r>
              <a:rPr sz="3200" b="0" i="0">
                <a:solidFill>
                  <a:srgbClr val="FFFFFF"/>
                </a:solidFill>
              </a:rPr>
              <a:t>🏆</a:t>
            </a:r>
          </a:p>
        </p:txBody>
      </p:sp>
      <p:sp>
        <p:nvSpPr>
          <p:cNvPr id="21" name="TextBox 20"/>
          <p:cNvSpPr txBox="1"/>
          <p:nvPr/>
        </p:nvSpPr>
        <p:spPr>
          <a:xfrm>
            <a:off x="8366760" y="2715768"/>
            <a:ext cx="3474720" cy="640080"/>
          </a:xfrm>
          <a:prstGeom prst="rect">
            <a:avLst/>
          </a:prstGeom>
          <a:noFill/>
        </p:spPr>
        <p:txBody>
          <a:bodyPr wrap="square">
            <a:spAutoFit/>
          </a:bodyPr>
          <a:lstStyle/>
          <a:p>
            <a:pPr algn="ctr"/>
            <a:r>
              <a:rPr sz="1800" b="1" i="0">
                <a:solidFill>
                  <a:srgbClr val="FFC200"/>
                </a:solidFill>
              </a:rPr>
              <a:t>Bénéfice
Symbolique</a:t>
            </a:r>
          </a:p>
        </p:txBody>
      </p:sp>
      <p:sp>
        <p:nvSpPr>
          <p:cNvPr id="22" name="TextBox 21"/>
          <p:cNvSpPr txBox="1"/>
          <p:nvPr/>
        </p:nvSpPr>
        <p:spPr>
          <a:xfrm>
            <a:off x="8366760" y="3337560"/>
            <a:ext cx="3474720" cy="347472"/>
          </a:xfrm>
          <a:prstGeom prst="rect">
            <a:avLst/>
          </a:prstGeom>
          <a:noFill/>
        </p:spPr>
        <p:txBody>
          <a:bodyPr wrap="square">
            <a:spAutoFit/>
          </a:bodyPr>
          <a:lstStyle/>
          <a:p>
            <a:pPr algn="ctr"/>
            <a:r>
              <a:rPr sz="1200" b="0" i="1">
                <a:solidFill>
                  <a:srgbClr val="C8D8E8"/>
                </a:solidFill>
              </a:rPr>
              <a:t>Ce que le produit dit de soi</a:t>
            </a:r>
          </a:p>
        </p:txBody>
      </p:sp>
      <p:sp>
        <p:nvSpPr>
          <p:cNvPr id="23" name="Rectangle 22"/>
          <p:cNvSpPr/>
          <p:nvPr/>
        </p:nvSpPr>
        <p:spPr>
          <a:xfrm>
            <a:off x="8549640" y="3675887"/>
            <a:ext cx="3108960"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0" y="3794760"/>
            <a:ext cx="3383280" cy="1261872"/>
          </a:xfrm>
          <a:prstGeom prst="rect">
            <a:avLst/>
          </a:prstGeom>
          <a:noFill/>
        </p:spPr>
        <p:txBody>
          <a:bodyPr wrap="square">
            <a:spAutoFit/>
          </a:bodyPr>
          <a:lstStyle/>
          <a:p>
            <a:pPr algn="l"/>
            <a:r>
              <a:rPr sz="1300" b="0" i="0">
                <a:solidFill>
                  <a:srgbClr val="FFFFFF"/>
                </a:solidFill>
              </a:rPr>
              <a:t>Utiliser un produit made in France innovant. Montrer qu'on valorise l'écrit soigné tout en adoptant les nouvelles technologies.</a:t>
            </a:r>
          </a:p>
        </p:txBody>
      </p:sp>
      <p:sp>
        <p:nvSpPr>
          <p:cNvPr id="25" name="Rectangle 24"/>
          <p:cNvSpPr/>
          <p:nvPr/>
        </p:nvSpPr>
        <p:spPr>
          <a:xfrm>
            <a:off x="365760" y="5349240"/>
            <a:ext cx="11457432" cy="1325880"/>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5440680"/>
            <a:ext cx="10972800" cy="384048"/>
          </a:xfrm>
          <a:prstGeom prst="rect">
            <a:avLst/>
          </a:prstGeom>
          <a:noFill/>
        </p:spPr>
        <p:txBody>
          <a:bodyPr wrap="square">
            <a:spAutoFit/>
          </a:bodyPr>
          <a:lstStyle/>
          <a:p>
            <a:pPr algn="l"/>
            <a:r>
              <a:rPr sz="1500" b="1" i="0">
                <a:solidFill>
                  <a:srgbClr val="0D1B3E"/>
                </a:solidFill>
              </a:rPr>
              <a:t>Bénéfice synthétique :</a:t>
            </a:r>
          </a:p>
        </p:txBody>
      </p:sp>
      <p:sp>
        <p:nvSpPr>
          <p:cNvPr id="27" name="TextBox 26"/>
          <p:cNvSpPr txBox="1"/>
          <p:nvPr/>
        </p:nvSpPr>
        <p:spPr>
          <a:xfrm>
            <a:off x="640080" y="5833872"/>
            <a:ext cx="10881360" cy="749808"/>
          </a:xfrm>
          <a:prstGeom prst="rect">
            <a:avLst/>
          </a:prstGeom>
          <a:noFill/>
        </p:spPr>
        <p:txBody>
          <a:bodyPr wrap="square">
            <a:spAutoFit/>
          </a:bodyPr>
          <a:lstStyle/>
          <a:p>
            <a:pPr algn="ctr"/>
            <a:r>
              <a:rPr sz="1800" b="1" i="0">
                <a:solidFill>
                  <a:srgbClr val="0D1B3E"/>
                </a:solidFill>
              </a:rPr>
              <a:t>« Avec le Stylo Ortho, j'écris à la main sans stresser pour mes fautes — en cours, au bureau ou en examen, c'est le seul outil qui fait ça sur papier. »</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MARKETING MIX</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P1 — Produit</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Le Stylo Ortho : un stylo intelligent qui aide à écrire sans fautes</a:t>
            </a:r>
          </a:p>
        </p:txBody>
      </p:sp>
      <p:sp>
        <p:nvSpPr>
          <p:cNvPr id="9" name="Rectangle 8"/>
          <p:cNvSpPr/>
          <p:nvPr/>
        </p:nvSpPr>
        <p:spPr>
          <a:xfrm>
            <a:off x="4389120" y="1572768"/>
            <a:ext cx="3429000" cy="283464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389120" y="1664208"/>
            <a:ext cx="3429000" cy="1371600"/>
          </a:xfrm>
          <a:prstGeom prst="rect">
            <a:avLst/>
          </a:prstGeom>
          <a:noFill/>
        </p:spPr>
        <p:txBody>
          <a:bodyPr wrap="square">
            <a:spAutoFit/>
          </a:bodyPr>
          <a:lstStyle/>
          <a:p>
            <a:pPr algn="ctr"/>
            <a:r>
              <a:rPr sz="6200" b="0" i="0">
                <a:solidFill>
                  <a:srgbClr val="FFFFFF"/>
                </a:solidFill>
              </a:rPr>
              <a:t>✏️</a:t>
            </a:r>
          </a:p>
        </p:txBody>
      </p:sp>
      <p:sp>
        <p:nvSpPr>
          <p:cNvPr id="11" name="TextBox 10"/>
          <p:cNvSpPr txBox="1"/>
          <p:nvPr/>
        </p:nvSpPr>
        <p:spPr>
          <a:xfrm>
            <a:off x="4389120" y="3017520"/>
            <a:ext cx="3429000" cy="777240"/>
          </a:xfrm>
          <a:prstGeom prst="rect">
            <a:avLst/>
          </a:prstGeom>
          <a:noFill/>
        </p:spPr>
        <p:txBody>
          <a:bodyPr wrap="square">
            <a:spAutoFit/>
          </a:bodyPr>
          <a:lstStyle/>
          <a:p>
            <a:pPr algn="ctr"/>
            <a:r>
              <a:rPr sz="1800" b="1" i="0">
                <a:solidFill>
                  <a:srgbClr val="FFC200"/>
                </a:solidFill>
              </a:rPr>
              <a:t>Stylo Ortho
Standard</a:t>
            </a:r>
          </a:p>
        </p:txBody>
      </p:sp>
      <p:sp>
        <p:nvSpPr>
          <p:cNvPr id="12" name="TextBox 11"/>
          <p:cNvSpPr txBox="1"/>
          <p:nvPr/>
        </p:nvSpPr>
        <p:spPr>
          <a:xfrm>
            <a:off x="4389120" y="3749039"/>
            <a:ext cx="3429000" cy="457200"/>
          </a:xfrm>
          <a:prstGeom prst="rect">
            <a:avLst/>
          </a:prstGeom>
          <a:noFill/>
        </p:spPr>
        <p:txBody>
          <a:bodyPr wrap="square">
            <a:spAutoFit/>
          </a:bodyPr>
          <a:lstStyle/>
          <a:p>
            <a:pPr algn="ctr"/>
            <a:r>
              <a:rPr sz="1300" b="0" i="1">
                <a:solidFill>
                  <a:srgbClr val="FFFFFF"/>
                </a:solidFill>
              </a:rPr>
              <a:t>Assemblé en France 🇫🇷</a:t>
            </a:r>
          </a:p>
        </p:txBody>
      </p:sp>
      <p:sp>
        <p:nvSpPr>
          <p:cNvPr id="13" name="Rectangle 12"/>
          <p:cNvSpPr/>
          <p:nvPr/>
        </p:nvSpPr>
        <p:spPr>
          <a:xfrm>
            <a:off x="365760" y="1664208"/>
            <a:ext cx="3749039" cy="804672"/>
          </a:xfrm>
          <a:prstGeom prst="rect">
            <a:avLst/>
          </a:prstGeom>
          <a:solidFill>
            <a:srgbClr val="1E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2920" y="1737360"/>
            <a:ext cx="3474720" cy="347472"/>
          </a:xfrm>
          <a:prstGeom prst="rect">
            <a:avLst/>
          </a:prstGeom>
          <a:noFill/>
        </p:spPr>
        <p:txBody>
          <a:bodyPr wrap="square">
            <a:spAutoFit/>
          </a:bodyPr>
          <a:lstStyle/>
          <a:p>
            <a:pPr algn="l"/>
            <a:r>
              <a:rPr sz="1400" b="1" i="0">
                <a:solidFill>
                  <a:srgbClr val="FFC200"/>
                </a:solidFill>
              </a:rPr>
              <a:t>⚡ Recharge USB-C</a:t>
            </a:r>
          </a:p>
        </p:txBody>
      </p:sp>
      <p:sp>
        <p:nvSpPr>
          <p:cNvPr id="15" name="TextBox 14"/>
          <p:cNvSpPr txBox="1"/>
          <p:nvPr/>
        </p:nvSpPr>
        <p:spPr>
          <a:xfrm>
            <a:off x="502920" y="2103120"/>
            <a:ext cx="3474720" cy="292608"/>
          </a:xfrm>
          <a:prstGeom prst="rect">
            <a:avLst/>
          </a:prstGeom>
          <a:noFill/>
        </p:spPr>
        <p:txBody>
          <a:bodyPr wrap="square">
            <a:spAutoFit/>
          </a:bodyPr>
          <a:lstStyle/>
          <a:p>
            <a:pPr algn="l"/>
            <a:r>
              <a:rPr sz="1300" b="0" i="0">
                <a:solidFill>
                  <a:srgbClr val="FFFFFF"/>
                </a:solidFill>
              </a:rPr>
              <a:t>15 minutes de charge</a:t>
            </a:r>
          </a:p>
        </p:txBody>
      </p:sp>
      <p:sp>
        <p:nvSpPr>
          <p:cNvPr id="16" name="Rectangle 15"/>
          <p:cNvSpPr/>
          <p:nvPr/>
        </p:nvSpPr>
        <p:spPr>
          <a:xfrm>
            <a:off x="365760" y="2596896"/>
            <a:ext cx="3749039" cy="804672"/>
          </a:xfrm>
          <a:prstGeom prst="rect">
            <a:avLst/>
          </a:prstGeom>
          <a:solidFill>
            <a:srgbClr val="1E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02920" y="2670048"/>
            <a:ext cx="3474720" cy="347472"/>
          </a:xfrm>
          <a:prstGeom prst="rect">
            <a:avLst/>
          </a:prstGeom>
          <a:noFill/>
        </p:spPr>
        <p:txBody>
          <a:bodyPr wrap="square">
            <a:spAutoFit/>
          </a:bodyPr>
          <a:lstStyle/>
          <a:p>
            <a:pPr algn="l"/>
            <a:r>
              <a:rPr sz="1400" b="1" i="0">
                <a:solidFill>
                  <a:srgbClr val="FFC200"/>
                </a:solidFill>
              </a:rPr>
              <a:t>🔄 Encre rechargeable</a:t>
            </a:r>
          </a:p>
        </p:txBody>
      </p:sp>
      <p:sp>
        <p:nvSpPr>
          <p:cNvPr id="18" name="TextBox 17"/>
          <p:cNvSpPr txBox="1"/>
          <p:nvPr/>
        </p:nvSpPr>
        <p:spPr>
          <a:xfrm>
            <a:off x="502920" y="3035808"/>
            <a:ext cx="3474720" cy="292608"/>
          </a:xfrm>
          <a:prstGeom prst="rect">
            <a:avLst/>
          </a:prstGeom>
          <a:noFill/>
        </p:spPr>
        <p:txBody>
          <a:bodyPr wrap="square">
            <a:spAutoFit/>
          </a:bodyPr>
          <a:lstStyle/>
          <a:p>
            <a:pPr algn="l"/>
            <a:r>
              <a:rPr sz="1300" b="0" i="0">
                <a:solidFill>
                  <a:srgbClr val="FFFFFF"/>
                </a:solidFill>
              </a:rPr>
              <a:t>Économique et moderne</a:t>
            </a:r>
          </a:p>
        </p:txBody>
      </p:sp>
      <p:sp>
        <p:nvSpPr>
          <p:cNvPr id="19" name="Rectangle 18"/>
          <p:cNvSpPr/>
          <p:nvPr/>
        </p:nvSpPr>
        <p:spPr>
          <a:xfrm>
            <a:off x="365760" y="3529584"/>
            <a:ext cx="3749039" cy="804672"/>
          </a:xfrm>
          <a:prstGeom prst="rect">
            <a:avLst/>
          </a:prstGeom>
          <a:solidFill>
            <a:srgbClr val="1E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2920" y="3602736"/>
            <a:ext cx="3474720" cy="347472"/>
          </a:xfrm>
          <a:prstGeom prst="rect">
            <a:avLst/>
          </a:prstGeom>
          <a:noFill/>
        </p:spPr>
        <p:txBody>
          <a:bodyPr wrap="square">
            <a:spAutoFit/>
          </a:bodyPr>
          <a:lstStyle/>
          <a:p>
            <a:pPr algn="l"/>
            <a:r>
              <a:rPr sz="1400" b="1" i="0">
                <a:solidFill>
                  <a:srgbClr val="FFC200"/>
                </a:solidFill>
              </a:rPr>
              <a:t>✏️ Gomme effaçable</a:t>
            </a:r>
          </a:p>
        </p:txBody>
      </p:sp>
      <p:sp>
        <p:nvSpPr>
          <p:cNvPr id="21" name="TextBox 20"/>
          <p:cNvSpPr txBox="1"/>
          <p:nvPr/>
        </p:nvSpPr>
        <p:spPr>
          <a:xfrm>
            <a:off x="502920" y="3968496"/>
            <a:ext cx="3474720" cy="292608"/>
          </a:xfrm>
          <a:prstGeom prst="rect">
            <a:avLst/>
          </a:prstGeom>
          <a:noFill/>
        </p:spPr>
        <p:txBody>
          <a:bodyPr wrap="square">
            <a:spAutoFit/>
          </a:bodyPr>
          <a:lstStyle/>
          <a:p>
            <a:pPr algn="l"/>
            <a:r>
              <a:rPr sz="1300" b="0" i="0">
                <a:solidFill>
                  <a:srgbClr val="FFFFFF"/>
                </a:solidFill>
              </a:rPr>
              <a:t>Usage fluide, sans correcteur</a:t>
            </a:r>
          </a:p>
        </p:txBody>
      </p:sp>
      <p:sp>
        <p:nvSpPr>
          <p:cNvPr id="22" name="Rectangle 21"/>
          <p:cNvSpPr/>
          <p:nvPr/>
        </p:nvSpPr>
        <p:spPr>
          <a:xfrm>
            <a:off x="8092440" y="1664208"/>
            <a:ext cx="3749039" cy="804672"/>
          </a:xfrm>
          <a:prstGeom prst="rect">
            <a:avLst/>
          </a:prstGeom>
          <a:solidFill>
            <a:srgbClr val="1E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0" y="1737360"/>
            <a:ext cx="3474720" cy="347472"/>
          </a:xfrm>
          <a:prstGeom prst="rect">
            <a:avLst/>
          </a:prstGeom>
          <a:noFill/>
        </p:spPr>
        <p:txBody>
          <a:bodyPr wrap="square">
            <a:spAutoFit/>
          </a:bodyPr>
          <a:lstStyle/>
          <a:p>
            <a:pPr algn="l"/>
            <a:r>
              <a:rPr sz="1400" b="1" i="0">
                <a:solidFill>
                  <a:srgbClr val="FFC200"/>
                </a:solidFill>
              </a:rPr>
              <a:t>📺 Écran intégré</a:t>
            </a:r>
          </a:p>
        </p:txBody>
      </p:sp>
      <p:sp>
        <p:nvSpPr>
          <p:cNvPr id="24" name="TextBox 23"/>
          <p:cNvSpPr txBox="1"/>
          <p:nvPr/>
        </p:nvSpPr>
        <p:spPr>
          <a:xfrm>
            <a:off x="8229600" y="2103120"/>
            <a:ext cx="3474720" cy="292608"/>
          </a:xfrm>
          <a:prstGeom prst="rect">
            <a:avLst/>
          </a:prstGeom>
          <a:noFill/>
        </p:spPr>
        <p:txBody>
          <a:bodyPr wrap="square">
            <a:spAutoFit/>
          </a:bodyPr>
          <a:lstStyle/>
          <a:p>
            <a:pPr algn="l"/>
            <a:r>
              <a:rPr sz="1300" b="0" i="0">
                <a:solidFill>
                  <a:srgbClr val="FFFFFF"/>
                </a:solidFill>
              </a:rPr>
              <a:t>Correction en rouge en temps réel</a:t>
            </a:r>
          </a:p>
        </p:txBody>
      </p:sp>
      <p:sp>
        <p:nvSpPr>
          <p:cNvPr id="25" name="Rectangle 24"/>
          <p:cNvSpPr/>
          <p:nvPr/>
        </p:nvSpPr>
        <p:spPr>
          <a:xfrm>
            <a:off x="8092440" y="2596896"/>
            <a:ext cx="3749039" cy="804672"/>
          </a:xfrm>
          <a:prstGeom prst="rect">
            <a:avLst/>
          </a:prstGeom>
          <a:solidFill>
            <a:srgbClr val="1E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2670048"/>
            <a:ext cx="3474720" cy="347472"/>
          </a:xfrm>
          <a:prstGeom prst="rect">
            <a:avLst/>
          </a:prstGeom>
          <a:noFill/>
        </p:spPr>
        <p:txBody>
          <a:bodyPr wrap="square">
            <a:spAutoFit/>
          </a:bodyPr>
          <a:lstStyle/>
          <a:p>
            <a:pPr algn="l"/>
            <a:r>
              <a:rPr sz="1400" b="1" i="0">
                <a:solidFill>
                  <a:srgbClr val="FFC200"/>
                </a:solidFill>
              </a:rPr>
              <a:t>🎨 4 couleurs</a:t>
            </a:r>
          </a:p>
        </p:txBody>
      </p:sp>
      <p:sp>
        <p:nvSpPr>
          <p:cNvPr id="27" name="TextBox 26"/>
          <p:cNvSpPr txBox="1"/>
          <p:nvPr/>
        </p:nvSpPr>
        <p:spPr>
          <a:xfrm>
            <a:off x="8229600" y="3035808"/>
            <a:ext cx="3474720" cy="292608"/>
          </a:xfrm>
          <a:prstGeom prst="rect">
            <a:avLst/>
          </a:prstGeom>
          <a:noFill/>
        </p:spPr>
        <p:txBody>
          <a:bodyPr wrap="square">
            <a:spAutoFit/>
          </a:bodyPr>
          <a:lstStyle/>
          <a:p>
            <a:pPr algn="l"/>
            <a:r>
              <a:rPr sz="1300" b="0" i="0">
                <a:solidFill>
                  <a:srgbClr val="FFFFFF"/>
                </a:solidFill>
              </a:rPr>
              <a:t>Noir · Bleu · Rouge · Vert</a:t>
            </a:r>
          </a:p>
        </p:txBody>
      </p:sp>
      <p:sp>
        <p:nvSpPr>
          <p:cNvPr id="28" name="Rectangle 27"/>
          <p:cNvSpPr/>
          <p:nvPr/>
        </p:nvSpPr>
        <p:spPr>
          <a:xfrm>
            <a:off x="8092440" y="3529584"/>
            <a:ext cx="3749039" cy="804672"/>
          </a:xfrm>
          <a:prstGeom prst="rect">
            <a:avLst/>
          </a:prstGeom>
          <a:solidFill>
            <a:srgbClr val="1E3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0" y="3602736"/>
            <a:ext cx="3474720" cy="347472"/>
          </a:xfrm>
          <a:prstGeom prst="rect">
            <a:avLst/>
          </a:prstGeom>
          <a:noFill/>
        </p:spPr>
        <p:txBody>
          <a:bodyPr wrap="square">
            <a:spAutoFit/>
          </a:bodyPr>
          <a:lstStyle/>
          <a:p>
            <a:pPr algn="l"/>
            <a:r>
              <a:rPr sz="1400" b="1" i="0">
                <a:solidFill>
                  <a:srgbClr val="FFC200"/>
                </a:solidFill>
              </a:rPr>
              <a:t>🏃 Design ergonomique</a:t>
            </a:r>
          </a:p>
        </p:txBody>
      </p:sp>
      <p:sp>
        <p:nvSpPr>
          <p:cNvPr id="30" name="TextBox 29"/>
          <p:cNvSpPr txBox="1"/>
          <p:nvPr/>
        </p:nvSpPr>
        <p:spPr>
          <a:xfrm>
            <a:off x="8229600" y="3968496"/>
            <a:ext cx="3474720" cy="292608"/>
          </a:xfrm>
          <a:prstGeom prst="rect">
            <a:avLst/>
          </a:prstGeom>
          <a:noFill/>
        </p:spPr>
        <p:txBody>
          <a:bodyPr wrap="square">
            <a:spAutoFit/>
          </a:bodyPr>
          <a:lstStyle/>
          <a:p>
            <a:pPr algn="l"/>
            <a:r>
              <a:rPr sz="1300" b="0" i="0">
                <a:solidFill>
                  <a:srgbClr val="FFFFFF"/>
                </a:solidFill>
              </a:rPr>
              <a:t>Léger, toutes durées d'utilisation</a:t>
            </a:r>
          </a:p>
        </p:txBody>
      </p:sp>
      <p:sp>
        <p:nvSpPr>
          <p:cNvPr id="31" name="Rectangle 30"/>
          <p:cNvSpPr/>
          <p:nvPr/>
        </p:nvSpPr>
        <p:spPr>
          <a:xfrm>
            <a:off x="365760" y="4617720"/>
            <a:ext cx="11457432" cy="594360"/>
          </a:xfrm>
          <a:prstGeom prst="rect">
            <a:avLst/>
          </a:prstGeom>
          <a:solidFill>
            <a:srgbClr val="D4F5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5760" y="4617720"/>
            <a:ext cx="109728" cy="594360"/>
          </a:xfrm>
          <a:prstGeom prst="rect">
            <a:avLst/>
          </a:prstGeom>
          <a:solidFill>
            <a:srgbClr val="00C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4681728"/>
            <a:ext cx="10972800" cy="475488"/>
          </a:xfrm>
          <a:prstGeom prst="rect">
            <a:avLst/>
          </a:prstGeom>
          <a:noFill/>
        </p:spPr>
        <p:txBody>
          <a:bodyPr wrap="square">
            <a:spAutoFit/>
          </a:bodyPr>
          <a:lstStyle/>
          <a:p>
            <a:pPr algn="l"/>
            <a:r>
              <a:rPr sz="1400" b="1" i="0">
                <a:solidFill>
                  <a:srgbClr val="0D1B3E"/>
                </a:solidFill>
              </a:rPr>
              <a:t>86,4 % des répondants jugent le Stylo Ortho utile ou très utile (enquête n=214) — le produit répond à un besoin réel et quotidien.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MARKETING MIX</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P2 — Prix</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Stratégie de prix et justification de la valeur</a:t>
            </a:r>
          </a:p>
        </p:txBody>
      </p:sp>
      <p:sp>
        <p:nvSpPr>
          <p:cNvPr id="9" name="Rectangle 8"/>
          <p:cNvSpPr/>
          <p:nvPr/>
        </p:nvSpPr>
        <p:spPr>
          <a:xfrm>
            <a:off x="457200" y="1572768"/>
            <a:ext cx="5303520" cy="301752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035040" y="1572768"/>
            <a:ext cx="5330952" cy="3017520"/>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719072"/>
            <a:ext cx="5303520" cy="1280160"/>
          </a:xfrm>
          <a:prstGeom prst="rect">
            <a:avLst/>
          </a:prstGeom>
          <a:noFill/>
        </p:spPr>
        <p:txBody>
          <a:bodyPr wrap="square">
            <a:spAutoFit/>
          </a:bodyPr>
          <a:lstStyle/>
          <a:p>
            <a:pPr algn="ctr"/>
            <a:r>
              <a:rPr sz="5600" b="1" i="0">
                <a:solidFill>
                  <a:srgbClr val="FFC200"/>
                </a:solidFill>
              </a:rPr>
              <a:t>99,90 €</a:t>
            </a:r>
          </a:p>
        </p:txBody>
      </p:sp>
      <p:sp>
        <p:nvSpPr>
          <p:cNvPr id="12" name="TextBox 11"/>
          <p:cNvSpPr txBox="1"/>
          <p:nvPr/>
        </p:nvSpPr>
        <p:spPr>
          <a:xfrm>
            <a:off x="457200" y="2926080"/>
            <a:ext cx="5303520" cy="438912"/>
          </a:xfrm>
          <a:prstGeom prst="rect">
            <a:avLst/>
          </a:prstGeom>
          <a:noFill/>
        </p:spPr>
        <p:txBody>
          <a:bodyPr wrap="square">
            <a:spAutoFit/>
          </a:bodyPr>
          <a:lstStyle/>
          <a:p>
            <a:pPr algn="ctr"/>
            <a:r>
              <a:rPr sz="1700" b="0" i="0">
                <a:solidFill>
                  <a:srgbClr val="FFFFFF"/>
                </a:solidFill>
              </a:rPr>
              <a:t>Prix de vente public</a:t>
            </a:r>
          </a:p>
        </p:txBody>
      </p:sp>
      <p:sp>
        <p:nvSpPr>
          <p:cNvPr id="13" name="TextBox 12"/>
          <p:cNvSpPr txBox="1"/>
          <p:nvPr/>
        </p:nvSpPr>
        <p:spPr>
          <a:xfrm>
            <a:off x="457200" y="3337560"/>
            <a:ext cx="5303520" cy="347472"/>
          </a:xfrm>
          <a:prstGeom prst="rect">
            <a:avLst/>
          </a:prstGeom>
          <a:noFill/>
        </p:spPr>
        <p:txBody>
          <a:bodyPr wrap="square">
            <a:spAutoFit/>
          </a:bodyPr>
          <a:lstStyle/>
          <a:p>
            <a:pPr algn="ctr"/>
            <a:r>
              <a:rPr sz="1400" b="0" i="1">
                <a:solidFill>
                  <a:srgbClr val="4A90D9"/>
                </a:solidFill>
              </a:rPr>
              <a:t>Standard · tous publics</a:t>
            </a:r>
          </a:p>
        </p:txBody>
      </p:sp>
      <p:sp>
        <p:nvSpPr>
          <p:cNvPr id="14" name="TextBox 13"/>
          <p:cNvSpPr txBox="1"/>
          <p:nvPr/>
        </p:nvSpPr>
        <p:spPr>
          <a:xfrm>
            <a:off x="6035040" y="1719072"/>
            <a:ext cx="5330952" cy="1280160"/>
          </a:xfrm>
          <a:prstGeom prst="rect">
            <a:avLst/>
          </a:prstGeom>
          <a:noFill/>
        </p:spPr>
        <p:txBody>
          <a:bodyPr wrap="square">
            <a:spAutoFit/>
          </a:bodyPr>
          <a:lstStyle/>
          <a:p>
            <a:pPr algn="ctr"/>
            <a:r>
              <a:rPr sz="5600" b="1" i="0">
                <a:solidFill>
                  <a:srgbClr val="FFC200"/>
                </a:solidFill>
              </a:rPr>
              <a:t>44,90 €</a:t>
            </a:r>
          </a:p>
        </p:txBody>
      </p:sp>
      <p:sp>
        <p:nvSpPr>
          <p:cNvPr id="15" name="TextBox 14"/>
          <p:cNvSpPr txBox="1"/>
          <p:nvPr/>
        </p:nvSpPr>
        <p:spPr>
          <a:xfrm>
            <a:off x="6035040" y="2926080"/>
            <a:ext cx="5330952" cy="438912"/>
          </a:xfrm>
          <a:prstGeom prst="rect">
            <a:avLst/>
          </a:prstGeom>
          <a:noFill/>
        </p:spPr>
        <p:txBody>
          <a:bodyPr wrap="square">
            <a:spAutoFit/>
          </a:bodyPr>
          <a:lstStyle/>
          <a:p>
            <a:pPr algn="ctr"/>
            <a:r>
              <a:rPr sz="1700" b="0" i="0">
                <a:solidFill>
                  <a:srgbClr val="FFFFFF"/>
                </a:solidFill>
              </a:rPr>
              <a:t>Prix promotionnel rentrée</a:t>
            </a:r>
          </a:p>
        </p:txBody>
      </p:sp>
      <p:sp>
        <p:nvSpPr>
          <p:cNvPr id="16" name="TextBox 15"/>
          <p:cNvSpPr txBox="1"/>
          <p:nvPr/>
        </p:nvSpPr>
        <p:spPr>
          <a:xfrm>
            <a:off x="6035040" y="3337560"/>
            <a:ext cx="5330952" cy="347472"/>
          </a:xfrm>
          <a:prstGeom prst="rect">
            <a:avLst/>
          </a:prstGeom>
          <a:noFill/>
        </p:spPr>
        <p:txBody>
          <a:bodyPr wrap="square">
            <a:spAutoFit/>
          </a:bodyPr>
          <a:lstStyle/>
          <a:p>
            <a:pPr algn="ctr"/>
            <a:r>
              <a:rPr sz="1400" b="0" i="1">
                <a:solidFill>
                  <a:srgbClr val="90E8D0"/>
                </a:solidFill>
              </a:rPr>
              <a:t>Déclencheur des premiers achats</a:t>
            </a:r>
          </a:p>
        </p:txBody>
      </p:sp>
      <p:sp>
        <p:nvSpPr>
          <p:cNvPr id="17" name="Rectangle 16"/>
          <p:cNvSpPr/>
          <p:nvPr/>
        </p:nvSpPr>
        <p:spPr>
          <a:xfrm>
            <a:off x="457200" y="4709160"/>
            <a:ext cx="11365992" cy="1938528"/>
          </a:xfrm>
          <a:prstGeom prst="rect">
            <a:avLst/>
          </a:prstGeom>
          <a:solidFill>
            <a:srgbClr val="EAF2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4709160"/>
            <a:ext cx="109728" cy="193852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4773168"/>
            <a:ext cx="10972800" cy="384048"/>
          </a:xfrm>
          <a:prstGeom prst="rect">
            <a:avLst/>
          </a:prstGeom>
          <a:noFill/>
        </p:spPr>
        <p:txBody>
          <a:bodyPr wrap="square">
            <a:spAutoFit/>
          </a:bodyPr>
          <a:lstStyle/>
          <a:p>
            <a:pPr algn="l"/>
            <a:r>
              <a:rPr sz="1600" b="1" i="0">
                <a:solidFill>
                  <a:srgbClr val="0D1B3E"/>
                </a:solidFill>
              </a:rPr>
              <a:t>Pourquoi 99,90 € ?</a:t>
            </a:r>
          </a:p>
        </p:txBody>
      </p:sp>
      <p:sp>
        <p:nvSpPr>
          <p:cNvPr id="20" name="TextBox 19"/>
          <p:cNvSpPr txBox="1"/>
          <p:nvPr/>
        </p:nvSpPr>
        <p:spPr>
          <a:xfrm>
            <a:off x="685800" y="5212080"/>
            <a:ext cx="10789920" cy="310896"/>
          </a:xfrm>
          <a:prstGeom prst="rect">
            <a:avLst/>
          </a:prstGeom>
          <a:noFill/>
        </p:spPr>
        <p:txBody>
          <a:bodyPr wrap="square">
            <a:spAutoFit/>
          </a:bodyPr>
          <a:lstStyle/>
          <a:p>
            <a:pPr algn="l"/>
            <a:r>
              <a:rPr sz="1300" b="0" i="0">
                <a:solidFill>
                  <a:srgbClr val="4A5A7A"/>
                </a:solidFill>
              </a:rPr>
              <a:t>✅ 82,3 % des répondants sont intéressés ou potentiellement intéressés — le prix est accepté</a:t>
            </a:r>
          </a:p>
        </p:txBody>
      </p:sp>
      <p:sp>
        <p:nvSpPr>
          <p:cNvPr id="21" name="TextBox 20"/>
          <p:cNvSpPr txBox="1"/>
          <p:nvPr/>
        </p:nvSpPr>
        <p:spPr>
          <a:xfrm>
            <a:off x="685800" y="5541264"/>
            <a:ext cx="10789920" cy="310896"/>
          </a:xfrm>
          <a:prstGeom prst="rect">
            <a:avLst/>
          </a:prstGeom>
          <a:noFill/>
        </p:spPr>
        <p:txBody>
          <a:bodyPr wrap="square">
            <a:spAutoFit/>
          </a:bodyPr>
          <a:lstStyle/>
          <a:p>
            <a:pPr algn="l"/>
            <a:r>
              <a:rPr sz="1300" b="0" i="0">
                <a:solidFill>
                  <a:srgbClr val="4A5A7A"/>
                </a:solidFill>
              </a:rPr>
              <a:t>✅ USP unique sur le marché papier → valeur fonctionnelle qui justifie le prix premium</a:t>
            </a:r>
          </a:p>
        </p:txBody>
      </p:sp>
      <p:sp>
        <p:nvSpPr>
          <p:cNvPr id="22" name="TextBox 21"/>
          <p:cNvSpPr txBox="1"/>
          <p:nvPr/>
        </p:nvSpPr>
        <p:spPr>
          <a:xfrm>
            <a:off x="685800" y="5870448"/>
            <a:ext cx="10789920" cy="310896"/>
          </a:xfrm>
          <a:prstGeom prst="rect">
            <a:avLst/>
          </a:prstGeom>
          <a:noFill/>
        </p:spPr>
        <p:txBody>
          <a:bodyPr wrap="square">
            <a:spAutoFit/>
          </a:bodyPr>
          <a:lstStyle/>
          <a:p>
            <a:pPr algn="l"/>
            <a:r>
              <a:rPr sz="1300" b="0" i="0">
                <a:solidFill>
                  <a:srgbClr val="4A5A7A"/>
                </a:solidFill>
              </a:rPr>
              <a:t>✅ Comparable à une calculatrice scolaire (30–80 €) ou une montre connectée d'entrée de gamme</a:t>
            </a:r>
          </a:p>
        </p:txBody>
      </p:sp>
      <p:sp>
        <p:nvSpPr>
          <p:cNvPr id="23" name="TextBox 22"/>
          <p:cNvSpPr txBox="1"/>
          <p:nvPr/>
        </p:nvSpPr>
        <p:spPr>
          <a:xfrm>
            <a:off x="685800" y="6199632"/>
            <a:ext cx="10789920" cy="310896"/>
          </a:xfrm>
          <a:prstGeom prst="rect">
            <a:avLst/>
          </a:prstGeom>
          <a:noFill/>
        </p:spPr>
        <p:txBody>
          <a:bodyPr wrap="square">
            <a:spAutoFit/>
          </a:bodyPr>
          <a:lstStyle/>
          <a:p>
            <a:pPr algn="l"/>
            <a:r>
              <a:rPr sz="1300" b="0" i="0">
                <a:solidFill>
                  <a:srgbClr val="4A5A7A"/>
                </a:solidFill>
              </a:rPr>
              <a:t>✅ Prix psychologique 44,90 € utilisé à la rentrée pour déclencher les premiers achats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41732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417320"/>
            <a:ext cx="12188952" cy="5440680"/>
          </a:xfrm>
          <a:prstGeom prst="rect">
            <a:avLst/>
          </a:prstGeom>
          <a:solidFill>
            <a:srgbClr val="F5F7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417320"/>
            <a:ext cx="73152" cy="544068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601200" y="109728"/>
            <a:ext cx="2468880" cy="38404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0" y="109728"/>
            <a:ext cx="2468880" cy="384048"/>
          </a:xfrm>
          <a:prstGeom prst="rect">
            <a:avLst/>
          </a:prstGeom>
          <a:noFill/>
        </p:spPr>
        <p:txBody>
          <a:bodyPr wrap="square">
            <a:spAutoFit/>
          </a:bodyPr>
          <a:lstStyle/>
          <a:p>
            <a:pPr algn="ctr"/>
            <a:r>
              <a:rPr sz="1200" b="1" i="0">
                <a:solidFill>
                  <a:srgbClr val="FFFFFF"/>
                </a:solidFill>
              </a:rPr>
              <a:t>MARKETING MIX</a:t>
            </a:r>
          </a:p>
        </p:txBody>
      </p:sp>
      <p:sp>
        <p:nvSpPr>
          <p:cNvPr id="7" name="TextBox 6"/>
          <p:cNvSpPr txBox="1"/>
          <p:nvPr/>
        </p:nvSpPr>
        <p:spPr>
          <a:xfrm>
            <a:off x="457200" y="201168"/>
            <a:ext cx="8961120" cy="685800"/>
          </a:xfrm>
          <a:prstGeom prst="rect">
            <a:avLst/>
          </a:prstGeom>
          <a:noFill/>
        </p:spPr>
        <p:txBody>
          <a:bodyPr wrap="square">
            <a:spAutoFit/>
          </a:bodyPr>
          <a:lstStyle/>
          <a:p>
            <a:pPr algn="l"/>
            <a:r>
              <a:rPr sz="3000" b="1" i="0">
                <a:solidFill>
                  <a:srgbClr val="FFFFFF"/>
                </a:solidFill>
              </a:rPr>
              <a:t>P3 — Distribution</a:t>
            </a:r>
          </a:p>
        </p:txBody>
      </p:sp>
      <p:sp>
        <p:nvSpPr>
          <p:cNvPr id="8" name="TextBox 7"/>
          <p:cNvSpPr txBox="1"/>
          <p:nvPr/>
        </p:nvSpPr>
        <p:spPr>
          <a:xfrm>
            <a:off x="457200" y="859536"/>
            <a:ext cx="8961120" cy="411480"/>
          </a:xfrm>
          <a:prstGeom prst="rect">
            <a:avLst/>
          </a:prstGeom>
          <a:noFill/>
        </p:spPr>
        <p:txBody>
          <a:bodyPr wrap="square">
            <a:spAutoFit/>
          </a:bodyPr>
          <a:lstStyle/>
          <a:p>
            <a:pPr algn="l"/>
            <a:r>
              <a:rPr sz="1600" b="0" i="1">
                <a:solidFill>
                  <a:srgbClr val="4A90D9"/>
                </a:solidFill>
              </a:rPr>
              <a:t>Une stratégie en 3 phases : sélective → directe → intensive</a:t>
            </a:r>
          </a:p>
        </p:txBody>
      </p:sp>
      <p:sp>
        <p:nvSpPr>
          <p:cNvPr id="9" name="Rectangle 8"/>
          <p:cNvSpPr/>
          <p:nvPr/>
        </p:nvSpPr>
        <p:spPr>
          <a:xfrm>
            <a:off x="365760" y="1572768"/>
            <a:ext cx="11457432" cy="65836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645920"/>
            <a:ext cx="3931920" cy="502920"/>
          </a:xfrm>
          <a:prstGeom prst="rect">
            <a:avLst/>
          </a:prstGeom>
          <a:noFill/>
        </p:spPr>
        <p:txBody>
          <a:bodyPr wrap="square">
            <a:spAutoFit/>
          </a:bodyPr>
          <a:lstStyle/>
          <a:p>
            <a:pPr algn="ctr"/>
            <a:r>
              <a:rPr sz="1500" b="1" i="0">
                <a:solidFill>
                  <a:srgbClr val="FFFFFF"/>
                </a:solidFill>
              </a:rPr>
              <a:t>Phase 1 — Lancement</a:t>
            </a:r>
          </a:p>
        </p:txBody>
      </p:sp>
      <p:sp>
        <p:nvSpPr>
          <p:cNvPr id="11" name="TextBox 10"/>
          <p:cNvSpPr txBox="1"/>
          <p:nvPr/>
        </p:nvSpPr>
        <p:spPr>
          <a:xfrm>
            <a:off x="4434840" y="1645920"/>
            <a:ext cx="3931920" cy="502920"/>
          </a:xfrm>
          <a:prstGeom prst="rect">
            <a:avLst/>
          </a:prstGeom>
          <a:noFill/>
        </p:spPr>
        <p:txBody>
          <a:bodyPr wrap="square">
            <a:spAutoFit/>
          </a:bodyPr>
          <a:lstStyle/>
          <a:p>
            <a:pPr algn="ctr"/>
            <a:r>
              <a:rPr sz="1500" b="1" i="0">
                <a:solidFill>
                  <a:srgbClr val="FFFFFF"/>
                </a:solidFill>
              </a:rPr>
              <a:t>Phase 2 — Croissance</a:t>
            </a:r>
          </a:p>
        </p:txBody>
      </p:sp>
      <p:sp>
        <p:nvSpPr>
          <p:cNvPr id="12" name="TextBox 11"/>
          <p:cNvSpPr txBox="1"/>
          <p:nvPr/>
        </p:nvSpPr>
        <p:spPr>
          <a:xfrm>
            <a:off x="8412480" y="1645920"/>
            <a:ext cx="3383280" cy="502920"/>
          </a:xfrm>
          <a:prstGeom prst="rect">
            <a:avLst/>
          </a:prstGeom>
          <a:noFill/>
        </p:spPr>
        <p:txBody>
          <a:bodyPr wrap="square">
            <a:spAutoFit/>
          </a:bodyPr>
          <a:lstStyle/>
          <a:p>
            <a:pPr algn="ctr"/>
            <a:r>
              <a:rPr sz="1500" b="1" i="0">
                <a:solidFill>
                  <a:srgbClr val="FFFFFF"/>
                </a:solidFill>
              </a:rPr>
              <a:t>Phase 3 — Maturité</a:t>
            </a:r>
          </a:p>
        </p:txBody>
      </p:sp>
      <p:sp>
        <p:nvSpPr>
          <p:cNvPr id="13" name="Rectangle 12"/>
          <p:cNvSpPr/>
          <p:nvPr/>
        </p:nvSpPr>
        <p:spPr>
          <a:xfrm>
            <a:off x="457200" y="2359152"/>
            <a:ext cx="3703320" cy="4224528"/>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423160"/>
            <a:ext cx="3703320" cy="749808"/>
          </a:xfrm>
          <a:prstGeom prst="rect">
            <a:avLst/>
          </a:prstGeom>
          <a:noFill/>
        </p:spPr>
        <p:txBody>
          <a:bodyPr wrap="square">
            <a:spAutoFit/>
          </a:bodyPr>
          <a:lstStyle/>
          <a:p>
            <a:pPr algn="ctr"/>
            <a:r>
              <a:rPr sz="3400" b="0" i="0">
                <a:solidFill>
                  <a:srgbClr val="FFFFFF"/>
                </a:solidFill>
              </a:rPr>
              <a:t>🏪</a:t>
            </a:r>
          </a:p>
        </p:txBody>
      </p:sp>
      <p:sp>
        <p:nvSpPr>
          <p:cNvPr id="15" name="TextBox 14"/>
          <p:cNvSpPr txBox="1"/>
          <p:nvPr/>
        </p:nvSpPr>
        <p:spPr>
          <a:xfrm>
            <a:off x="594360" y="3200400"/>
            <a:ext cx="3429000" cy="640080"/>
          </a:xfrm>
          <a:prstGeom prst="rect">
            <a:avLst/>
          </a:prstGeom>
          <a:noFill/>
        </p:spPr>
        <p:txBody>
          <a:bodyPr wrap="square">
            <a:spAutoFit/>
          </a:bodyPr>
          <a:lstStyle/>
          <a:p>
            <a:pPr algn="ctr"/>
            <a:r>
              <a:rPr sz="1600" b="1" i="0">
                <a:solidFill>
                  <a:srgbClr val="FFC200"/>
                </a:solidFill>
              </a:rPr>
              <a:t>Magasins spécialisés</a:t>
            </a:r>
          </a:p>
        </p:txBody>
      </p:sp>
      <p:sp>
        <p:nvSpPr>
          <p:cNvPr id="16" name="Rectangle 15"/>
          <p:cNvSpPr/>
          <p:nvPr/>
        </p:nvSpPr>
        <p:spPr>
          <a:xfrm>
            <a:off x="731520" y="3858768"/>
            <a:ext cx="3154679"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977639"/>
            <a:ext cx="3337560" cy="777240"/>
          </a:xfrm>
          <a:prstGeom prst="rect">
            <a:avLst/>
          </a:prstGeom>
          <a:noFill/>
        </p:spPr>
        <p:txBody>
          <a:bodyPr wrap="square">
            <a:spAutoFit/>
          </a:bodyPr>
          <a:lstStyle/>
          <a:p>
            <a:pPr algn="ctr"/>
            <a:r>
              <a:rPr sz="1300" b="0" i="0">
                <a:solidFill>
                  <a:srgbClr val="FFFFFF"/>
                </a:solidFill>
              </a:rPr>
              <a:t>Bureau Vallée · Fnac
Cultura · Librairies</a:t>
            </a:r>
          </a:p>
        </p:txBody>
      </p:sp>
      <p:sp>
        <p:nvSpPr>
          <p:cNvPr id="18" name="Rectangle 17"/>
          <p:cNvSpPr/>
          <p:nvPr/>
        </p:nvSpPr>
        <p:spPr>
          <a:xfrm>
            <a:off x="731520" y="4773168"/>
            <a:ext cx="3154679"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892040"/>
            <a:ext cx="3337560" cy="868680"/>
          </a:xfrm>
          <a:prstGeom prst="rect">
            <a:avLst/>
          </a:prstGeom>
          <a:noFill/>
        </p:spPr>
        <p:txBody>
          <a:bodyPr wrap="square">
            <a:spAutoFit/>
          </a:bodyPr>
          <a:lstStyle/>
          <a:p>
            <a:pPr algn="l"/>
            <a:r>
              <a:rPr sz="1200" b="0" i="1">
                <a:solidFill>
                  <a:srgbClr val="C8D8E8"/>
                </a:solidFill>
              </a:rPr>
              <a:t>Démonstration produit
en rayon — essentiel pour
un produit innovant</a:t>
            </a:r>
          </a:p>
        </p:txBody>
      </p:sp>
      <p:sp>
        <p:nvSpPr>
          <p:cNvPr id="20" name="Rectangle 19"/>
          <p:cNvSpPr/>
          <p:nvPr/>
        </p:nvSpPr>
        <p:spPr>
          <a:xfrm>
            <a:off x="594360" y="5833872"/>
            <a:ext cx="3429000" cy="59436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5888736"/>
            <a:ext cx="3429000" cy="502920"/>
          </a:xfrm>
          <a:prstGeom prst="rect">
            <a:avLst/>
          </a:prstGeom>
          <a:noFill/>
        </p:spPr>
        <p:txBody>
          <a:bodyPr wrap="square">
            <a:spAutoFit/>
          </a:bodyPr>
          <a:lstStyle/>
          <a:p>
            <a:pPr algn="ctr"/>
            <a:r>
              <a:rPr sz="1200" b="1" i="0">
                <a:solidFill>
                  <a:srgbClr val="FFC200"/>
                </a:solidFill>
              </a:rPr>
              <a:t>PDM ≈ 15–20 %
+3 % / an</a:t>
            </a:r>
          </a:p>
        </p:txBody>
      </p:sp>
      <p:sp>
        <p:nvSpPr>
          <p:cNvPr id="22" name="Rectangle 21"/>
          <p:cNvSpPr/>
          <p:nvPr/>
        </p:nvSpPr>
        <p:spPr>
          <a:xfrm>
            <a:off x="4434840" y="2359152"/>
            <a:ext cx="3703320" cy="4224528"/>
          </a:xfrm>
          <a:prstGeom prst="rect">
            <a:avLst/>
          </a:prstGeom>
          <a:solidFill>
            <a:srgbClr val="0E6B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2423160"/>
            <a:ext cx="3703320" cy="749808"/>
          </a:xfrm>
          <a:prstGeom prst="rect">
            <a:avLst/>
          </a:prstGeom>
          <a:noFill/>
        </p:spPr>
        <p:txBody>
          <a:bodyPr wrap="square">
            <a:spAutoFit/>
          </a:bodyPr>
          <a:lstStyle/>
          <a:p>
            <a:pPr algn="ctr"/>
            <a:r>
              <a:rPr sz="3400" b="0" i="0">
                <a:solidFill>
                  <a:srgbClr val="FFFFFF"/>
                </a:solidFill>
              </a:rPr>
              <a:t>🛒</a:t>
            </a:r>
          </a:p>
        </p:txBody>
      </p:sp>
      <p:sp>
        <p:nvSpPr>
          <p:cNvPr id="24" name="TextBox 23"/>
          <p:cNvSpPr txBox="1"/>
          <p:nvPr/>
        </p:nvSpPr>
        <p:spPr>
          <a:xfrm>
            <a:off x="4572000" y="3200400"/>
            <a:ext cx="3429000" cy="640080"/>
          </a:xfrm>
          <a:prstGeom prst="rect">
            <a:avLst/>
          </a:prstGeom>
          <a:noFill/>
        </p:spPr>
        <p:txBody>
          <a:bodyPr wrap="square">
            <a:spAutoFit/>
          </a:bodyPr>
          <a:lstStyle/>
          <a:p>
            <a:pPr algn="ctr"/>
            <a:r>
              <a:rPr sz="1600" b="1" i="0">
                <a:solidFill>
                  <a:srgbClr val="FFC200"/>
                </a:solidFill>
              </a:rPr>
              <a:t>E-commerce</a:t>
            </a:r>
          </a:p>
        </p:txBody>
      </p:sp>
      <p:sp>
        <p:nvSpPr>
          <p:cNvPr id="25" name="Rectangle 24"/>
          <p:cNvSpPr/>
          <p:nvPr/>
        </p:nvSpPr>
        <p:spPr>
          <a:xfrm>
            <a:off x="4709159" y="3858768"/>
            <a:ext cx="3154679"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17720" y="3977639"/>
            <a:ext cx="3337560" cy="777240"/>
          </a:xfrm>
          <a:prstGeom prst="rect">
            <a:avLst/>
          </a:prstGeom>
          <a:noFill/>
        </p:spPr>
        <p:txBody>
          <a:bodyPr wrap="square">
            <a:spAutoFit/>
          </a:bodyPr>
          <a:lstStyle/>
          <a:p>
            <a:pPr algn="ctr"/>
            <a:r>
              <a:rPr sz="1300" b="0" i="0">
                <a:solidFill>
                  <a:srgbClr val="FFFFFF"/>
                </a:solidFill>
              </a:rPr>
              <a:t>stylo-ortho.fr
Amazon · Fnac.com</a:t>
            </a:r>
          </a:p>
        </p:txBody>
      </p:sp>
      <p:sp>
        <p:nvSpPr>
          <p:cNvPr id="27" name="Rectangle 26"/>
          <p:cNvSpPr/>
          <p:nvPr/>
        </p:nvSpPr>
        <p:spPr>
          <a:xfrm>
            <a:off x="4709159" y="4773168"/>
            <a:ext cx="3154679"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17720" y="4892040"/>
            <a:ext cx="3337560" cy="868680"/>
          </a:xfrm>
          <a:prstGeom prst="rect">
            <a:avLst/>
          </a:prstGeom>
          <a:noFill/>
        </p:spPr>
        <p:txBody>
          <a:bodyPr wrap="square">
            <a:spAutoFit/>
          </a:bodyPr>
          <a:lstStyle/>
          <a:p>
            <a:pPr algn="l"/>
            <a:r>
              <a:rPr sz="1200" b="0" i="1">
                <a:solidFill>
                  <a:srgbClr val="C8D8E8"/>
                </a:solidFill>
              </a:rPr>
              <a:t>49 % des transactions
papeterie en ligne
Marge maîtrisée</a:t>
            </a:r>
          </a:p>
        </p:txBody>
      </p:sp>
      <p:sp>
        <p:nvSpPr>
          <p:cNvPr id="29" name="Rectangle 28"/>
          <p:cNvSpPr/>
          <p:nvPr/>
        </p:nvSpPr>
        <p:spPr>
          <a:xfrm>
            <a:off x="4572000" y="5833872"/>
            <a:ext cx="3429000" cy="59436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72000" y="5888736"/>
            <a:ext cx="3429000" cy="502920"/>
          </a:xfrm>
          <a:prstGeom prst="rect">
            <a:avLst/>
          </a:prstGeom>
          <a:noFill/>
        </p:spPr>
        <p:txBody>
          <a:bodyPr wrap="square">
            <a:spAutoFit/>
          </a:bodyPr>
          <a:lstStyle/>
          <a:p>
            <a:pPr algn="ctr"/>
            <a:r>
              <a:rPr sz="1200" b="1" i="0">
                <a:solidFill>
                  <a:srgbClr val="FFC200"/>
                </a:solidFill>
              </a:rPr>
              <a:t>PDM ≈ 49 %
+15 % / an</a:t>
            </a:r>
          </a:p>
        </p:txBody>
      </p:sp>
      <p:sp>
        <p:nvSpPr>
          <p:cNvPr id="31" name="Rectangle 30"/>
          <p:cNvSpPr/>
          <p:nvPr/>
        </p:nvSpPr>
        <p:spPr>
          <a:xfrm>
            <a:off x="8412480" y="2359152"/>
            <a:ext cx="3246120" cy="4224528"/>
          </a:xfrm>
          <a:prstGeom prst="rect">
            <a:avLst/>
          </a:prstGeom>
          <a:solidFill>
            <a:srgbClr val="4A5A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412480" y="2423160"/>
            <a:ext cx="3246120" cy="749808"/>
          </a:xfrm>
          <a:prstGeom prst="rect">
            <a:avLst/>
          </a:prstGeom>
          <a:noFill/>
        </p:spPr>
        <p:txBody>
          <a:bodyPr wrap="square">
            <a:spAutoFit/>
          </a:bodyPr>
          <a:lstStyle/>
          <a:p>
            <a:pPr algn="ctr"/>
            <a:r>
              <a:rPr sz="3400" b="0" i="0">
                <a:solidFill>
                  <a:srgbClr val="FFFFFF"/>
                </a:solidFill>
              </a:rPr>
              <a:t>🏬</a:t>
            </a:r>
          </a:p>
        </p:txBody>
      </p:sp>
      <p:sp>
        <p:nvSpPr>
          <p:cNvPr id="33" name="TextBox 32"/>
          <p:cNvSpPr txBox="1"/>
          <p:nvPr/>
        </p:nvSpPr>
        <p:spPr>
          <a:xfrm>
            <a:off x="8549640" y="3200400"/>
            <a:ext cx="2971800" cy="640080"/>
          </a:xfrm>
          <a:prstGeom prst="rect">
            <a:avLst/>
          </a:prstGeom>
          <a:noFill/>
        </p:spPr>
        <p:txBody>
          <a:bodyPr wrap="square">
            <a:spAutoFit/>
          </a:bodyPr>
          <a:lstStyle/>
          <a:p>
            <a:pPr algn="ctr"/>
            <a:r>
              <a:rPr sz="1600" b="1" i="0">
                <a:solidFill>
                  <a:srgbClr val="FFC200"/>
                </a:solidFill>
              </a:rPr>
              <a:t>Grandes surfaces
B2B</a:t>
            </a:r>
          </a:p>
        </p:txBody>
      </p:sp>
      <p:sp>
        <p:nvSpPr>
          <p:cNvPr id="34" name="Rectangle 33"/>
          <p:cNvSpPr/>
          <p:nvPr/>
        </p:nvSpPr>
        <p:spPr>
          <a:xfrm>
            <a:off x="8686800" y="3858768"/>
            <a:ext cx="2697479"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95359" y="3977639"/>
            <a:ext cx="2880360" cy="777240"/>
          </a:xfrm>
          <a:prstGeom prst="rect">
            <a:avLst/>
          </a:prstGeom>
          <a:noFill/>
        </p:spPr>
        <p:txBody>
          <a:bodyPr wrap="square">
            <a:spAutoFit/>
          </a:bodyPr>
          <a:lstStyle/>
          <a:p>
            <a:pPr algn="ctr"/>
            <a:r>
              <a:rPr sz="1300" b="0" i="0">
                <a:solidFill>
                  <a:srgbClr val="FFFFFF"/>
                </a:solidFill>
              </a:rPr>
              <a:t>Carrefour · E.Leclerc
Lycées · Collèges</a:t>
            </a:r>
          </a:p>
        </p:txBody>
      </p:sp>
      <p:sp>
        <p:nvSpPr>
          <p:cNvPr id="36" name="Rectangle 35"/>
          <p:cNvSpPr/>
          <p:nvPr/>
        </p:nvSpPr>
        <p:spPr>
          <a:xfrm>
            <a:off x="8686800" y="4773168"/>
            <a:ext cx="2697479" cy="45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595359" y="4892040"/>
            <a:ext cx="2880360" cy="868680"/>
          </a:xfrm>
          <a:prstGeom prst="rect">
            <a:avLst/>
          </a:prstGeom>
          <a:noFill/>
        </p:spPr>
        <p:txBody>
          <a:bodyPr wrap="square">
            <a:spAutoFit/>
          </a:bodyPr>
          <a:lstStyle/>
          <a:p>
            <a:pPr algn="l"/>
            <a:r>
              <a:rPr sz="1200" b="0" i="1">
                <a:solidFill>
                  <a:srgbClr val="C8D8E8"/>
                </a:solidFill>
              </a:rPr>
              <a:t>Phase 2 après notoriété
Partenariat Ministère
Éducation Nationale</a:t>
            </a:r>
          </a:p>
        </p:txBody>
      </p:sp>
      <p:sp>
        <p:nvSpPr>
          <p:cNvPr id="38" name="Rectangle 37"/>
          <p:cNvSpPr/>
          <p:nvPr/>
        </p:nvSpPr>
        <p:spPr>
          <a:xfrm>
            <a:off x="8549640" y="5833872"/>
            <a:ext cx="2971800" cy="59436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49640" y="5888736"/>
            <a:ext cx="2971800" cy="502920"/>
          </a:xfrm>
          <a:prstGeom prst="rect">
            <a:avLst/>
          </a:prstGeom>
          <a:noFill/>
        </p:spPr>
        <p:txBody>
          <a:bodyPr wrap="square">
            <a:spAutoFit/>
          </a:bodyPr>
          <a:lstStyle/>
          <a:p>
            <a:pPr algn="ctr"/>
            <a:r>
              <a:rPr sz="1200" b="1" i="0">
                <a:solidFill>
                  <a:srgbClr val="FFC200"/>
                </a:solidFill>
              </a:rPr>
              <a:t>332 M€ rentrée
Fort potentiel B2B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D1B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120640"/>
            <a:ext cx="12188952" cy="1737360"/>
          </a:xfrm>
          <a:prstGeom prst="rect">
            <a:avLst/>
          </a:prstGeom>
          <a:solidFill>
            <a:srgbClr val="1A4F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154680"/>
            <a:ext cx="12188952" cy="73152"/>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320040"/>
            <a:ext cx="11274552" cy="594360"/>
          </a:xfrm>
          <a:prstGeom prst="rect">
            <a:avLst/>
          </a:prstGeom>
          <a:noFill/>
        </p:spPr>
        <p:txBody>
          <a:bodyPr wrap="square">
            <a:spAutoFit/>
          </a:bodyPr>
          <a:lstStyle/>
          <a:p>
            <a:pPr algn="ctr"/>
            <a:r>
              <a:rPr sz="2200" b="1" i="0">
                <a:solidFill>
                  <a:srgbClr val="FFC200"/>
                </a:solidFill>
              </a:rPr>
              <a:t>CONCLUSION</a:t>
            </a:r>
          </a:p>
        </p:txBody>
      </p:sp>
      <p:sp>
        <p:nvSpPr>
          <p:cNvPr id="6" name="TextBox 5"/>
          <p:cNvSpPr txBox="1"/>
          <p:nvPr/>
        </p:nvSpPr>
        <p:spPr>
          <a:xfrm>
            <a:off x="457200" y="960120"/>
            <a:ext cx="11274552" cy="1097280"/>
          </a:xfrm>
          <a:prstGeom prst="rect">
            <a:avLst/>
          </a:prstGeom>
          <a:noFill/>
        </p:spPr>
        <p:txBody>
          <a:bodyPr wrap="square">
            <a:spAutoFit/>
          </a:bodyPr>
          <a:lstStyle/>
          <a:p>
            <a:pPr algn="ctr"/>
            <a:r>
              <a:rPr sz="1900" b="0" i="0">
                <a:solidFill>
                  <a:srgbClr val="FFFFFF"/>
                </a:solidFill>
              </a:rPr>
              <a:t>Le Stylo Ortho est le premier stylo correcteur d'orthographe en temps réel sur papier.
Il répond à un besoin réel, validé par 214 répondants, sur un marché encore vierge.</a:t>
            </a:r>
          </a:p>
        </p:txBody>
      </p:sp>
      <p:sp>
        <p:nvSpPr>
          <p:cNvPr id="7" name="TextBox 6"/>
          <p:cNvSpPr txBox="1"/>
          <p:nvPr/>
        </p:nvSpPr>
        <p:spPr>
          <a:xfrm>
            <a:off x="457200" y="2176272"/>
            <a:ext cx="3291840" cy="804672"/>
          </a:xfrm>
          <a:prstGeom prst="rect">
            <a:avLst/>
          </a:prstGeom>
          <a:noFill/>
        </p:spPr>
        <p:txBody>
          <a:bodyPr wrap="square">
            <a:spAutoFit/>
          </a:bodyPr>
          <a:lstStyle/>
          <a:p>
            <a:pPr algn="ctr"/>
            <a:r>
              <a:rPr sz="3800" b="1" i="0">
                <a:solidFill>
                  <a:srgbClr val="FFC200"/>
                </a:solidFill>
              </a:rPr>
              <a:t>82,3 %</a:t>
            </a:r>
          </a:p>
        </p:txBody>
      </p:sp>
      <p:sp>
        <p:nvSpPr>
          <p:cNvPr id="8" name="TextBox 7"/>
          <p:cNvSpPr txBox="1"/>
          <p:nvPr/>
        </p:nvSpPr>
        <p:spPr>
          <a:xfrm>
            <a:off x="457200" y="2907792"/>
            <a:ext cx="3291840" cy="502920"/>
          </a:xfrm>
          <a:prstGeom prst="rect">
            <a:avLst/>
          </a:prstGeom>
          <a:noFill/>
        </p:spPr>
        <p:txBody>
          <a:bodyPr wrap="square">
            <a:spAutoFit/>
          </a:bodyPr>
          <a:lstStyle/>
          <a:p>
            <a:pPr algn="ctr"/>
            <a:r>
              <a:rPr sz="1500" b="0" i="0">
                <a:solidFill>
                  <a:srgbClr val="4A90D9"/>
                </a:solidFill>
              </a:rPr>
              <a:t>intéressés ou
potentiellement</a:t>
            </a:r>
          </a:p>
        </p:txBody>
      </p:sp>
      <p:sp>
        <p:nvSpPr>
          <p:cNvPr id="9" name="TextBox 8"/>
          <p:cNvSpPr txBox="1"/>
          <p:nvPr/>
        </p:nvSpPr>
        <p:spPr>
          <a:xfrm>
            <a:off x="4389120" y="2176272"/>
            <a:ext cx="3291840" cy="804672"/>
          </a:xfrm>
          <a:prstGeom prst="rect">
            <a:avLst/>
          </a:prstGeom>
          <a:noFill/>
        </p:spPr>
        <p:txBody>
          <a:bodyPr wrap="square">
            <a:spAutoFit/>
          </a:bodyPr>
          <a:lstStyle/>
          <a:p>
            <a:pPr algn="ctr"/>
            <a:r>
              <a:rPr sz="3800" b="1" i="0">
                <a:solidFill>
                  <a:srgbClr val="FFC200"/>
                </a:solidFill>
              </a:rPr>
              <a:t>86,4 %</a:t>
            </a:r>
          </a:p>
        </p:txBody>
      </p:sp>
      <p:sp>
        <p:nvSpPr>
          <p:cNvPr id="10" name="TextBox 9"/>
          <p:cNvSpPr txBox="1"/>
          <p:nvPr/>
        </p:nvSpPr>
        <p:spPr>
          <a:xfrm>
            <a:off x="4389120" y="2907792"/>
            <a:ext cx="3291840" cy="502920"/>
          </a:xfrm>
          <a:prstGeom prst="rect">
            <a:avLst/>
          </a:prstGeom>
          <a:noFill/>
        </p:spPr>
        <p:txBody>
          <a:bodyPr wrap="square">
            <a:spAutoFit/>
          </a:bodyPr>
          <a:lstStyle/>
          <a:p>
            <a:pPr algn="ctr"/>
            <a:r>
              <a:rPr sz="1500" b="0" i="0">
                <a:solidFill>
                  <a:srgbClr val="4A90D9"/>
                </a:solidFill>
              </a:rPr>
              <a:t>jugent le produit
utile</a:t>
            </a:r>
          </a:p>
        </p:txBody>
      </p:sp>
      <p:sp>
        <p:nvSpPr>
          <p:cNvPr id="11" name="TextBox 10"/>
          <p:cNvSpPr txBox="1"/>
          <p:nvPr/>
        </p:nvSpPr>
        <p:spPr>
          <a:xfrm>
            <a:off x="8321040" y="2176272"/>
            <a:ext cx="3291840" cy="804672"/>
          </a:xfrm>
          <a:prstGeom prst="rect">
            <a:avLst/>
          </a:prstGeom>
          <a:noFill/>
        </p:spPr>
        <p:txBody>
          <a:bodyPr wrap="square">
            <a:spAutoFit/>
          </a:bodyPr>
          <a:lstStyle/>
          <a:p>
            <a:pPr algn="ctr"/>
            <a:r>
              <a:rPr sz="3800" b="1" i="0">
                <a:solidFill>
                  <a:srgbClr val="FFC200"/>
                </a:solidFill>
              </a:rPr>
              <a:t>99,90 €</a:t>
            </a:r>
          </a:p>
        </p:txBody>
      </p:sp>
      <p:sp>
        <p:nvSpPr>
          <p:cNvPr id="12" name="TextBox 11"/>
          <p:cNvSpPr txBox="1"/>
          <p:nvPr/>
        </p:nvSpPr>
        <p:spPr>
          <a:xfrm>
            <a:off x="8321040" y="2907792"/>
            <a:ext cx="3291840" cy="502920"/>
          </a:xfrm>
          <a:prstGeom prst="rect">
            <a:avLst/>
          </a:prstGeom>
          <a:noFill/>
        </p:spPr>
        <p:txBody>
          <a:bodyPr wrap="square">
            <a:spAutoFit/>
          </a:bodyPr>
          <a:lstStyle/>
          <a:p>
            <a:pPr algn="ctr"/>
            <a:r>
              <a:rPr sz="1500" b="0" i="0">
                <a:solidFill>
                  <a:srgbClr val="4A90D9"/>
                </a:solidFill>
              </a:rPr>
              <a:t>prix de lancement
public</a:t>
            </a:r>
          </a:p>
        </p:txBody>
      </p:sp>
      <p:sp>
        <p:nvSpPr>
          <p:cNvPr id="13" name="Rectangle 12"/>
          <p:cNvSpPr/>
          <p:nvPr/>
        </p:nvSpPr>
        <p:spPr>
          <a:xfrm>
            <a:off x="457200" y="3310128"/>
            <a:ext cx="11274552" cy="1600200"/>
          </a:xfrm>
          <a:prstGeom prst="rect">
            <a:avLst/>
          </a:prstGeom>
          <a:solidFill>
            <a:srgbClr val="FFC2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01568"/>
            <a:ext cx="10972800" cy="384048"/>
          </a:xfrm>
          <a:prstGeom prst="rect">
            <a:avLst/>
          </a:prstGeom>
          <a:noFill/>
        </p:spPr>
        <p:txBody>
          <a:bodyPr wrap="square">
            <a:spAutoFit/>
          </a:bodyPr>
          <a:lstStyle/>
          <a:p>
            <a:pPr algn="l"/>
            <a:r>
              <a:rPr sz="1600" b="0" i="0">
                <a:solidFill>
                  <a:srgbClr val="0D1B3E"/>
                </a:solidFill>
              </a:rPr>
              <a:t>Notre slogan :</a:t>
            </a:r>
          </a:p>
        </p:txBody>
      </p:sp>
      <p:sp>
        <p:nvSpPr>
          <p:cNvPr id="15" name="TextBox 14"/>
          <p:cNvSpPr txBox="1"/>
          <p:nvPr/>
        </p:nvSpPr>
        <p:spPr>
          <a:xfrm>
            <a:off x="457200" y="3703320"/>
            <a:ext cx="11274552" cy="1051560"/>
          </a:xfrm>
          <a:prstGeom prst="rect">
            <a:avLst/>
          </a:prstGeom>
          <a:noFill/>
        </p:spPr>
        <p:txBody>
          <a:bodyPr wrap="square">
            <a:spAutoFit/>
          </a:bodyPr>
          <a:lstStyle/>
          <a:p>
            <a:pPr algn="ctr"/>
            <a:r>
              <a:rPr sz="4400" b="1" i="0">
                <a:solidFill>
                  <a:srgbClr val="0D1B3E"/>
                </a:solidFill>
              </a:rPr>
              <a:t>« Écrire juste, à la main. »</a:t>
            </a:r>
          </a:p>
        </p:txBody>
      </p:sp>
      <p:sp>
        <p:nvSpPr>
          <p:cNvPr id="16" name="TextBox 15"/>
          <p:cNvSpPr txBox="1"/>
          <p:nvPr/>
        </p:nvSpPr>
        <p:spPr>
          <a:xfrm>
            <a:off x="457200" y="5230368"/>
            <a:ext cx="11274552" cy="438912"/>
          </a:xfrm>
          <a:prstGeom prst="rect">
            <a:avLst/>
          </a:prstGeom>
          <a:noFill/>
        </p:spPr>
        <p:txBody>
          <a:bodyPr wrap="square">
            <a:spAutoFit/>
          </a:bodyPr>
          <a:lstStyle/>
          <a:p>
            <a:pPr algn="ctr"/>
            <a:r>
              <a:rPr sz="1800" b="0" i="0">
                <a:solidFill>
                  <a:srgbClr val="FFFFFF"/>
                </a:solidFill>
              </a:rPr>
              <a:t>Stylo Ortho  ·  Assemblé en France  ·  stylo-ortho.fr</a:t>
            </a:r>
          </a:p>
        </p:txBody>
      </p:sp>
      <p:sp>
        <p:nvSpPr>
          <p:cNvPr id="17" name="TextBox 16"/>
          <p:cNvSpPr txBox="1"/>
          <p:nvPr/>
        </p:nvSpPr>
        <p:spPr>
          <a:xfrm>
            <a:off x="457200" y="5742432"/>
            <a:ext cx="11274552" cy="384048"/>
          </a:xfrm>
          <a:prstGeom prst="rect">
            <a:avLst/>
          </a:prstGeom>
          <a:noFill/>
        </p:spPr>
        <p:txBody>
          <a:bodyPr wrap="square">
            <a:spAutoFit/>
          </a:bodyPr>
          <a:lstStyle/>
          <a:p>
            <a:pPr algn="ctr"/>
            <a:r>
              <a:rPr sz="1400" b="0" i="0">
                <a:solidFill>
                  <a:srgbClr val="4A90D9"/>
                </a:solidFill>
              </a:rPr>
              <a:t>Mathéo Guzzi  ·  Pierre Lachat  ·  Valentin Imbault-Casset</a:t>
            </a:r>
          </a:p>
        </p:txBody>
      </p:sp>
      <p:sp>
        <p:nvSpPr>
          <p:cNvPr id="18" name="TextBox 17"/>
          <p:cNvSpPr txBox="1"/>
          <p:nvPr/>
        </p:nvSpPr>
        <p:spPr>
          <a:xfrm>
            <a:off x="457200" y="6172200"/>
            <a:ext cx="11274552" cy="384048"/>
          </a:xfrm>
          <a:prstGeom prst="rect">
            <a:avLst/>
          </a:prstGeom>
          <a:noFill/>
        </p:spPr>
        <p:txBody>
          <a:bodyPr wrap="square">
            <a:spAutoFit/>
          </a:bodyPr>
          <a:lstStyle/>
          <a:p>
            <a:pPr algn="ctr"/>
            <a:r>
              <a:rPr sz="1400" b="0" i="1">
                <a:solidFill>
                  <a:srgbClr val="6088B8"/>
                </a:solidFill>
              </a:rPr>
              <a:t>Merci de votre attention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