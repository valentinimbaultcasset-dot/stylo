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0152" cy="1371600"/>
          </a:xfrm>
          <a:prstGeom prst="rect">
            <a:avLst/>
          </a:prstGeom>
          <a:noFill/>
        </p:spPr>
        <p:txBody>
          <a:bodyPr wrap="square">
            <a:spAutoFit/>
          </a:bodyPr>
          <a:lstStyle/>
          <a:p>
            <a:pPr algn="ctr"/>
            <a:r>
              <a:rPr sz="6000" b="1" i="0">
                <a:solidFill>
                  <a:srgbClr val="FFFFFF"/>
                </a:solidFill>
              </a:rPr>
              <a:t>STYLO ORTHO</a:t>
            </a:r>
          </a:p>
        </p:txBody>
      </p:sp>
      <p:sp>
        <p:nvSpPr>
          <p:cNvPr id="5" name="TextBox 4"/>
          <p:cNvSpPr txBox="1"/>
          <p:nvPr/>
        </p:nvSpPr>
        <p:spPr>
          <a:xfrm>
            <a:off x="914400" y="2468880"/>
            <a:ext cx="10360152" cy="731520"/>
          </a:xfrm>
          <a:prstGeom prst="rect">
            <a:avLst/>
          </a:prstGeom>
          <a:noFill/>
        </p:spPr>
        <p:txBody>
          <a:bodyPr wrap="square">
            <a:spAutoFit/>
          </a:bodyPr>
          <a:lstStyle/>
          <a:p>
            <a:pPr algn="ctr"/>
            <a:r>
              <a:rPr sz="2800" b="0" i="0">
                <a:solidFill>
                  <a:srgbClr val="D0E8F5"/>
                </a:solidFill>
              </a:rPr>
              <a:t>Stylo correcteur d'orthographe</a:t>
            </a:r>
          </a:p>
        </p:txBody>
      </p:sp>
      <p:sp>
        <p:nvSpPr>
          <p:cNvPr id="6" name="TextBox 5"/>
          <p:cNvSpPr txBox="1"/>
          <p:nvPr/>
        </p:nvSpPr>
        <p:spPr>
          <a:xfrm>
            <a:off x="914400" y="3108960"/>
            <a:ext cx="10360152" cy="548640"/>
          </a:xfrm>
          <a:prstGeom prst="rect">
            <a:avLst/>
          </a:prstGeom>
          <a:noFill/>
        </p:spPr>
        <p:txBody>
          <a:bodyPr wrap="square">
            <a:spAutoFit/>
          </a:bodyPr>
          <a:lstStyle/>
          <a:p>
            <a:pPr algn="ctr"/>
            <a:r>
              <a:rPr sz="1800" b="0" i="0">
                <a:solidFill>
                  <a:srgbClr val="B0D0E8"/>
                </a:solidFill>
              </a:rPr>
              <a:t>Assemblé en France  •  Marché de la papeterie intelligente</a:t>
            </a:r>
          </a:p>
        </p:txBody>
      </p:sp>
      <p:sp>
        <p:nvSpPr>
          <p:cNvPr id="7" name="Rectangle 6"/>
          <p:cNvSpPr/>
          <p:nvPr/>
        </p:nvSpPr>
        <p:spPr>
          <a:xfrm>
            <a:off x="4114800" y="3749039"/>
            <a:ext cx="3959352" cy="5486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937760"/>
            <a:ext cx="10360152" cy="640080"/>
          </a:xfrm>
          <a:prstGeom prst="rect">
            <a:avLst/>
          </a:prstGeom>
          <a:noFill/>
        </p:spPr>
        <p:txBody>
          <a:bodyPr wrap="square">
            <a:spAutoFit/>
          </a:bodyPr>
          <a:lstStyle/>
          <a:p>
            <a:pPr algn="ctr"/>
            <a:r>
              <a:rPr sz="2200" b="1" i="0">
                <a:solidFill>
                  <a:srgbClr val="FFFFFF"/>
                </a:solidFill>
              </a:rPr>
              <a:t>ANALYSE DU MARCHÉ</a:t>
            </a:r>
          </a:p>
        </p:txBody>
      </p:sp>
      <p:sp>
        <p:nvSpPr>
          <p:cNvPr id="9" name="TextBox 8"/>
          <p:cNvSpPr txBox="1"/>
          <p:nvPr/>
        </p:nvSpPr>
        <p:spPr>
          <a:xfrm>
            <a:off x="914400" y="5577840"/>
            <a:ext cx="10360152" cy="457200"/>
          </a:xfrm>
          <a:prstGeom prst="rect">
            <a:avLst/>
          </a:prstGeom>
          <a:noFill/>
        </p:spPr>
        <p:txBody>
          <a:bodyPr wrap="square">
            <a:spAutoFit/>
          </a:bodyPr>
          <a:lstStyle/>
          <a:p>
            <a:pPr algn="ctr"/>
            <a:r>
              <a:rPr sz="1400" b="0" i="0">
                <a:solidFill>
                  <a:srgbClr val="D0E8F5"/>
                </a:solidFill>
              </a:rPr>
              <a:t>Mathéo Guzzi  •  Pierre Lachat  •  Valentin Imbault-Casset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1. Introduction</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INTRODUCTION</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4552" cy="914400"/>
          </a:xfrm>
          <a:prstGeom prst="rect">
            <a:avLst/>
          </a:prstGeom>
          <a:noFill/>
        </p:spPr>
        <p:txBody>
          <a:bodyPr wrap="square">
            <a:spAutoFit/>
          </a:bodyPr>
          <a:lstStyle/>
          <a:p>
            <a:pPr algn="l"/>
            <a:r>
              <a:rPr sz="1900" b="0" i="0">
                <a:solidFill>
                  <a:srgbClr val="1A1A2E"/>
                </a:solidFill>
              </a:rPr>
              <a:t>Le stylo correcteur d'orthographe Stylo Ortho apporte une solution innovante au besoin quotidien de corriger ses fautes d'orthographe — en temps réel, sur papier, sans connexion internet.</a:t>
            </a:r>
          </a:p>
        </p:txBody>
      </p:sp>
      <p:sp>
        <p:nvSpPr>
          <p:cNvPr id="7" name="Rectangle 6"/>
          <p:cNvSpPr/>
          <p:nvPr/>
        </p:nvSpPr>
        <p:spPr>
          <a:xfrm>
            <a:off x="457200" y="2560320"/>
            <a:ext cx="2377440" cy="10972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606039"/>
            <a:ext cx="2377440" cy="594360"/>
          </a:xfrm>
          <a:prstGeom prst="rect">
            <a:avLst/>
          </a:prstGeom>
          <a:noFill/>
        </p:spPr>
        <p:txBody>
          <a:bodyPr wrap="square">
            <a:spAutoFit/>
          </a:bodyPr>
          <a:lstStyle/>
          <a:p>
            <a:pPr algn="ctr"/>
            <a:r>
              <a:rPr sz="3000" b="1" i="0">
                <a:solidFill>
                  <a:srgbClr val="FF7A00"/>
                </a:solidFill>
              </a:rPr>
              <a:t>214</a:t>
            </a:r>
          </a:p>
        </p:txBody>
      </p:sp>
      <p:sp>
        <p:nvSpPr>
          <p:cNvPr id="9" name="TextBox 8"/>
          <p:cNvSpPr txBox="1"/>
          <p:nvPr/>
        </p:nvSpPr>
        <p:spPr>
          <a:xfrm>
            <a:off x="457200" y="3154679"/>
            <a:ext cx="2377440" cy="457200"/>
          </a:xfrm>
          <a:prstGeom prst="rect">
            <a:avLst/>
          </a:prstGeom>
          <a:noFill/>
        </p:spPr>
        <p:txBody>
          <a:bodyPr wrap="square">
            <a:spAutoFit/>
          </a:bodyPr>
          <a:lstStyle/>
          <a:p>
            <a:pPr algn="ctr"/>
            <a:r>
              <a:rPr sz="1300" b="0" i="0">
                <a:solidFill>
                  <a:srgbClr val="FFFFFF"/>
                </a:solidFill>
              </a:rPr>
              <a:t>répondants à l'enquête</a:t>
            </a:r>
          </a:p>
        </p:txBody>
      </p:sp>
      <p:sp>
        <p:nvSpPr>
          <p:cNvPr id="10" name="Rectangle 9"/>
          <p:cNvSpPr/>
          <p:nvPr/>
        </p:nvSpPr>
        <p:spPr>
          <a:xfrm>
            <a:off x="3017520" y="2560320"/>
            <a:ext cx="2377440" cy="10972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17520" y="2606039"/>
            <a:ext cx="2377440" cy="594360"/>
          </a:xfrm>
          <a:prstGeom prst="rect">
            <a:avLst/>
          </a:prstGeom>
          <a:noFill/>
        </p:spPr>
        <p:txBody>
          <a:bodyPr wrap="square">
            <a:spAutoFit/>
          </a:bodyPr>
          <a:lstStyle/>
          <a:p>
            <a:pPr algn="ctr"/>
            <a:r>
              <a:rPr sz="3000" b="1" i="0">
                <a:solidFill>
                  <a:srgbClr val="FF7A00"/>
                </a:solidFill>
              </a:rPr>
              <a:t>82,3 %</a:t>
            </a:r>
          </a:p>
        </p:txBody>
      </p:sp>
      <p:sp>
        <p:nvSpPr>
          <p:cNvPr id="12" name="TextBox 11"/>
          <p:cNvSpPr txBox="1"/>
          <p:nvPr/>
        </p:nvSpPr>
        <p:spPr>
          <a:xfrm>
            <a:off x="3017520" y="3154679"/>
            <a:ext cx="2377440" cy="457200"/>
          </a:xfrm>
          <a:prstGeom prst="rect">
            <a:avLst/>
          </a:prstGeom>
          <a:noFill/>
        </p:spPr>
        <p:txBody>
          <a:bodyPr wrap="square">
            <a:spAutoFit/>
          </a:bodyPr>
          <a:lstStyle/>
          <a:p>
            <a:pPr algn="ctr"/>
            <a:r>
              <a:rPr sz="1300" b="0" i="0">
                <a:solidFill>
                  <a:srgbClr val="FFFFFF"/>
                </a:solidFill>
              </a:rPr>
              <a:t>Oui + Peut-être</a:t>
            </a:r>
          </a:p>
        </p:txBody>
      </p:sp>
      <p:sp>
        <p:nvSpPr>
          <p:cNvPr id="13" name="Rectangle 12"/>
          <p:cNvSpPr/>
          <p:nvPr/>
        </p:nvSpPr>
        <p:spPr>
          <a:xfrm>
            <a:off x="5577840" y="2560320"/>
            <a:ext cx="2377440" cy="10972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2606039"/>
            <a:ext cx="2377440" cy="594360"/>
          </a:xfrm>
          <a:prstGeom prst="rect">
            <a:avLst/>
          </a:prstGeom>
          <a:noFill/>
        </p:spPr>
        <p:txBody>
          <a:bodyPr wrap="square">
            <a:spAutoFit/>
          </a:bodyPr>
          <a:lstStyle/>
          <a:p>
            <a:pPr algn="ctr"/>
            <a:r>
              <a:rPr sz="3000" b="1" i="0">
                <a:solidFill>
                  <a:srgbClr val="FF7A00"/>
                </a:solidFill>
              </a:rPr>
              <a:t>86,4 %</a:t>
            </a:r>
          </a:p>
        </p:txBody>
      </p:sp>
      <p:sp>
        <p:nvSpPr>
          <p:cNvPr id="15" name="TextBox 14"/>
          <p:cNvSpPr txBox="1"/>
          <p:nvPr/>
        </p:nvSpPr>
        <p:spPr>
          <a:xfrm>
            <a:off x="5577840" y="3154679"/>
            <a:ext cx="2377440" cy="457200"/>
          </a:xfrm>
          <a:prstGeom prst="rect">
            <a:avLst/>
          </a:prstGeom>
          <a:noFill/>
        </p:spPr>
        <p:txBody>
          <a:bodyPr wrap="square">
            <a:spAutoFit/>
          </a:bodyPr>
          <a:lstStyle/>
          <a:p>
            <a:pPr algn="ctr"/>
            <a:r>
              <a:rPr sz="1300" b="0" i="0">
                <a:solidFill>
                  <a:srgbClr val="FFFFFF"/>
                </a:solidFill>
              </a:rPr>
              <a:t>jugent le produit utile</a:t>
            </a:r>
          </a:p>
        </p:txBody>
      </p:sp>
      <p:sp>
        <p:nvSpPr>
          <p:cNvPr id="16" name="Rectangle 15"/>
          <p:cNvSpPr/>
          <p:nvPr/>
        </p:nvSpPr>
        <p:spPr>
          <a:xfrm>
            <a:off x="8138160" y="2560320"/>
            <a:ext cx="2377440" cy="10972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2606039"/>
            <a:ext cx="2377440" cy="594360"/>
          </a:xfrm>
          <a:prstGeom prst="rect">
            <a:avLst/>
          </a:prstGeom>
          <a:noFill/>
        </p:spPr>
        <p:txBody>
          <a:bodyPr wrap="square">
            <a:spAutoFit/>
          </a:bodyPr>
          <a:lstStyle/>
          <a:p>
            <a:pPr algn="ctr"/>
            <a:r>
              <a:rPr sz="3000" b="1" i="0">
                <a:solidFill>
                  <a:srgbClr val="FF7A00"/>
                </a:solidFill>
              </a:rPr>
              <a:t>99,90 €</a:t>
            </a:r>
          </a:p>
        </p:txBody>
      </p:sp>
      <p:sp>
        <p:nvSpPr>
          <p:cNvPr id="18" name="TextBox 17"/>
          <p:cNvSpPr txBox="1"/>
          <p:nvPr/>
        </p:nvSpPr>
        <p:spPr>
          <a:xfrm>
            <a:off x="8138160" y="3154679"/>
            <a:ext cx="2377440" cy="457200"/>
          </a:xfrm>
          <a:prstGeom prst="rect">
            <a:avLst/>
          </a:prstGeom>
          <a:noFill/>
        </p:spPr>
        <p:txBody>
          <a:bodyPr wrap="square">
            <a:spAutoFit/>
          </a:bodyPr>
          <a:lstStyle/>
          <a:p>
            <a:pPr algn="ctr"/>
            <a:r>
              <a:rPr sz="1300" b="0" i="0">
                <a:solidFill>
                  <a:srgbClr val="FFFFFF"/>
                </a:solidFill>
              </a:rPr>
              <a:t>prix de vente public</a:t>
            </a:r>
          </a:p>
        </p:txBody>
      </p:sp>
      <p:sp>
        <p:nvSpPr>
          <p:cNvPr id="19" name="Rectangle 18"/>
          <p:cNvSpPr/>
          <p:nvPr/>
        </p:nvSpPr>
        <p:spPr>
          <a:xfrm>
            <a:off x="457200" y="3931920"/>
            <a:ext cx="11274552"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41648"/>
            <a:ext cx="11000232" cy="365760"/>
          </a:xfrm>
          <a:prstGeom prst="rect">
            <a:avLst/>
          </a:prstGeom>
          <a:noFill/>
        </p:spPr>
        <p:txBody>
          <a:bodyPr wrap="square">
            <a:spAutoFit/>
          </a:bodyPr>
          <a:lstStyle/>
          <a:p>
            <a:pPr algn="l"/>
            <a:r>
              <a:rPr sz="1800" b="1" i="0">
                <a:solidFill>
                  <a:srgbClr val="0A294B"/>
                </a:solidFill>
              </a:rPr>
              <a:t>Contexte marché</a:t>
            </a:r>
          </a:p>
        </p:txBody>
      </p:sp>
      <p:sp>
        <p:nvSpPr>
          <p:cNvPr id="21" name="TextBox 20"/>
          <p:cNvSpPr txBox="1"/>
          <p:nvPr/>
        </p:nvSpPr>
        <p:spPr>
          <a:xfrm>
            <a:off x="594360" y="4425696"/>
            <a:ext cx="11000232" cy="2020824"/>
          </a:xfrm>
          <a:prstGeom prst="rect">
            <a:avLst/>
          </a:prstGeom>
          <a:noFill/>
        </p:spPr>
        <p:txBody>
          <a:bodyPr wrap="square">
            <a:spAutoFit/>
          </a:bodyPr>
          <a:lstStyle/>
          <a:p>
            <a:pPr>
              <a:spcAft>
                <a:spcPts val="300"/>
              </a:spcAft>
            </a:pPr>
            <a:r>
              <a:rPr sz="1700">
                <a:solidFill>
                  <a:srgbClr val="1A1A2E"/>
                </a:solidFill>
              </a:rPr>
              <a:t>Marché de la papeterie en France : 4,6 milliards d'euros en 2025</a:t>
            </a:r>
          </a:p>
          <a:p>
            <a:pPr>
              <a:spcAft>
                <a:spcPts val="300"/>
              </a:spcAft>
            </a:pPr>
            <a:r>
              <a:rPr sz="1700">
                <a:solidFill>
                  <a:srgbClr val="1A1A2E"/>
                </a:solidFill>
              </a:rPr>
              <a:t>107 millions d'articles vendus à la rentrée scolaire 2024</a:t>
            </a:r>
          </a:p>
          <a:p>
            <a:pPr>
              <a:spcAft>
                <a:spcPts val="300"/>
              </a:spcAft>
            </a:pPr>
            <a:r>
              <a:rPr sz="1700">
                <a:solidFill>
                  <a:srgbClr val="1A1A2E"/>
                </a:solidFill>
              </a:rPr>
              <a:t>Segment des stylos intelligents quasi inexistant en France → opportunité pionnière</a:t>
            </a:r>
          </a:p>
          <a:p>
            <a:pPr>
              <a:spcAft>
                <a:spcPts val="300"/>
              </a:spcAft>
            </a:pPr>
            <a:r>
              <a:rPr sz="1700">
                <a:solidFill>
                  <a:srgbClr val="1A1A2E"/>
                </a:solidFill>
              </a:rPr>
              <a:t>Produit assemblé en France (Nicomatic) — conformité normes européennes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2.1 Analyse quantitative de la demande</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DEMANDE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74552" cy="502920"/>
          </a:xfrm>
          <a:prstGeom prst="rect">
            <a:avLst/>
          </a:prstGeom>
          <a:noFill/>
        </p:spPr>
        <p:txBody>
          <a:bodyPr wrap="square">
            <a:spAutoFit/>
          </a:bodyPr>
          <a:lstStyle/>
          <a:p>
            <a:pPr algn="l"/>
            <a:r>
              <a:rPr sz="1600" b="0" i="1">
                <a:solidFill>
                  <a:srgbClr val="1A5276"/>
                </a:solidFill>
              </a:rPr>
              <a:t>Chiffres généraux sur le marché : poids en volume et en valeur, taux de croissance, tendance et quantités moyennes consommées.</a:t>
            </a:r>
          </a:p>
        </p:txBody>
      </p:sp>
      <p:sp>
        <p:nvSpPr>
          <p:cNvPr id="7" name="Rectangle 6"/>
          <p:cNvSpPr/>
          <p:nvPr/>
        </p:nvSpPr>
        <p:spPr>
          <a:xfrm>
            <a:off x="457200" y="1965960"/>
            <a:ext cx="11274552" cy="3657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02536"/>
            <a:ext cx="5029200" cy="320040"/>
          </a:xfrm>
          <a:prstGeom prst="rect">
            <a:avLst/>
          </a:prstGeom>
          <a:noFill/>
        </p:spPr>
        <p:txBody>
          <a:bodyPr wrap="square">
            <a:spAutoFit/>
          </a:bodyPr>
          <a:lstStyle/>
          <a:p>
            <a:pPr algn="l"/>
            <a:r>
              <a:rPr sz="1400" b="1" i="0">
                <a:solidFill>
                  <a:srgbClr val="FFFFFF"/>
                </a:solidFill>
              </a:rPr>
              <a:t>Indicateur</a:t>
            </a:r>
          </a:p>
        </p:txBody>
      </p:sp>
      <p:sp>
        <p:nvSpPr>
          <p:cNvPr id="9" name="TextBox 8"/>
          <p:cNvSpPr txBox="1"/>
          <p:nvPr/>
        </p:nvSpPr>
        <p:spPr>
          <a:xfrm>
            <a:off x="5577840" y="2002536"/>
            <a:ext cx="5943600" cy="320040"/>
          </a:xfrm>
          <a:prstGeom prst="rect">
            <a:avLst/>
          </a:prstGeom>
          <a:noFill/>
        </p:spPr>
        <p:txBody>
          <a:bodyPr wrap="square">
            <a:spAutoFit/>
          </a:bodyPr>
          <a:lstStyle/>
          <a:p>
            <a:pPr algn="l"/>
            <a:r>
              <a:rPr sz="1400" b="1" i="0">
                <a:solidFill>
                  <a:srgbClr val="FFFFFF"/>
                </a:solidFill>
              </a:rPr>
              <a:t>En valeur / Volume</a:t>
            </a:r>
          </a:p>
        </p:txBody>
      </p:sp>
      <p:sp>
        <p:nvSpPr>
          <p:cNvPr id="10" name="Rectangle 9"/>
          <p:cNvSpPr/>
          <p:nvPr/>
        </p:nvSpPr>
        <p:spPr>
          <a:xfrm>
            <a:off x="457200" y="2441448"/>
            <a:ext cx="1127455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478024"/>
            <a:ext cx="5029200" cy="411480"/>
          </a:xfrm>
          <a:prstGeom prst="rect">
            <a:avLst/>
          </a:prstGeom>
          <a:noFill/>
        </p:spPr>
        <p:txBody>
          <a:bodyPr wrap="square">
            <a:spAutoFit/>
          </a:bodyPr>
          <a:lstStyle/>
          <a:p>
            <a:pPr algn="l"/>
            <a:r>
              <a:rPr sz="1300" b="1" i="0">
                <a:solidFill>
                  <a:srgbClr val="0A294B"/>
                </a:solidFill>
              </a:rPr>
              <a:t>Marché papeterie France (2025)</a:t>
            </a:r>
          </a:p>
        </p:txBody>
      </p:sp>
      <p:sp>
        <p:nvSpPr>
          <p:cNvPr id="12" name="TextBox 11"/>
          <p:cNvSpPr txBox="1"/>
          <p:nvPr/>
        </p:nvSpPr>
        <p:spPr>
          <a:xfrm>
            <a:off x="5577840" y="2478024"/>
            <a:ext cx="5943600" cy="411480"/>
          </a:xfrm>
          <a:prstGeom prst="rect">
            <a:avLst/>
          </a:prstGeom>
          <a:noFill/>
        </p:spPr>
        <p:txBody>
          <a:bodyPr wrap="square">
            <a:spAutoFit/>
          </a:bodyPr>
          <a:lstStyle/>
          <a:p>
            <a:pPr algn="l"/>
            <a:r>
              <a:rPr sz="1300" b="0" i="0">
                <a:solidFill>
                  <a:srgbClr val="1A1A2E"/>
                </a:solidFill>
              </a:rPr>
              <a:t>4,6 milliards d'euros — +52,1 % de CA en août vs décembre (forte saisonnalité rentrée)</a:t>
            </a:r>
          </a:p>
        </p:txBody>
      </p:sp>
      <p:sp>
        <p:nvSpPr>
          <p:cNvPr id="13" name="Rectangle 12"/>
          <p:cNvSpPr/>
          <p:nvPr/>
        </p:nvSpPr>
        <p:spPr>
          <a:xfrm>
            <a:off x="457200" y="2916936"/>
            <a:ext cx="11274552" cy="457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953512"/>
            <a:ext cx="5029200" cy="411480"/>
          </a:xfrm>
          <a:prstGeom prst="rect">
            <a:avLst/>
          </a:prstGeom>
          <a:noFill/>
        </p:spPr>
        <p:txBody>
          <a:bodyPr wrap="square">
            <a:spAutoFit/>
          </a:bodyPr>
          <a:lstStyle/>
          <a:p>
            <a:pPr algn="l"/>
            <a:r>
              <a:rPr sz="1300" b="1" i="0">
                <a:solidFill>
                  <a:srgbClr val="0A294B"/>
                </a:solidFill>
              </a:rPr>
              <a:t>Papeterie hors papier bureautique (2024)</a:t>
            </a:r>
          </a:p>
        </p:txBody>
      </p:sp>
      <p:sp>
        <p:nvSpPr>
          <p:cNvPr id="15" name="TextBox 14"/>
          <p:cNvSpPr txBox="1"/>
          <p:nvPr/>
        </p:nvSpPr>
        <p:spPr>
          <a:xfrm>
            <a:off x="5577840" y="2953512"/>
            <a:ext cx="5943600" cy="411480"/>
          </a:xfrm>
          <a:prstGeom prst="rect">
            <a:avLst/>
          </a:prstGeom>
          <a:noFill/>
        </p:spPr>
        <p:txBody>
          <a:bodyPr wrap="square">
            <a:spAutoFit/>
          </a:bodyPr>
          <a:lstStyle/>
          <a:p>
            <a:pPr algn="l"/>
            <a:r>
              <a:rPr sz="1300" b="0" i="0">
                <a:solidFill>
                  <a:srgbClr val="1A1A2E"/>
                </a:solidFill>
              </a:rPr>
              <a:t>1,3 milliard d'euros — 107 millions d'articles vendus à la rentrée scolaire 2024</a:t>
            </a:r>
          </a:p>
        </p:txBody>
      </p:sp>
      <p:sp>
        <p:nvSpPr>
          <p:cNvPr id="16" name="Rectangle 15"/>
          <p:cNvSpPr/>
          <p:nvPr/>
        </p:nvSpPr>
        <p:spPr>
          <a:xfrm>
            <a:off x="457200" y="3392424"/>
            <a:ext cx="1127455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29000"/>
            <a:ext cx="5029200" cy="411480"/>
          </a:xfrm>
          <a:prstGeom prst="rect">
            <a:avLst/>
          </a:prstGeom>
          <a:noFill/>
        </p:spPr>
        <p:txBody>
          <a:bodyPr wrap="square">
            <a:spAutoFit/>
          </a:bodyPr>
          <a:lstStyle/>
          <a:p>
            <a:pPr algn="l"/>
            <a:r>
              <a:rPr sz="1300" b="1" i="0">
                <a:solidFill>
                  <a:srgbClr val="0A294B"/>
                </a:solidFill>
              </a:rPr>
              <a:t>Marché mondial (2024)</a:t>
            </a:r>
          </a:p>
        </p:txBody>
      </p:sp>
      <p:sp>
        <p:nvSpPr>
          <p:cNvPr id="18" name="TextBox 17"/>
          <p:cNvSpPr txBox="1"/>
          <p:nvPr/>
        </p:nvSpPr>
        <p:spPr>
          <a:xfrm>
            <a:off x="5577840" y="3429000"/>
            <a:ext cx="5943600" cy="411480"/>
          </a:xfrm>
          <a:prstGeom prst="rect">
            <a:avLst/>
          </a:prstGeom>
          <a:noFill/>
        </p:spPr>
        <p:txBody>
          <a:bodyPr wrap="square">
            <a:spAutoFit/>
          </a:bodyPr>
          <a:lstStyle/>
          <a:p>
            <a:pPr algn="l"/>
            <a:r>
              <a:rPr sz="1300" b="0" i="0">
                <a:solidFill>
                  <a:srgbClr val="1A1A2E"/>
                </a:solidFill>
              </a:rPr>
              <a:t>147,5 milliards de dollars — TCAC +3,8 % jusqu'en 2034</a:t>
            </a:r>
          </a:p>
        </p:txBody>
      </p:sp>
      <p:sp>
        <p:nvSpPr>
          <p:cNvPr id="19" name="Rectangle 18"/>
          <p:cNvSpPr/>
          <p:nvPr/>
        </p:nvSpPr>
        <p:spPr>
          <a:xfrm>
            <a:off x="457200" y="3867912"/>
            <a:ext cx="11274552" cy="4572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904488"/>
            <a:ext cx="5029200" cy="411480"/>
          </a:xfrm>
          <a:prstGeom prst="rect">
            <a:avLst/>
          </a:prstGeom>
          <a:noFill/>
        </p:spPr>
        <p:txBody>
          <a:bodyPr wrap="square">
            <a:spAutoFit/>
          </a:bodyPr>
          <a:lstStyle/>
          <a:p>
            <a:pPr algn="l"/>
            <a:r>
              <a:rPr sz="1300" b="1" i="0">
                <a:solidFill>
                  <a:srgbClr val="0A294B"/>
                </a:solidFill>
              </a:rPr>
              <a:t>Fournitures scolaires mondiales</a:t>
            </a:r>
          </a:p>
        </p:txBody>
      </p:sp>
      <p:sp>
        <p:nvSpPr>
          <p:cNvPr id="21" name="TextBox 20"/>
          <p:cNvSpPr txBox="1"/>
          <p:nvPr/>
        </p:nvSpPr>
        <p:spPr>
          <a:xfrm>
            <a:off x="5577840" y="3904488"/>
            <a:ext cx="5943600" cy="411480"/>
          </a:xfrm>
          <a:prstGeom prst="rect">
            <a:avLst/>
          </a:prstGeom>
          <a:noFill/>
        </p:spPr>
        <p:txBody>
          <a:bodyPr wrap="square">
            <a:spAutoFit/>
          </a:bodyPr>
          <a:lstStyle/>
          <a:p>
            <a:pPr algn="l"/>
            <a:r>
              <a:rPr sz="1300" b="0" i="0">
                <a:solidFill>
                  <a:srgbClr val="1A1A2E"/>
                </a:solidFill>
              </a:rPr>
              <a:t>40 % de la demande mondiale</a:t>
            </a:r>
          </a:p>
        </p:txBody>
      </p:sp>
      <p:sp>
        <p:nvSpPr>
          <p:cNvPr id="22" name="Rectangle 21"/>
          <p:cNvSpPr/>
          <p:nvPr/>
        </p:nvSpPr>
        <p:spPr>
          <a:xfrm>
            <a:off x="457200" y="4462272"/>
            <a:ext cx="11274552" cy="10515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507992"/>
            <a:ext cx="10972800" cy="365760"/>
          </a:xfrm>
          <a:prstGeom prst="rect">
            <a:avLst/>
          </a:prstGeom>
          <a:noFill/>
        </p:spPr>
        <p:txBody>
          <a:bodyPr wrap="square">
            <a:spAutoFit/>
          </a:bodyPr>
          <a:lstStyle/>
          <a:p>
            <a:pPr algn="l"/>
            <a:r>
              <a:rPr sz="1500" b="1" i="0">
                <a:solidFill>
                  <a:srgbClr val="FFFFFF"/>
                </a:solidFill>
              </a:rPr>
              <a:t>📊 Tri à plat — Fréquence des fautes d'orthographe (enquête n=214)</a:t>
            </a:r>
          </a:p>
        </p:txBody>
      </p:sp>
      <p:sp>
        <p:nvSpPr>
          <p:cNvPr id="24" name="TextBox 23"/>
          <p:cNvSpPr txBox="1"/>
          <p:nvPr/>
        </p:nvSpPr>
        <p:spPr>
          <a:xfrm>
            <a:off x="640080" y="4873752"/>
            <a:ext cx="10972800" cy="548640"/>
          </a:xfrm>
          <a:prstGeom prst="rect">
            <a:avLst/>
          </a:prstGeom>
          <a:noFill/>
        </p:spPr>
        <p:txBody>
          <a:bodyPr wrap="square">
            <a:spAutoFit/>
          </a:bodyPr>
          <a:lstStyle/>
          <a:p>
            <a:pPr algn="l"/>
            <a:r>
              <a:rPr sz="1400" b="0" i="0">
                <a:solidFill>
                  <a:srgbClr val="D0E8F5"/>
                </a:solidFill>
              </a:rPr>
              <a:t>45 % des répondants font des fautes souvent ou très souvent. C'est la cible directe et fonctionnelle du Stylo Ortho. Ce chiffre valide le besoin concret et quotidien du produit sur le marché.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2.2 Analyse qualitative de la demande</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DEMANDE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1274552" cy="457200"/>
          </a:xfrm>
          <a:prstGeom prst="rect">
            <a:avLst/>
          </a:prstGeom>
          <a:noFill/>
        </p:spPr>
        <p:txBody>
          <a:bodyPr wrap="square">
            <a:spAutoFit/>
          </a:bodyPr>
          <a:lstStyle/>
          <a:p>
            <a:pPr algn="l"/>
            <a:r>
              <a:rPr sz="1600" b="0" i="1">
                <a:solidFill>
                  <a:srgbClr val="1A5276"/>
                </a:solidFill>
              </a:rPr>
              <a:t>Analyse du comportement d'achat du consommateur en s'appuyant sur les facteurs explicatifs.</a:t>
            </a:r>
          </a:p>
        </p:txBody>
      </p:sp>
      <p:sp>
        <p:nvSpPr>
          <p:cNvPr id="7" name="Rectangle 6"/>
          <p:cNvSpPr/>
          <p:nvPr/>
        </p:nvSpPr>
        <p:spPr>
          <a:xfrm>
            <a:off x="365760" y="1920240"/>
            <a:ext cx="2743200" cy="27432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29968"/>
            <a:ext cx="2468880" cy="365760"/>
          </a:xfrm>
          <a:prstGeom prst="rect">
            <a:avLst/>
          </a:prstGeom>
          <a:noFill/>
        </p:spPr>
        <p:txBody>
          <a:bodyPr wrap="square">
            <a:spAutoFit/>
          </a:bodyPr>
          <a:lstStyle/>
          <a:p>
            <a:pPr algn="l"/>
            <a:r>
              <a:rPr sz="1600" b="1" i="0">
                <a:solidFill>
                  <a:srgbClr val="FFFFFF"/>
                </a:solidFill>
              </a:rPr>
              <a:t>Acheteur</a:t>
            </a:r>
          </a:p>
        </p:txBody>
      </p:sp>
      <p:sp>
        <p:nvSpPr>
          <p:cNvPr id="9" name="TextBox 8"/>
          <p:cNvSpPr txBox="1"/>
          <p:nvPr/>
        </p:nvSpPr>
        <p:spPr>
          <a:xfrm>
            <a:off x="502920" y="2414016"/>
            <a:ext cx="2468880" cy="2112264"/>
          </a:xfrm>
          <a:prstGeom prst="rect">
            <a:avLst/>
          </a:prstGeom>
          <a:noFill/>
        </p:spPr>
        <p:txBody>
          <a:bodyPr wrap="square">
            <a:spAutoFit/>
          </a:bodyPr>
          <a:lstStyle/>
          <a:p>
            <a:pPr>
              <a:spcAft>
                <a:spcPts val="300"/>
              </a:spcAft>
            </a:pPr>
            <a:r>
              <a:rPr sz="1400">
                <a:solidFill>
                  <a:srgbClr val="1A1A2E"/>
                </a:solidFill>
              </a:rPr>
              <a:t>• Parents d'élèves (30–50 ans)</a:t>
            </a:r>
          </a:p>
          <a:p>
            <a:pPr>
              <a:spcAft>
                <a:spcPts val="300"/>
              </a:spcAft>
            </a:pPr>
            <a:r>
              <a:rPr sz="1400">
                <a:solidFill>
                  <a:srgbClr val="1A1A2E"/>
                </a:solidFill>
              </a:rPr>
              <a:t>• Élèves eux-mêmes (dès le collège)</a:t>
            </a:r>
          </a:p>
          <a:p>
            <a:pPr>
              <a:spcAft>
                <a:spcPts val="300"/>
              </a:spcAft>
            </a:pPr>
            <a:r>
              <a:rPr sz="1400">
                <a:solidFill>
                  <a:srgbClr val="1A1A2E"/>
                </a:solidFill>
              </a:rPr>
              <a:t>• Écoles et centres de formation</a:t>
            </a:r>
          </a:p>
          <a:p>
            <a:pPr>
              <a:spcAft>
                <a:spcPts val="300"/>
              </a:spcAft>
            </a:pPr>
            <a:r>
              <a:rPr sz="1400">
                <a:solidFill>
                  <a:srgbClr val="1A1A2E"/>
                </a:solidFill>
              </a:rPr>
              <a:t>• Entreprises</a:t>
            </a:r>
          </a:p>
        </p:txBody>
      </p:sp>
      <p:sp>
        <p:nvSpPr>
          <p:cNvPr id="10" name="Rectangle 9"/>
          <p:cNvSpPr/>
          <p:nvPr/>
        </p:nvSpPr>
        <p:spPr>
          <a:xfrm>
            <a:off x="3291840" y="1920240"/>
            <a:ext cx="2743200" cy="27432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029968"/>
            <a:ext cx="2468880" cy="365760"/>
          </a:xfrm>
          <a:prstGeom prst="rect">
            <a:avLst/>
          </a:prstGeom>
          <a:noFill/>
        </p:spPr>
        <p:txBody>
          <a:bodyPr wrap="square">
            <a:spAutoFit/>
          </a:bodyPr>
          <a:lstStyle/>
          <a:p>
            <a:pPr algn="l"/>
            <a:r>
              <a:rPr sz="1600" b="1" i="0">
                <a:solidFill>
                  <a:srgbClr val="FFFFFF"/>
                </a:solidFill>
              </a:rPr>
              <a:t>Utilisateur</a:t>
            </a:r>
          </a:p>
        </p:txBody>
      </p:sp>
      <p:sp>
        <p:nvSpPr>
          <p:cNvPr id="12" name="TextBox 11"/>
          <p:cNvSpPr txBox="1"/>
          <p:nvPr/>
        </p:nvSpPr>
        <p:spPr>
          <a:xfrm>
            <a:off x="3429000" y="2414016"/>
            <a:ext cx="2468880" cy="2112264"/>
          </a:xfrm>
          <a:prstGeom prst="rect">
            <a:avLst/>
          </a:prstGeom>
          <a:noFill/>
        </p:spPr>
        <p:txBody>
          <a:bodyPr wrap="square">
            <a:spAutoFit/>
          </a:bodyPr>
          <a:lstStyle/>
          <a:p>
            <a:pPr>
              <a:spcAft>
                <a:spcPts val="300"/>
              </a:spcAft>
            </a:pPr>
            <a:r>
              <a:rPr sz="1400">
                <a:solidFill>
                  <a:srgbClr val="1A1A2E"/>
                </a:solidFill>
              </a:rPr>
              <a:t>• Élèves et étudiants (dès le collège)</a:t>
            </a:r>
          </a:p>
          <a:p>
            <a:pPr>
              <a:spcAft>
                <a:spcPts val="300"/>
              </a:spcAft>
            </a:pPr>
            <a:r>
              <a:rPr sz="1400">
                <a:solidFill>
                  <a:srgbClr val="1A1A2E"/>
                </a:solidFill>
              </a:rPr>
              <a:t>• Professionnels écrivant à la main</a:t>
            </a:r>
          </a:p>
          <a:p>
            <a:pPr>
              <a:spcAft>
                <a:spcPts val="300"/>
              </a:spcAft>
            </a:pPr>
            <a:r>
              <a:rPr sz="1400">
                <a:solidFill>
                  <a:srgbClr val="1A1A2E"/>
                </a:solidFill>
              </a:rPr>
              <a:t>• Personnes avec difficultés d'écriture</a:t>
            </a:r>
          </a:p>
          <a:p>
            <a:pPr>
              <a:spcAft>
                <a:spcPts val="300"/>
              </a:spcAft>
            </a:pPr>
            <a:r>
              <a:rPr sz="1400">
                <a:solidFill>
                  <a:srgbClr val="1A1A2E"/>
                </a:solidFill>
              </a:rPr>
              <a:t>• Apprenants d'une langue étrangère</a:t>
            </a:r>
          </a:p>
        </p:txBody>
      </p:sp>
      <p:sp>
        <p:nvSpPr>
          <p:cNvPr id="13" name="Rectangle 12"/>
          <p:cNvSpPr/>
          <p:nvPr/>
        </p:nvSpPr>
        <p:spPr>
          <a:xfrm>
            <a:off x="6217920" y="1920240"/>
            <a:ext cx="2743200" cy="27432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029968"/>
            <a:ext cx="2468880" cy="365760"/>
          </a:xfrm>
          <a:prstGeom prst="rect">
            <a:avLst/>
          </a:prstGeom>
          <a:noFill/>
        </p:spPr>
        <p:txBody>
          <a:bodyPr wrap="square">
            <a:spAutoFit/>
          </a:bodyPr>
          <a:lstStyle/>
          <a:p>
            <a:pPr algn="l"/>
            <a:r>
              <a:rPr sz="1600" b="1" i="0">
                <a:solidFill>
                  <a:srgbClr val="FFFFFF"/>
                </a:solidFill>
              </a:rPr>
              <a:t>Prescripteur</a:t>
            </a:r>
          </a:p>
        </p:txBody>
      </p:sp>
      <p:sp>
        <p:nvSpPr>
          <p:cNvPr id="15" name="TextBox 14"/>
          <p:cNvSpPr txBox="1"/>
          <p:nvPr/>
        </p:nvSpPr>
        <p:spPr>
          <a:xfrm>
            <a:off x="6355080" y="2414016"/>
            <a:ext cx="2468880" cy="2112264"/>
          </a:xfrm>
          <a:prstGeom prst="rect">
            <a:avLst/>
          </a:prstGeom>
          <a:noFill/>
        </p:spPr>
        <p:txBody>
          <a:bodyPr wrap="square">
            <a:spAutoFit/>
          </a:bodyPr>
          <a:lstStyle/>
          <a:p>
            <a:pPr>
              <a:spcAft>
                <a:spcPts val="300"/>
              </a:spcAft>
            </a:pPr>
            <a:r>
              <a:rPr sz="1400">
                <a:solidFill>
                  <a:srgbClr val="1A1A2E"/>
                </a:solidFill>
              </a:rPr>
              <a:t>• Enseignants et éducateurs spécialisés</a:t>
            </a:r>
          </a:p>
        </p:txBody>
      </p:sp>
      <p:sp>
        <p:nvSpPr>
          <p:cNvPr id="16" name="Rectangle 15"/>
          <p:cNvSpPr/>
          <p:nvPr/>
        </p:nvSpPr>
        <p:spPr>
          <a:xfrm>
            <a:off x="9144000" y="1920240"/>
            <a:ext cx="2743200" cy="27432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2029968"/>
            <a:ext cx="2468880" cy="365760"/>
          </a:xfrm>
          <a:prstGeom prst="rect">
            <a:avLst/>
          </a:prstGeom>
          <a:noFill/>
        </p:spPr>
        <p:txBody>
          <a:bodyPr wrap="square">
            <a:spAutoFit/>
          </a:bodyPr>
          <a:lstStyle/>
          <a:p>
            <a:pPr algn="l"/>
            <a:r>
              <a:rPr sz="1600" b="1" i="0">
                <a:solidFill>
                  <a:srgbClr val="FFFFFF"/>
                </a:solidFill>
              </a:rPr>
              <a:t>Influenceur</a:t>
            </a:r>
          </a:p>
        </p:txBody>
      </p:sp>
      <p:sp>
        <p:nvSpPr>
          <p:cNvPr id="18" name="TextBox 17"/>
          <p:cNvSpPr txBox="1"/>
          <p:nvPr/>
        </p:nvSpPr>
        <p:spPr>
          <a:xfrm>
            <a:off x="9281160" y="2414016"/>
            <a:ext cx="2468880" cy="2112264"/>
          </a:xfrm>
          <a:prstGeom prst="rect">
            <a:avLst/>
          </a:prstGeom>
          <a:noFill/>
        </p:spPr>
        <p:txBody>
          <a:bodyPr wrap="square">
            <a:spAutoFit/>
          </a:bodyPr>
          <a:lstStyle/>
          <a:p>
            <a:pPr>
              <a:spcAft>
                <a:spcPts val="300"/>
              </a:spcAft>
            </a:pPr>
            <a:r>
              <a:rPr sz="1400">
                <a:solidFill>
                  <a:srgbClr val="1A1A2E"/>
                </a:solidFill>
              </a:rPr>
              <a:t>• Influenceurs éducatifs TikTok/Instagram</a:t>
            </a:r>
          </a:p>
          <a:p>
            <a:pPr>
              <a:spcAft>
                <a:spcPts val="300"/>
              </a:spcAft>
            </a:pPr>
            <a:r>
              <a:rPr sz="1400">
                <a:solidFill>
                  <a:srgbClr val="1A1A2E"/>
                </a:solidFill>
              </a:rPr>
              <a:t>• Médias parentaux et scolaires</a:t>
            </a:r>
          </a:p>
          <a:p>
            <a:pPr>
              <a:spcAft>
                <a:spcPts val="300"/>
              </a:spcAft>
            </a:pPr>
            <a:r>
              <a:rPr sz="1400">
                <a:solidFill>
                  <a:srgbClr val="1A1A2E"/>
                </a:solidFill>
              </a:rPr>
              <a:t>• Bouche-à-oreille scolaire</a:t>
            </a:r>
          </a:p>
        </p:txBody>
      </p:sp>
      <p:sp>
        <p:nvSpPr>
          <p:cNvPr id="19" name="Rectangle 18"/>
          <p:cNvSpPr/>
          <p:nvPr/>
        </p:nvSpPr>
        <p:spPr>
          <a:xfrm>
            <a:off x="365760" y="1920240"/>
            <a:ext cx="2743200" cy="283464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011680"/>
            <a:ext cx="2560320" cy="384048"/>
          </a:xfrm>
          <a:prstGeom prst="rect">
            <a:avLst/>
          </a:prstGeom>
          <a:noFill/>
        </p:spPr>
        <p:txBody>
          <a:bodyPr wrap="square">
            <a:spAutoFit/>
          </a:bodyPr>
          <a:lstStyle/>
          <a:p>
            <a:pPr algn="ctr"/>
            <a:r>
              <a:rPr sz="1700" b="1" i="0">
                <a:solidFill>
                  <a:srgbClr val="FF7A00"/>
                </a:solidFill>
              </a:rPr>
              <a:t>Acheteur</a:t>
            </a:r>
          </a:p>
        </p:txBody>
      </p:sp>
      <p:sp>
        <p:nvSpPr>
          <p:cNvPr id="21" name="TextBox 20"/>
          <p:cNvSpPr txBox="1"/>
          <p:nvPr/>
        </p:nvSpPr>
        <p:spPr>
          <a:xfrm>
            <a:off x="457200" y="2468880"/>
            <a:ext cx="2560320" cy="2194560"/>
          </a:xfrm>
          <a:prstGeom prst="rect">
            <a:avLst/>
          </a:prstGeom>
          <a:noFill/>
        </p:spPr>
        <p:txBody>
          <a:bodyPr wrap="square">
            <a:spAutoFit/>
          </a:bodyPr>
          <a:lstStyle/>
          <a:p>
            <a:pPr>
              <a:spcAft>
                <a:spcPts val="500"/>
              </a:spcAft>
            </a:pPr>
            <a:r>
              <a:rPr sz="1400">
                <a:solidFill>
                  <a:srgbClr val="FFFFFF"/>
                </a:solidFill>
              </a:rPr>
              <a:t>• Parents d'élèves (30–50 ans)</a:t>
            </a:r>
          </a:p>
          <a:p>
            <a:pPr>
              <a:spcAft>
                <a:spcPts val="500"/>
              </a:spcAft>
            </a:pPr>
            <a:r>
              <a:rPr sz="1400">
                <a:solidFill>
                  <a:srgbClr val="FFFFFF"/>
                </a:solidFill>
              </a:rPr>
              <a:t>• Élèves eux-mêmes (dès le collège)</a:t>
            </a:r>
          </a:p>
          <a:p>
            <a:pPr>
              <a:spcAft>
                <a:spcPts val="500"/>
              </a:spcAft>
            </a:pPr>
            <a:r>
              <a:rPr sz="1400">
                <a:solidFill>
                  <a:srgbClr val="FFFFFF"/>
                </a:solidFill>
              </a:rPr>
              <a:t>• Écoles et centres de formation</a:t>
            </a:r>
          </a:p>
          <a:p>
            <a:pPr>
              <a:spcAft>
                <a:spcPts val="500"/>
              </a:spcAft>
            </a:pPr>
            <a:r>
              <a:rPr sz="1400">
                <a:solidFill>
                  <a:srgbClr val="FFFFFF"/>
                </a:solidFill>
              </a:rPr>
              <a:t>• Entreprises</a:t>
            </a:r>
          </a:p>
        </p:txBody>
      </p:sp>
      <p:sp>
        <p:nvSpPr>
          <p:cNvPr id="22" name="Rectangle 21"/>
          <p:cNvSpPr/>
          <p:nvPr/>
        </p:nvSpPr>
        <p:spPr>
          <a:xfrm>
            <a:off x="3291840" y="1920240"/>
            <a:ext cx="2743200" cy="28346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2011680"/>
            <a:ext cx="2560320" cy="384048"/>
          </a:xfrm>
          <a:prstGeom prst="rect">
            <a:avLst/>
          </a:prstGeom>
          <a:noFill/>
        </p:spPr>
        <p:txBody>
          <a:bodyPr wrap="square">
            <a:spAutoFit/>
          </a:bodyPr>
          <a:lstStyle/>
          <a:p>
            <a:pPr algn="ctr"/>
            <a:r>
              <a:rPr sz="1700" b="1" i="0">
                <a:solidFill>
                  <a:srgbClr val="FF7A00"/>
                </a:solidFill>
              </a:rPr>
              <a:t>Utilisateur</a:t>
            </a:r>
          </a:p>
        </p:txBody>
      </p:sp>
      <p:sp>
        <p:nvSpPr>
          <p:cNvPr id="24" name="TextBox 23"/>
          <p:cNvSpPr txBox="1"/>
          <p:nvPr/>
        </p:nvSpPr>
        <p:spPr>
          <a:xfrm>
            <a:off x="3383280" y="2468880"/>
            <a:ext cx="2560320" cy="2194560"/>
          </a:xfrm>
          <a:prstGeom prst="rect">
            <a:avLst/>
          </a:prstGeom>
          <a:noFill/>
        </p:spPr>
        <p:txBody>
          <a:bodyPr wrap="square">
            <a:spAutoFit/>
          </a:bodyPr>
          <a:lstStyle/>
          <a:p>
            <a:pPr>
              <a:spcAft>
                <a:spcPts val="500"/>
              </a:spcAft>
            </a:pPr>
            <a:r>
              <a:rPr sz="1400">
                <a:solidFill>
                  <a:srgbClr val="FFFFFF"/>
                </a:solidFill>
              </a:rPr>
              <a:t>• Élèves et étudiants (dès le collège)</a:t>
            </a:r>
          </a:p>
          <a:p>
            <a:pPr>
              <a:spcAft>
                <a:spcPts val="500"/>
              </a:spcAft>
            </a:pPr>
            <a:r>
              <a:rPr sz="1400">
                <a:solidFill>
                  <a:srgbClr val="FFFFFF"/>
                </a:solidFill>
              </a:rPr>
              <a:t>• Professionnels écrivant à la main</a:t>
            </a:r>
          </a:p>
          <a:p>
            <a:pPr>
              <a:spcAft>
                <a:spcPts val="500"/>
              </a:spcAft>
            </a:pPr>
            <a:r>
              <a:rPr sz="1400">
                <a:solidFill>
                  <a:srgbClr val="FFFFFF"/>
                </a:solidFill>
              </a:rPr>
              <a:t>• Personnes avec difficultés d'écriture</a:t>
            </a:r>
          </a:p>
          <a:p>
            <a:pPr>
              <a:spcAft>
                <a:spcPts val="500"/>
              </a:spcAft>
            </a:pPr>
            <a:r>
              <a:rPr sz="1400">
                <a:solidFill>
                  <a:srgbClr val="FFFFFF"/>
                </a:solidFill>
              </a:rPr>
              <a:t>• Apprenants d'une langue étrangère</a:t>
            </a:r>
          </a:p>
        </p:txBody>
      </p:sp>
      <p:sp>
        <p:nvSpPr>
          <p:cNvPr id="25" name="Rectangle 24"/>
          <p:cNvSpPr/>
          <p:nvPr/>
        </p:nvSpPr>
        <p:spPr>
          <a:xfrm>
            <a:off x="6217920" y="1920240"/>
            <a:ext cx="2743200" cy="283464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2011680"/>
            <a:ext cx="2560320" cy="384048"/>
          </a:xfrm>
          <a:prstGeom prst="rect">
            <a:avLst/>
          </a:prstGeom>
          <a:noFill/>
        </p:spPr>
        <p:txBody>
          <a:bodyPr wrap="square">
            <a:spAutoFit/>
          </a:bodyPr>
          <a:lstStyle/>
          <a:p>
            <a:pPr algn="ctr"/>
            <a:r>
              <a:rPr sz="1700" b="1" i="0">
                <a:solidFill>
                  <a:srgbClr val="FF7A00"/>
                </a:solidFill>
              </a:rPr>
              <a:t>Prescripteur</a:t>
            </a:r>
          </a:p>
        </p:txBody>
      </p:sp>
      <p:sp>
        <p:nvSpPr>
          <p:cNvPr id="27" name="TextBox 26"/>
          <p:cNvSpPr txBox="1"/>
          <p:nvPr/>
        </p:nvSpPr>
        <p:spPr>
          <a:xfrm>
            <a:off x="6309360" y="2468880"/>
            <a:ext cx="2560320" cy="2194560"/>
          </a:xfrm>
          <a:prstGeom prst="rect">
            <a:avLst/>
          </a:prstGeom>
          <a:noFill/>
        </p:spPr>
        <p:txBody>
          <a:bodyPr wrap="square">
            <a:spAutoFit/>
          </a:bodyPr>
          <a:lstStyle/>
          <a:p>
            <a:pPr>
              <a:spcAft>
                <a:spcPts val="500"/>
              </a:spcAft>
            </a:pPr>
            <a:r>
              <a:rPr sz="1400">
                <a:solidFill>
                  <a:srgbClr val="FFFFFF"/>
                </a:solidFill>
              </a:rPr>
              <a:t>• Enseignants et éducateurs spécialisés</a:t>
            </a:r>
          </a:p>
        </p:txBody>
      </p:sp>
      <p:sp>
        <p:nvSpPr>
          <p:cNvPr id="28" name="Rectangle 27"/>
          <p:cNvSpPr/>
          <p:nvPr/>
        </p:nvSpPr>
        <p:spPr>
          <a:xfrm>
            <a:off x="9144000" y="1920240"/>
            <a:ext cx="2743200" cy="283464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0" y="2011680"/>
            <a:ext cx="2560320" cy="384048"/>
          </a:xfrm>
          <a:prstGeom prst="rect">
            <a:avLst/>
          </a:prstGeom>
          <a:noFill/>
        </p:spPr>
        <p:txBody>
          <a:bodyPr wrap="square">
            <a:spAutoFit/>
          </a:bodyPr>
          <a:lstStyle/>
          <a:p>
            <a:pPr algn="ctr"/>
            <a:r>
              <a:rPr sz="1700" b="1" i="0">
                <a:solidFill>
                  <a:srgbClr val="FF7A00"/>
                </a:solidFill>
              </a:rPr>
              <a:t>Influenceur</a:t>
            </a:r>
          </a:p>
        </p:txBody>
      </p:sp>
      <p:sp>
        <p:nvSpPr>
          <p:cNvPr id="30" name="TextBox 29"/>
          <p:cNvSpPr txBox="1"/>
          <p:nvPr/>
        </p:nvSpPr>
        <p:spPr>
          <a:xfrm>
            <a:off x="9235440" y="2468880"/>
            <a:ext cx="2560320" cy="2194560"/>
          </a:xfrm>
          <a:prstGeom prst="rect">
            <a:avLst/>
          </a:prstGeom>
          <a:noFill/>
        </p:spPr>
        <p:txBody>
          <a:bodyPr wrap="square">
            <a:spAutoFit/>
          </a:bodyPr>
          <a:lstStyle/>
          <a:p>
            <a:pPr>
              <a:spcAft>
                <a:spcPts val="500"/>
              </a:spcAft>
            </a:pPr>
            <a:r>
              <a:rPr sz="1400">
                <a:solidFill>
                  <a:srgbClr val="FFFFFF"/>
                </a:solidFill>
              </a:rPr>
              <a:t>• Influenceurs éducatifs TikTok/Instagram</a:t>
            </a:r>
          </a:p>
          <a:p>
            <a:pPr>
              <a:spcAft>
                <a:spcPts val="500"/>
              </a:spcAft>
            </a:pPr>
            <a:r>
              <a:rPr sz="1400">
                <a:solidFill>
                  <a:srgbClr val="FFFFFF"/>
                </a:solidFill>
              </a:rPr>
              <a:t>• Médias parentaux et scolaires</a:t>
            </a:r>
          </a:p>
          <a:p>
            <a:pPr>
              <a:spcAft>
                <a:spcPts val="500"/>
              </a:spcAft>
            </a:pPr>
            <a:r>
              <a:rPr sz="1400">
                <a:solidFill>
                  <a:srgbClr val="FFFFFF"/>
                </a:solidFill>
              </a:rPr>
              <a:t>• Bouche-à-oreille scolaire</a:t>
            </a:r>
          </a:p>
        </p:txBody>
      </p:sp>
      <p:sp>
        <p:nvSpPr>
          <p:cNvPr id="31" name="Rectangle 30"/>
          <p:cNvSpPr/>
          <p:nvPr/>
        </p:nvSpPr>
        <p:spPr>
          <a:xfrm>
            <a:off x="365760" y="4892040"/>
            <a:ext cx="11457432" cy="594360"/>
          </a:xfrm>
          <a:prstGeom prst="rect">
            <a:avLst/>
          </a:prstGeom>
          <a:solidFill>
            <a:srgbClr val="D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937760"/>
            <a:ext cx="11064240" cy="502920"/>
          </a:xfrm>
          <a:prstGeom prst="rect">
            <a:avLst/>
          </a:prstGeom>
          <a:noFill/>
        </p:spPr>
        <p:txBody>
          <a:bodyPr wrap="square">
            <a:spAutoFit/>
          </a:bodyPr>
          <a:lstStyle/>
          <a:p>
            <a:pPr algn="l"/>
            <a:r>
              <a:rPr sz="1400" b="1" i="0">
                <a:solidFill>
                  <a:srgbClr val="0A294B"/>
                </a:solidFill>
              </a:rPr>
              <a:t>46,7 % des répondants ont déjà ressenti de la gêne à cause de leurs fautes (enquête). Le Stylo Ortho répond à un besoin fonctionnel concret qui lève ce frein.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Facteurs individuels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DEMANDE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3200400" cy="384048"/>
          </a:xfrm>
          <a:prstGeom prst="rect">
            <a:avLst/>
          </a:prstGeom>
          <a:noFill/>
        </p:spPr>
        <p:txBody>
          <a:bodyPr wrap="square">
            <a:spAutoFit/>
          </a:bodyPr>
          <a:lstStyle/>
          <a:p>
            <a:pPr algn="l"/>
            <a:r>
              <a:rPr sz="1500" b="1" i="0">
                <a:solidFill>
                  <a:srgbClr val="0A294B"/>
                </a:solidFill>
              </a:rPr>
              <a:t>Les besoins</a:t>
            </a:r>
          </a:p>
        </p:txBody>
      </p:sp>
      <p:sp>
        <p:nvSpPr>
          <p:cNvPr id="8" name="TextBox 7"/>
          <p:cNvSpPr txBox="1"/>
          <p:nvPr/>
        </p:nvSpPr>
        <p:spPr>
          <a:xfrm>
            <a:off x="3657600" y="1463040"/>
            <a:ext cx="8229600" cy="777240"/>
          </a:xfrm>
          <a:prstGeom prst="rect">
            <a:avLst/>
          </a:prstGeom>
          <a:noFill/>
        </p:spPr>
        <p:txBody>
          <a:bodyPr wrap="square">
            <a:spAutoFit/>
          </a:bodyPr>
          <a:lstStyle/>
          <a:p>
            <a:pPr algn="l"/>
            <a:r>
              <a:rPr sz="1400" b="0" i="0">
                <a:solidFill>
                  <a:srgbClr val="1A1A2E"/>
                </a:solidFill>
              </a:rPr>
              <a:t>Le besoin de corriger ses fautes est un besoin préexistant, souvent implicite et latent chez l'utilisateur. Le Stylo Ortho le rend explicite et actionnable.</a:t>
            </a:r>
          </a:p>
        </p:txBody>
      </p:sp>
      <p:sp>
        <p:nvSpPr>
          <p:cNvPr id="9" name="Rectangle 8"/>
          <p:cNvSpPr/>
          <p:nvPr/>
        </p:nvSpPr>
        <p:spPr>
          <a:xfrm>
            <a:off x="365760" y="2313432"/>
            <a:ext cx="11457432" cy="868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59152"/>
            <a:ext cx="3200400" cy="384048"/>
          </a:xfrm>
          <a:prstGeom prst="rect">
            <a:avLst/>
          </a:prstGeom>
          <a:noFill/>
        </p:spPr>
        <p:txBody>
          <a:bodyPr wrap="square">
            <a:spAutoFit/>
          </a:bodyPr>
          <a:lstStyle/>
          <a:p>
            <a:pPr algn="l"/>
            <a:r>
              <a:rPr sz="1500" b="1" i="0">
                <a:solidFill>
                  <a:srgbClr val="0A294B"/>
                </a:solidFill>
              </a:rPr>
              <a:t>Les motivations</a:t>
            </a:r>
          </a:p>
        </p:txBody>
      </p:sp>
      <p:sp>
        <p:nvSpPr>
          <p:cNvPr id="11" name="TextBox 10"/>
          <p:cNvSpPr txBox="1"/>
          <p:nvPr/>
        </p:nvSpPr>
        <p:spPr>
          <a:xfrm>
            <a:off x="3657600" y="2359152"/>
            <a:ext cx="8229600" cy="777240"/>
          </a:xfrm>
          <a:prstGeom prst="rect">
            <a:avLst/>
          </a:prstGeom>
          <a:noFill/>
        </p:spPr>
        <p:txBody>
          <a:bodyPr wrap="square">
            <a:spAutoFit/>
          </a:bodyPr>
          <a:lstStyle/>
          <a:p>
            <a:pPr algn="l"/>
            <a:r>
              <a:rPr sz="1400" b="0" i="0">
                <a:solidFill>
                  <a:srgbClr val="1A1A2E"/>
                </a:solidFill>
              </a:rPr>
              <a:t>• Motivation hédoniste : réussir à l'école ou au travail, écrire sans honte
• Motivation rationnelle : gagner du temps, éviter les erreurs en situation de manuscrit</a:t>
            </a:r>
          </a:p>
        </p:txBody>
      </p:sp>
      <p:sp>
        <p:nvSpPr>
          <p:cNvPr id="12" name="Rectangle 11"/>
          <p:cNvSpPr/>
          <p:nvPr/>
        </p:nvSpPr>
        <p:spPr>
          <a:xfrm>
            <a:off x="365760" y="3209544"/>
            <a:ext cx="11457432"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55264"/>
            <a:ext cx="3200400" cy="384048"/>
          </a:xfrm>
          <a:prstGeom prst="rect">
            <a:avLst/>
          </a:prstGeom>
          <a:noFill/>
        </p:spPr>
        <p:txBody>
          <a:bodyPr wrap="square">
            <a:spAutoFit/>
          </a:bodyPr>
          <a:lstStyle/>
          <a:p>
            <a:pPr algn="l"/>
            <a:r>
              <a:rPr sz="1500" b="1" i="0">
                <a:solidFill>
                  <a:srgbClr val="0A294B"/>
                </a:solidFill>
              </a:rPr>
              <a:t>Les freins</a:t>
            </a:r>
          </a:p>
        </p:txBody>
      </p:sp>
      <p:sp>
        <p:nvSpPr>
          <p:cNvPr id="14" name="TextBox 13"/>
          <p:cNvSpPr txBox="1"/>
          <p:nvPr/>
        </p:nvSpPr>
        <p:spPr>
          <a:xfrm>
            <a:off x="3657600" y="3255264"/>
            <a:ext cx="8229600" cy="777240"/>
          </a:xfrm>
          <a:prstGeom prst="rect">
            <a:avLst/>
          </a:prstGeom>
          <a:noFill/>
        </p:spPr>
        <p:txBody>
          <a:bodyPr wrap="square">
            <a:spAutoFit/>
          </a:bodyPr>
          <a:lstStyle/>
          <a:p>
            <a:pPr algn="l"/>
            <a:r>
              <a:rPr sz="1400" b="0" i="0">
                <a:solidFill>
                  <a:srgbClr val="1A1A2E"/>
                </a:solidFill>
              </a:rPr>
              <a:t>• Frein rationnel : prix de 99,90 € élevé par rapport à un stylo classique (1–5 €)
• Frein psychologique : crainte de paraître assisté ou de dépendre d'un outil</a:t>
            </a:r>
          </a:p>
        </p:txBody>
      </p:sp>
      <p:sp>
        <p:nvSpPr>
          <p:cNvPr id="15" name="Rectangle 14"/>
          <p:cNvSpPr/>
          <p:nvPr/>
        </p:nvSpPr>
        <p:spPr>
          <a:xfrm>
            <a:off x="365760" y="4105656"/>
            <a:ext cx="11457432" cy="868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151376"/>
            <a:ext cx="3200400" cy="384048"/>
          </a:xfrm>
          <a:prstGeom prst="rect">
            <a:avLst/>
          </a:prstGeom>
          <a:noFill/>
        </p:spPr>
        <p:txBody>
          <a:bodyPr wrap="square">
            <a:spAutoFit/>
          </a:bodyPr>
          <a:lstStyle/>
          <a:p>
            <a:pPr algn="l"/>
            <a:r>
              <a:rPr sz="1500" b="1" i="0">
                <a:solidFill>
                  <a:srgbClr val="0A294B"/>
                </a:solidFill>
              </a:rPr>
              <a:t>La perception</a:t>
            </a:r>
          </a:p>
        </p:txBody>
      </p:sp>
      <p:sp>
        <p:nvSpPr>
          <p:cNvPr id="17" name="TextBox 16"/>
          <p:cNvSpPr txBox="1"/>
          <p:nvPr/>
        </p:nvSpPr>
        <p:spPr>
          <a:xfrm>
            <a:off x="3657600" y="4151376"/>
            <a:ext cx="8229600" cy="777240"/>
          </a:xfrm>
          <a:prstGeom prst="rect">
            <a:avLst/>
          </a:prstGeom>
          <a:noFill/>
        </p:spPr>
        <p:txBody>
          <a:bodyPr wrap="square">
            <a:spAutoFit/>
          </a:bodyPr>
          <a:lstStyle/>
          <a:p>
            <a:pPr algn="l"/>
            <a:r>
              <a:rPr sz="1400" b="0" i="0">
                <a:solidFill>
                  <a:srgbClr val="1A1A2E"/>
                </a:solidFill>
              </a:rPr>
              <a:t>Le design du Stylo Ortho (stylo classique avec écran discret) crée une image de produit simple et non intrusif.</a:t>
            </a:r>
          </a:p>
        </p:txBody>
      </p:sp>
      <p:sp>
        <p:nvSpPr>
          <p:cNvPr id="18" name="Rectangle 17"/>
          <p:cNvSpPr/>
          <p:nvPr/>
        </p:nvSpPr>
        <p:spPr>
          <a:xfrm>
            <a:off x="365760" y="5001768"/>
            <a:ext cx="11457432"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047488"/>
            <a:ext cx="3200400" cy="384048"/>
          </a:xfrm>
          <a:prstGeom prst="rect">
            <a:avLst/>
          </a:prstGeom>
          <a:noFill/>
        </p:spPr>
        <p:txBody>
          <a:bodyPr wrap="square">
            <a:spAutoFit/>
          </a:bodyPr>
          <a:lstStyle/>
          <a:p>
            <a:pPr algn="l"/>
            <a:r>
              <a:rPr sz="1500" b="1" i="0">
                <a:solidFill>
                  <a:srgbClr val="0A294B"/>
                </a:solidFill>
              </a:rPr>
              <a:t>Profil socio-démographique</a:t>
            </a:r>
          </a:p>
        </p:txBody>
      </p:sp>
      <p:sp>
        <p:nvSpPr>
          <p:cNvPr id="20" name="TextBox 19"/>
          <p:cNvSpPr txBox="1"/>
          <p:nvPr/>
        </p:nvSpPr>
        <p:spPr>
          <a:xfrm>
            <a:off x="3657600" y="5047488"/>
            <a:ext cx="8229600" cy="777240"/>
          </a:xfrm>
          <a:prstGeom prst="rect">
            <a:avLst/>
          </a:prstGeom>
          <a:noFill/>
        </p:spPr>
        <p:txBody>
          <a:bodyPr wrap="square">
            <a:spAutoFit/>
          </a:bodyPr>
          <a:lstStyle/>
          <a:p>
            <a:pPr algn="l"/>
            <a:r>
              <a:rPr sz="1400" b="0" i="0">
                <a:solidFill>
                  <a:srgbClr val="1A1A2E"/>
                </a:solidFill>
              </a:rPr>
              <a:t>Âge cible : 30–50 ans (parents acheteurs) et 11–25 ans (élèves et étudiants utilisateurs)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Facteurs collectifs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DEMANDE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11457432"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00400" cy="411480"/>
          </a:xfrm>
          <a:prstGeom prst="rect">
            <a:avLst/>
          </a:prstGeom>
          <a:noFill/>
        </p:spPr>
        <p:txBody>
          <a:bodyPr wrap="square">
            <a:spAutoFit/>
          </a:bodyPr>
          <a:lstStyle/>
          <a:p>
            <a:pPr algn="l"/>
            <a:r>
              <a:rPr sz="1600" b="1" i="0">
                <a:solidFill>
                  <a:srgbClr val="0A294B"/>
                </a:solidFill>
              </a:rPr>
              <a:t>La culture</a:t>
            </a:r>
          </a:p>
        </p:txBody>
      </p:sp>
      <p:sp>
        <p:nvSpPr>
          <p:cNvPr id="8" name="TextBox 7"/>
          <p:cNvSpPr txBox="1"/>
          <p:nvPr/>
        </p:nvSpPr>
        <p:spPr>
          <a:xfrm>
            <a:off x="3657600" y="1536192"/>
            <a:ext cx="8229600" cy="1280160"/>
          </a:xfrm>
          <a:prstGeom prst="rect">
            <a:avLst/>
          </a:prstGeom>
          <a:noFill/>
        </p:spPr>
        <p:txBody>
          <a:bodyPr wrap="square">
            <a:spAutoFit/>
          </a:bodyPr>
          <a:lstStyle/>
          <a:p>
            <a:pPr algn="l"/>
            <a:r>
              <a:rPr sz="1500" b="0" i="0">
                <a:solidFill>
                  <a:srgbClr val="1A1A2E"/>
                </a:solidFill>
              </a:rPr>
              <a:t>En France, la maîtrise de l'orthographe est un marqueur social fort. Faire des fautes est perçu comme une lacune — le Stylo Ortho répond directement à cette pression culturelle.</a:t>
            </a:r>
          </a:p>
        </p:txBody>
      </p:sp>
      <p:sp>
        <p:nvSpPr>
          <p:cNvPr id="9" name="Rectangle 8"/>
          <p:cNvSpPr/>
          <p:nvPr/>
        </p:nvSpPr>
        <p:spPr>
          <a:xfrm>
            <a:off x="365760" y="3017520"/>
            <a:ext cx="11457432" cy="14630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108960"/>
            <a:ext cx="3200400" cy="411480"/>
          </a:xfrm>
          <a:prstGeom prst="rect">
            <a:avLst/>
          </a:prstGeom>
          <a:noFill/>
        </p:spPr>
        <p:txBody>
          <a:bodyPr wrap="square">
            <a:spAutoFit/>
          </a:bodyPr>
          <a:lstStyle/>
          <a:p>
            <a:pPr algn="l"/>
            <a:r>
              <a:rPr sz="1600" b="1" i="0">
                <a:solidFill>
                  <a:srgbClr val="0A294B"/>
                </a:solidFill>
              </a:rPr>
              <a:t>Les groupes de référence</a:t>
            </a:r>
          </a:p>
        </p:txBody>
      </p:sp>
      <p:sp>
        <p:nvSpPr>
          <p:cNvPr id="11" name="TextBox 10"/>
          <p:cNvSpPr txBox="1"/>
          <p:nvPr/>
        </p:nvSpPr>
        <p:spPr>
          <a:xfrm>
            <a:off x="3657600" y="3090672"/>
            <a:ext cx="8229600" cy="1280160"/>
          </a:xfrm>
          <a:prstGeom prst="rect">
            <a:avLst/>
          </a:prstGeom>
          <a:noFill/>
        </p:spPr>
        <p:txBody>
          <a:bodyPr wrap="square">
            <a:spAutoFit/>
          </a:bodyPr>
          <a:lstStyle/>
          <a:p>
            <a:pPr algn="l"/>
            <a:r>
              <a:rPr sz="1500" b="0" i="0">
                <a:solidFill>
                  <a:srgbClr val="1A1A2E"/>
                </a:solidFill>
              </a:rPr>
              <a:t>• Groupe d'appartenance : camarades de classe, collègues
• Groupe d'aspiration : bons élèves, professionnels valorisant l'écrit soigné</a:t>
            </a:r>
          </a:p>
        </p:txBody>
      </p:sp>
      <p:sp>
        <p:nvSpPr>
          <p:cNvPr id="12" name="Rectangle 11"/>
          <p:cNvSpPr/>
          <p:nvPr/>
        </p:nvSpPr>
        <p:spPr>
          <a:xfrm>
            <a:off x="365760" y="4572000"/>
            <a:ext cx="11457432" cy="1463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663440"/>
            <a:ext cx="3200400" cy="411480"/>
          </a:xfrm>
          <a:prstGeom prst="rect">
            <a:avLst/>
          </a:prstGeom>
          <a:noFill/>
        </p:spPr>
        <p:txBody>
          <a:bodyPr wrap="square">
            <a:spAutoFit/>
          </a:bodyPr>
          <a:lstStyle/>
          <a:p>
            <a:pPr algn="l"/>
            <a:r>
              <a:rPr sz="1600" b="1" i="0">
                <a:solidFill>
                  <a:srgbClr val="0A294B"/>
                </a:solidFill>
              </a:rPr>
              <a:t>Le cycle de vie familiale</a:t>
            </a:r>
          </a:p>
        </p:txBody>
      </p:sp>
      <p:sp>
        <p:nvSpPr>
          <p:cNvPr id="14" name="TextBox 13"/>
          <p:cNvSpPr txBox="1"/>
          <p:nvPr/>
        </p:nvSpPr>
        <p:spPr>
          <a:xfrm>
            <a:off x="3657600" y="4645152"/>
            <a:ext cx="8229600" cy="1280160"/>
          </a:xfrm>
          <a:prstGeom prst="rect">
            <a:avLst/>
          </a:prstGeom>
          <a:noFill/>
        </p:spPr>
        <p:txBody>
          <a:bodyPr wrap="square">
            <a:spAutoFit/>
          </a:bodyPr>
          <a:lstStyle/>
          <a:p>
            <a:pPr algn="l"/>
            <a:r>
              <a:rPr sz="1500" b="0" i="0">
                <a:solidFill>
                  <a:srgbClr val="1A1A2E"/>
                </a:solidFill>
              </a:rPr>
              <a:t>• Famille avec enfants scolarisés : cible prioritaire — la rentrée scolaire déclenche l'achat
• Jeune actif entrant dans la vie professionnelle : cible secondaire</a:t>
            </a:r>
          </a:p>
        </p:txBody>
      </p:sp>
      <p:sp>
        <p:nvSpPr>
          <p:cNvPr id="15" name="Rectangle 14"/>
          <p:cNvSpPr/>
          <p:nvPr/>
        </p:nvSpPr>
        <p:spPr>
          <a:xfrm>
            <a:off x="365760" y="6126480"/>
            <a:ext cx="11457432" cy="9144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172200"/>
            <a:ext cx="10972800" cy="347472"/>
          </a:xfrm>
          <a:prstGeom prst="rect">
            <a:avLst/>
          </a:prstGeom>
          <a:noFill/>
        </p:spPr>
        <p:txBody>
          <a:bodyPr wrap="square">
            <a:spAutoFit/>
          </a:bodyPr>
          <a:lstStyle/>
          <a:p>
            <a:pPr algn="l"/>
            <a:r>
              <a:rPr sz="1500" b="1" i="0">
                <a:solidFill>
                  <a:srgbClr val="FFFFFF"/>
                </a:solidFill>
              </a:rPr>
              <a:t>📊 Tri croisé — Intérêt pour le produit selon le profil (enquête n=214)</a:t>
            </a:r>
          </a:p>
        </p:txBody>
      </p:sp>
      <p:sp>
        <p:nvSpPr>
          <p:cNvPr id="17" name="TextBox 16"/>
          <p:cNvSpPr txBox="1"/>
          <p:nvPr/>
        </p:nvSpPr>
        <p:spPr>
          <a:xfrm>
            <a:off x="548640" y="6537960"/>
            <a:ext cx="10972800" cy="411480"/>
          </a:xfrm>
          <a:prstGeom prst="rect">
            <a:avLst/>
          </a:prstGeom>
          <a:noFill/>
        </p:spPr>
        <p:txBody>
          <a:bodyPr wrap="square">
            <a:spAutoFit/>
          </a:bodyPr>
          <a:lstStyle/>
          <a:p>
            <a:pPr algn="l"/>
            <a:r>
              <a:rPr sz="1400" b="0" i="0">
                <a:solidFill>
                  <a:srgbClr val="D0E8F5"/>
                </a:solidFill>
              </a:rPr>
              <a:t>Les personnes faisant le plus souvent des fautes sont aussi les plus intéressées par le produit. 46,9 % des parents sont prêts à acheter le Stylo Ortho pour leur enfant.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Situations d'achat</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DEMANDE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27048"/>
            <a:ext cx="11183111" cy="365760"/>
          </a:xfrm>
          <a:prstGeom prst="rect">
            <a:avLst/>
          </a:prstGeom>
          <a:noFill/>
        </p:spPr>
        <p:txBody>
          <a:bodyPr wrap="square">
            <a:spAutoFit/>
          </a:bodyPr>
          <a:lstStyle/>
          <a:p>
            <a:pPr algn="l"/>
            <a:r>
              <a:rPr sz="1800" b="1" i="0">
                <a:solidFill>
                  <a:srgbClr val="0A294B"/>
                </a:solidFill>
              </a:rPr>
              <a:t>Contexte situationnel</a:t>
            </a:r>
          </a:p>
        </p:txBody>
      </p:sp>
      <p:sp>
        <p:nvSpPr>
          <p:cNvPr id="8" name="TextBox 7"/>
          <p:cNvSpPr txBox="1"/>
          <p:nvPr/>
        </p:nvSpPr>
        <p:spPr>
          <a:xfrm>
            <a:off x="502920" y="1911095"/>
            <a:ext cx="11183111" cy="1517904"/>
          </a:xfrm>
          <a:prstGeom prst="rect">
            <a:avLst/>
          </a:prstGeom>
          <a:noFill/>
        </p:spPr>
        <p:txBody>
          <a:bodyPr wrap="square">
            <a:spAutoFit/>
          </a:bodyPr>
          <a:lstStyle/>
          <a:p>
            <a:pPr>
              <a:spcAft>
                <a:spcPts val="300"/>
              </a:spcAft>
            </a:pPr>
            <a:r>
              <a:rPr sz="1600">
                <a:solidFill>
                  <a:srgbClr val="1A1A2E"/>
                </a:solidFill>
              </a:rPr>
              <a:t>Facteurs situationnels</a:t>
            </a:r>
          </a:p>
          <a:p>
            <a:pPr>
              <a:spcAft>
                <a:spcPts val="300"/>
              </a:spcAft>
            </a:pPr>
            <a:r>
              <a:rPr sz="1600">
                <a:solidFill>
                  <a:srgbClr val="1A1A2E"/>
                </a:solidFill>
              </a:rPr>
              <a:t>• La rentrée scolaire (août–septembre) : pic d'achat principal — saisonnalité forte (+52,1 % CA en août vs décembre)</a:t>
            </a:r>
          </a:p>
          <a:p>
            <a:pPr>
              <a:spcAft>
                <a:spcPts val="300"/>
              </a:spcAft>
            </a:pPr>
            <a:r>
              <a:rPr sz="1600">
                <a:solidFill>
                  <a:srgbClr val="1A1A2E"/>
                </a:solidFill>
              </a:rPr>
              <a:t>• Examens et concours : besoin ponctuel de correction en situation de manuscrit</a:t>
            </a:r>
          </a:p>
          <a:p>
            <a:pPr>
              <a:spcAft>
                <a:spcPts val="300"/>
              </a:spcAft>
            </a:pPr>
            <a:r>
              <a:rPr sz="1600">
                <a:solidFill>
                  <a:srgbClr val="1A1A2E"/>
                </a:solidFill>
              </a:rPr>
              <a:t>• Cadeau de Noël ou anniversaire : achat impulsion pour un proche</a:t>
            </a:r>
          </a:p>
        </p:txBody>
      </p:sp>
      <p:sp>
        <p:nvSpPr>
          <p:cNvPr id="9" name="Rectangle 8"/>
          <p:cNvSpPr/>
          <p:nvPr/>
        </p:nvSpPr>
        <p:spPr>
          <a:xfrm>
            <a:off x="365760" y="3703320"/>
            <a:ext cx="11457432" cy="20116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813048"/>
            <a:ext cx="11183111" cy="365760"/>
          </a:xfrm>
          <a:prstGeom prst="rect">
            <a:avLst/>
          </a:prstGeom>
          <a:noFill/>
        </p:spPr>
        <p:txBody>
          <a:bodyPr wrap="square">
            <a:spAutoFit/>
          </a:bodyPr>
          <a:lstStyle/>
          <a:p>
            <a:pPr algn="l"/>
            <a:r>
              <a:rPr sz="1800" b="1" i="0">
                <a:solidFill>
                  <a:srgbClr val="0A294B"/>
                </a:solidFill>
              </a:rPr>
              <a:t>Types d'achat</a:t>
            </a:r>
          </a:p>
        </p:txBody>
      </p:sp>
      <p:sp>
        <p:nvSpPr>
          <p:cNvPr id="11" name="TextBox 10"/>
          <p:cNvSpPr txBox="1"/>
          <p:nvPr/>
        </p:nvSpPr>
        <p:spPr>
          <a:xfrm>
            <a:off x="502920" y="4197096"/>
            <a:ext cx="11183111" cy="1380744"/>
          </a:xfrm>
          <a:prstGeom prst="rect">
            <a:avLst/>
          </a:prstGeom>
          <a:noFill/>
        </p:spPr>
        <p:txBody>
          <a:bodyPr wrap="square">
            <a:spAutoFit/>
          </a:bodyPr>
          <a:lstStyle/>
          <a:p>
            <a:pPr>
              <a:spcAft>
                <a:spcPts val="300"/>
              </a:spcAft>
            </a:pPr>
            <a:r>
              <a:rPr sz="1600">
                <a:solidFill>
                  <a:srgbClr val="1A1A2E"/>
                </a:solidFill>
              </a:rPr>
              <a:t>Types d'achat</a:t>
            </a:r>
          </a:p>
          <a:p>
            <a:pPr>
              <a:spcAft>
                <a:spcPts val="300"/>
              </a:spcAft>
            </a:pPr>
            <a:r>
              <a:rPr sz="1600">
                <a:solidFill>
                  <a:srgbClr val="1A1A2E"/>
                </a:solidFill>
              </a:rPr>
              <a:t>• Achat de nouveauté : le Stylo Ortho est un produit inconnu — forte implication à l'achat</a:t>
            </a:r>
          </a:p>
          <a:p>
            <a:pPr>
              <a:spcAft>
                <a:spcPts val="300"/>
              </a:spcAft>
            </a:pPr>
            <a:r>
              <a:rPr sz="1600">
                <a:solidFill>
                  <a:srgbClr val="1A1A2E"/>
                </a:solidFill>
              </a:rPr>
              <a:t>• Achat réfléchi : prix de 99,90 € justifié par la valeur perçue (USP unique)</a:t>
            </a:r>
          </a:p>
          <a:p>
            <a:pPr>
              <a:spcAft>
                <a:spcPts val="300"/>
              </a:spcAft>
            </a:pPr>
            <a:r>
              <a:rPr sz="1600">
                <a:solidFill>
                  <a:srgbClr val="1A1A2E"/>
                </a:solidFill>
              </a:rPr>
              <a:t>• Achat prescrit : recommandation d'un enseignant ou d'un parent</a:t>
            </a:r>
          </a:p>
        </p:txBody>
      </p:sp>
      <p:sp>
        <p:nvSpPr>
          <p:cNvPr id="12" name="Rectangle 11"/>
          <p:cNvSpPr/>
          <p:nvPr/>
        </p:nvSpPr>
        <p:spPr>
          <a:xfrm>
            <a:off x="365760" y="5806440"/>
            <a:ext cx="11457432" cy="6400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852160"/>
            <a:ext cx="11064240" cy="548640"/>
          </a:xfrm>
          <a:prstGeom prst="rect">
            <a:avLst/>
          </a:prstGeom>
          <a:noFill/>
        </p:spPr>
        <p:txBody>
          <a:bodyPr wrap="square">
            <a:spAutoFit/>
          </a:bodyPr>
          <a:lstStyle/>
          <a:p>
            <a:pPr algn="l"/>
            <a:r>
              <a:rPr sz="1400" b="0" i="0">
                <a:solidFill>
                  <a:srgbClr val="FFFFFF"/>
                </a:solidFill>
              </a:rPr>
              <a:t>📊 Tri à plat : 56,6 % utilisent le correcteur téléphone et 43,4 % le correcteur Word — mais aucun de ces outils ne fonctionne sur papier. Le Stylo Ortho est le seul outil qui fait ça sur papier.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3.1 Analyse des produits et segments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OFFRE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384048"/>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53896"/>
            <a:ext cx="2560320" cy="320040"/>
          </a:xfrm>
          <a:prstGeom prst="rect">
            <a:avLst/>
          </a:prstGeom>
          <a:noFill/>
        </p:spPr>
        <p:txBody>
          <a:bodyPr wrap="square">
            <a:spAutoFit/>
          </a:bodyPr>
          <a:lstStyle/>
          <a:p>
            <a:pPr algn="l"/>
            <a:r>
              <a:rPr sz="1300" b="1" i="0">
                <a:solidFill>
                  <a:srgbClr val="FFFFFF"/>
                </a:solidFill>
              </a:rPr>
              <a:t>Segment</a:t>
            </a:r>
          </a:p>
        </p:txBody>
      </p:sp>
      <p:sp>
        <p:nvSpPr>
          <p:cNvPr id="8" name="TextBox 7"/>
          <p:cNvSpPr txBox="1"/>
          <p:nvPr/>
        </p:nvSpPr>
        <p:spPr>
          <a:xfrm>
            <a:off x="2971800" y="1453896"/>
            <a:ext cx="2194560" cy="320040"/>
          </a:xfrm>
          <a:prstGeom prst="rect">
            <a:avLst/>
          </a:prstGeom>
          <a:noFill/>
        </p:spPr>
        <p:txBody>
          <a:bodyPr wrap="square">
            <a:spAutoFit/>
          </a:bodyPr>
          <a:lstStyle/>
          <a:p>
            <a:pPr algn="l"/>
            <a:r>
              <a:rPr sz="1300" b="1" i="0">
                <a:solidFill>
                  <a:srgbClr val="FFFFFF"/>
                </a:solidFill>
              </a:rPr>
              <a:t>Part de marché</a:t>
            </a:r>
          </a:p>
        </p:txBody>
      </p:sp>
      <p:sp>
        <p:nvSpPr>
          <p:cNvPr id="9" name="TextBox 8"/>
          <p:cNvSpPr txBox="1"/>
          <p:nvPr/>
        </p:nvSpPr>
        <p:spPr>
          <a:xfrm>
            <a:off x="5193792" y="1453896"/>
            <a:ext cx="2286000" cy="320040"/>
          </a:xfrm>
          <a:prstGeom prst="rect">
            <a:avLst/>
          </a:prstGeom>
          <a:noFill/>
        </p:spPr>
        <p:txBody>
          <a:bodyPr wrap="square">
            <a:spAutoFit/>
          </a:bodyPr>
          <a:lstStyle/>
          <a:p>
            <a:pPr algn="l"/>
            <a:r>
              <a:rPr sz="1300" b="1" i="0">
                <a:solidFill>
                  <a:srgbClr val="FFFFFF"/>
                </a:solidFill>
              </a:rPr>
              <a:t>Évolution</a:t>
            </a:r>
          </a:p>
        </p:txBody>
      </p:sp>
      <p:sp>
        <p:nvSpPr>
          <p:cNvPr id="10" name="TextBox 9"/>
          <p:cNvSpPr txBox="1"/>
          <p:nvPr/>
        </p:nvSpPr>
        <p:spPr>
          <a:xfrm>
            <a:off x="7498079" y="1453896"/>
            <a:ext cx="4297680" cy="320040"/>
          </a:xfrm>
          <a:prstGeom prst="rect">
            <a:avLst/>
          </a:prstGeom>
          <a:noFill/>
        </p:spPr>
        <p:txBody>
          <a:bodyPr wrap="square">
            <a:spAutoFit/>
          </a:bodyPr>
          <a:lstStyle/>
          <a:p>
            <a:pPr algn="l"/>
            <a:r>
              <a:rPr sz="1300" b="1" i="0">
                <a:solidFill>
                  <a:srgbClr val="FFFFFF"/>
                </a:solidFill>
              </a:rPr>
              <a:t>Position Stylo Ortho</a:t>
            </a:r>
          </a:p>
        </p:txBody>
      </p:sp>
      <p:sp>
        <p:nvSpPr>
          <p:cNvPr id="11" name="Rectangle 10"/>
          <p:cNvSpPr/>
          <p:nvPr/>
        </p:nvSpPr>
        <p:spPr>
          <a:xfrm>
            <a:off x="365760" y="1920240"/>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965960"/>
            <a:ext cx="2560320" cy="411480"/>
          </a:xfrm>
          <a:prstGeom prst="rect">
            <a:avLst/>
          </a:prstGeom>
          <a:noFill/>
        </p:spPr>
        <p:txBody>
          <a:bodyPr wrap="square">
            <a:spAutoFit/>
          </a:bodyPr>
          <a:lstStyle/>
          <a:p>
            <a:pPr algn="l"/>
            <a:r>
              <a:rPr sz="1300" b="1" i="0">
                <a:solidFill>
                  <a:srgbClr val="0A294B"/>
                </a:solidFill>
              </a:rPr>
              <a:t>Stylos classiques (BIC, Pilot…)</a:t>
            </a:r>
          </a:p>
        </p:txBody>
      </p:sp>
      <p:sp>
        <p:nvSpPr>
          <p:cNvPr id="13" name="TextBox 12"/>
          <p:cNvSpPr txBox="1"/>
          <p:nvPr/>
        </p:nvSpPr>
        <p:spPr>
          <a:xfrm>
            <a:off x="2971800" y="1965960"/>
            <a:ext cx="2194560" cy="411480"/>
          </a:xfrm>
          <a:prstGeom prst="rect">
            <a:avLst/>
          </a:prstGeom>
          <a:noFill/>
        </p:spPr>
        <p:txBody>
          <a:bodyPr wrap="square">
            <a:spAutoFit/>
          </a:bodyPr>
          <a:lstStyle/>
          <a:p>
            <a:pPr algn="l"/>
            <a:r>
              <a:rPr sz="1300" b="0" i="0">
                <a:solidFill>
                  <a:srgbClr val="1A1A2E"/>
                </a:solidFill>
              </a:rPr>
              <a:t>≈ 60–65 %</a:t>
            </a:r>
          </a:p>
        </p:txBody>
      </p:sp>
      <p:sp>
        <p:nvSpPr>
          <p:cNvPr id="14" name="TextBox 13"/>
          <p:cNvSpPr txBox="1"/>
          <p:nvPr/>
        </p:nvSpPr>
        <p:spPr>
          <a:xfrm>
            <a:off x="5193792" y="1965960"/>
            <a:ext cx="2286000" cy="411480"/>
          </a:xfrm>
          <a:prstGeom prst="rect">
            <a:avLst/>
          </a:prstGeom>
          <a:noFill/>
        </p:spPr>
        <p:txBody>
          <a:bodyPr wrap="square">
            <a:spAutoFit/>
          </a:bodyPr>
          <a:lstStyle/>
          <a:p>
            <a:pPr algn="l"/>
            <a:r>
              <a:rPr sz="1300" b="0" i="0">
                <a:solidFill>
                  <a:srgbClr val="1A1A2E"/>
                </a:solidFill>
              </a:rPr>
              <a:t>Stable à légèrement en recul (–2 à –3 % / an)</a:t>
            </a:r>
          </a:p>
        </p:txBody>
      </p:sp>
      <p:sp>
        <p:nvSpPr>
          <p:cNvPr id="15" name="TextBox 14"/>
          <p:cNvSpPr txBox="1"/>
          <p:nvPr/>
        </p:nvSpPr>
        <p:spPr>
          <a:xfrm>
            <a:off x="7498079" y="1965960"/>
            <a:ext cx="4297680" cy="411480"/>
          </a:xfrm>
          <a:prstGeom prst="rect">
            <a:avLst/>
          </a:prstGeom>
          <a:noFill/>
        </p:spPr>
        <p:txBody>
          <a:bodyPr wrap="square">
            <a:spAutoFit/>
          </a:bodyPr>
          <a:lstStyle/>
          <a:p>
            <a:pPr algn="l"/>
            <a:r>
              <a:rPr sz="1300" b="0" i="0">
                <a:solidFill>
                  <a:srgbClr val="1A1A2E"/>
                </a:solidFill>
              </a:rPr>
              <a:t>Concurrent indirect — segment classique</a:t>
            </a:r>
          </a:p>
        </p:txBody>
      </p:sp>
      <p:sp>
        <p:nvSpPr>
          <p:cNvPr id="16" name="Rectangle 15"/>
          <p:cNvSpPr/>
          <p:nvPr/>
        </p:nvSpPr>
        <p:spPr>
          <a:xfrm>
            <a:off x="365760" y="2423160"/>
            <a:ext cx="11457432" cy="4846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2468880"/>
            <a:ext cx="2560320" cy="411480"/>
          </a:xfrm>
          <a:prstGeom prst="rect">
            <a:avLst/>
          </a:prstGeom>
          <a:noFill/>
        </p:spPr>
        <p:txBody>
          <a:bodyPr wrap="square">
            <a:spAutoFit/>
          </a:bodyPr>
          <a:lstStyle/>
          <a:p>
            <a:pPr algn="l"/>
            <a:r>
              <a:rPr sz="1300" b="1" i="0">
                <a:solidFill>
                  <a:srgbClr val="0A294B"/>
                </a:solidFill>
              </a:rPr>
              <a:t>Stylos effaçables (FriXion…)</a:t>
            </a:r>
          </a:p>
        </p:txBody>
      </p:sp>
      <p:sp>
        <p:nvSpPr>
          <p:cNvPr id="18" name="TextBox 17"/>
          <p:cNvSpPr txBox="1"/>
          <p:nvPr/>
        </p:nvSpPr>
        <p:spPr>
          <a:xfrm>
            <a:off x="2971800" y="2468880"/>
            <a:ext cx="2194560" cy="411480"/>
          </a:xfrm>
          <a:prstGeom prst="rect">
            <a:avLst/>
          </a:prstGeom>
          <a:noFill/>
        </p:spPr>
        <p:txBody>
          <a:bodyPr wrap="square">
            <a:spAutoFit/>
          </a:bodyPr>
          <a:lstStyle/>
          <a:p>
            <a:pPr algn="l"/>
            <a:r>
              <a:rPr sz="1300" b="0" i="0">
                <a:solidFill>
                  <a:srgbClr val="1A1A2E"/>
                </a:solidFill>
              </a:rPr>
              <a:t>≈ 10–15 %</a:t>
            </a:r>
          </a:p>
        </p:txBody>
      </p:sp>
      <p:sp>
        <p:nvSpPr>
          <p:cNvPr id="19" name="TextBox 18"/>
          <p:cNvSpPr txBox="1"/>
          <p:nvPr/>
        </p:nvSpPr>
        <p:spPr>
          <a:xfrm>
            <a:off x="5193792" y="2468880"/>
            <a:ext cx="2286000" cy="411480"/>
          </a:xfrm>
          <a:prstGeom prst="rect">
            <a:avLst/>
          </a:prstGeom>
          <a:noFill/>
        </p:spPr>
        <p:txBody>
          <a:bodyPr wrap="square">
            <a:spAutoFit/>
          </a:bodyPr>
          <a:lstStyle/>
          <a:p>
            <a:pPr algn="l"/>
            <a:r>
              <a:rPr sz="1300" b="0" i="0">
                <a:solidFill>
                  <a:srgbClr val="1A1A2E"/>
                </a:solidFill>
              </a:rPr>
              <a:t>En croissance — en vogue dans le scolaire</a:t>
            </a:r>
          </a:p>
        </p:txBody>
      </p:sp>
      <p:sp>
        <p:nvSpPr>
          <p:cNvPr id="20" name="TextBox 19"/>
          <p:cNvSpPr txBox="1"/>
          <p:nvPr/>
        </p:nvSpPr>
        <p:spPr>
          <a:xfrm>
            <a:off x="7498079" y="2468880"/>
            <a:ext cx="4297680" cy="411480"/>
          </a:xfrm>
          <a:prstGeom prst="rect">
            <a:avLst/>
          </a:prstGeom>
          <a:noFill/>
        </p:spPr>
        <p:txBody>
          <a:bodyPr wrap="square">
            <a:spAutoFit/>
          </a:bodyPr>
          <a:lstStyle/>
          <a:p>
            <a:pPr algn="l"/>
            <a:r>
              <a:rPr sz="1300" b="0" i="0">
                <a:solidFill>
                  <a:srgbClr val="1A1A2E"/>
                </a:solidFill>
              </a:rPr>
              <a:t>Complémentaire : Stylo Ortho intègre encre effaçable</a:t>
            </a:r>
          </a:p>
        </p:txBody>
      </p:sp>
      <p:sp>
        <p:nvSpPr>
          <p:cNvPr id="21" name="Rectangle 20"/>
          <p:cNvSpPr/>
          <p:nvPr/>
        </p:nvSpPr>
        <p:spPr>
          <a:xfrm>
            <a:off x="365760" y="2926080"/>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971800"/>
            <a:ext cx="2560320" cy="411480"/>
          </a:xfrm>
          <a:prstGeom prst="rect">
            <a:avLst/>
          </a:prstGeom>
          <a:noFill/>
        </p:spPr>
        <p:txBody>
          <a:bodyPr wrap="square">
            <a:spAutoFit/>
          </a:bodyPr>
          <a:lstStyle/>
          <a:p>
            <a:pPr algn="l"/>
            <a:r>
              <a:rPr sz="1300" b="1" i="0">
                <a:solidFill>
                  <a:srgbClr val="0A294B"/>
                </a:solidFill>
              </a:rPr>
              <a:t>Stylos premium / luxe</a:t>
            </a:r>
          </a:p>
        </p:txBody>
      </p:sp>
      <p:sp>
        <p:nvSpPr>
          <p:cNvPr id="23" name="TextBox 22"/>
          <p:cNvSpPr txBox="1"/>
          <p:nvPr/>
        </p:nvSpPr>
        <p:spPr>
          <a:xfrm>
            <a:off x="2971800" y="2971800"/>
            <a:ext cx="2194560" cy="411480"/>
          </a:xfrm>
          <a:prstGeom prst="rect">
            <a:avLst/>
          </a:prstGeom>
          <a:noFill/>
        </p:spPr>
        <p:txBody>
          <a:bodyPr wrap="square">
            <a:spAutoFit/>
          </a:bodyPr>
          <a:lstStyle/>
          <a:p>
            <a:pPr algn="l"/>
            <a:r>
              <a:rPr sz="1300" b="0" i="0">
                <a:solidFill>
                  <a:srgbClr val="1A1A2E"/>
                </a:solidFill>
              </a:rPr>
              <a:t>≈ 5–8 % (valeur)</a:t>
            </a:r>
          </a:p>
        </p:txBody>
      </p:sp>
      <p:sp>
        <p:nvSpPr>
          <p:cNvPr id="24" name="TextBox 23"/>
          <p:cNvSpPr txBox="1"/>
          <p:nvPr/>
        </p:nvSpPr>
        <p:spPr>
          <a:xfrm>
            <a:off x="5193792" y="2971800"/>
            <a:ext cx="2286000" cy="411480"/>
          </a:xfrm>
          <a:prstGeom prst="rect">
            <a:avLst/>
          </a:prstGeom>
          <a:noFill/>
        </p:spPr>
        <p:txBody>
          <a:bodyPr wrap="square">
            <a:spAutoFit/>
          </a:bodyPr>
          <a:lstStyle/>
          <a:p>
            <a:pPr algn="l"/>
            <a:r>
              <a:rPr sz="1300" b="0" i="0">
                <a:solidFill>
                  <a:srgbClr val="1A1A2E"/>
                </a:solidFill>
              </a:rPr>
              <a:t>Stable — niche</a:t>
            </a:r>
          </a:p>
        </p:txBody>
      </p:sp>
      <p:sp>
        <p:nvSpPr>
          <p:cNvPr id="25" name="TextBox 24"/>
          <p:cNvSpPr txBox="1"/>
          <p:nvPr/>
        </p:nvSpPr>
        <p:spPr>
          <a:xfrm>
            <a:off x="7498079" y="2971800"/>
            <a:ext cx="4297680" cy="411480"/>
          </a:xfrm>
          <a:prstGeom prst="rect">
            <a:avLst/>
          </a:prstGeom>
          <a:noFill/>
        </p:spPr>
        <p:txBody>
          <a:bodyPr wrap="square">
            <a:spAutoFit/>
          </a:bodyPr>
          <a:lstStyle/>
          <a:p>
            <a:pPr algn="l"/>
            <a:r>
              <a:rPr sz="1300" b="0" i="0">
                <a:solidFill>
                  <a:srgbClr val="1A1A2E"/>
                </a:solidFill>
              </a:rPr>
              <a:t>Inspiration positionnement premium</a:t>
            </a:r>
          </a:p>
        </p:txBody>
      </p:sp>
      <p:sp>
        <p:nvSpPr>
          <p:cNvPr id="26" name="Rectangle 25"/>
          <p:cNvSpPr/>
          <p:nvPr/>
        </p:nvSpPr>
        <p:spPr>
          <a:xfrm>
            <a:off x="365760" y="3429000"/>
            <a:ext cx="11457432" cy="4846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474720"/>
            <a:ext cx="2560320" cy="411480"/>
          </a:xfrm>
          <a:prstGeom prst="rect">
            <a:avLst/>
          </a:prstGeom>
          <a:noFill/>
        </p:spPr>
        <p:txBody>
          <a:bodyPr wrap="square">
            <a:spAutoFit/>
          </a:bodyPr>
          <a:lstStyle/>
          <a:p>
            <a:pPr algn="l"/>
            <a:r>
              <a:rPr sz="1300" b="1" i="0">
                <a:solidFill>
                  <a:srgbClr val="0A294B"/>
                </a:solidFill>
              </a:rPr>
              <a:t>Fournitures scolaires France 2024</a:t>
            </a:r>
          </a:p>
        </p:txBody>
      </p:sp>
      <p:sp>
        <p:nvSpPr>
          <p:cNvPr id="28" name="TextBox 27"/>
          <p:cNvSpPr txBox="1"/>
          <p:nvPr/>
        </p:nvSpPr>
        <p:spPr>
          <a:xfrm>
            <a:off x="2971800" y="3474720"/>
            <a:ext cx="2194560" cy="411480"/>
          </a:xfrm>
          <a:prstGeom prst="rect">
            <a:avLst/>
          </a:prstGeom>
          <a:noFill/>
        </p:spPr>
        <p:txBody>
          <a:bodyPr wrap="square">
            <a:spAutoFit/>
          </a:bodyPr>
          <a:lstStyle/>
          <a:p>
            <a:pPr algn="l"/>
            <a:r>
              <a:rPr sz="1300" b="0" i="0">
                <a:solidFill>
                  <a:srgbClr val="1A1A2E"/>
                </a:solidFill>
              </a:rPr>
              <a:t>332 M€ à la rentrée</a:t>
            </a:r>
          </a:p>
        </p:txBody>
      </p:sp>
      <p:sp>
        <p:nvSpPr>
          <p:cNvPr id="29" name="TextBox 28"/>
          <p:cNvSpPr txBox="1"/>
          <p:nvPr/>
        </p:nvSpPr>
        <p:spPr>
          <a:xfrm>
            <a:off x="5193792" y="3474720"/>
            <a:ext cx="2286000" cy="411480"/>
          </a:xfrm>
          <a:prstGeom prst="rect">
            <a:avLst/>
          </a:prstGeom>
          <a:noFill/>
        </p:spPr>
        <p:txBody>
          <a:bodyPr wrap="square">
            <a:spAutoFit/>
          </a:bodyPr>
          <a:lstStyle/>
          <a:p>
            <a:pPr algn="l"/>
            <a:r>
              <a:rPr sz="1300" b="0" i="0">
                <a:solidFill>
                  <a:srgbClr val="1A1A2E"/>
                </a:solidFill>
              </a:rPr>
              <a:t>Recul –7 % en 2024 vs 2023</a:t>
            </a:r>
          </a:p>
        </p:txBody>
      </p:sp>
      <p:sp>
        <p:nvSpPr>
          <p:cNvPr id="30" name="TextBox 29"/>
          <p:cNvSpPr txBox="1"/>
          <p:nvPr/>
        </p:nvSpPr>
        <p:spPr>
          <a:xfrm>
            <a:off x="7498079" y="3474720"/>
            <a:ext cx="4297680" cy="411480"/>
          </a:xfrm>
          <a:prstGeom prst="rect">
            <a:avLst/>
          </a:prstGeom>
          <a:noFill/>
        </p:spPr>
        <p:txBody>
          <a:bodyPr wrap="square">
            <a:spAutoFit/>
          </a:bodyPr>
          <a:lstStyle/>
          <a:p>
            <a:pPr algn="l"/>
            <a:r>
              <a:rPr sz="1300" b="0" i="0">
                <a:solidFill>
                  <a:srgbClr val="1A1A2E"/>
                </a:solidFill>
              </a:rPr>
              <a:t>Marché cible principal</a:t>
            </a:r>
          </a:p>
        </p:txBody>
      </p:sp>
      <p:sp>
        <p:nvSpPr>
          <p:cNvPr id="31" name="Rectangle 30"/>
          <p:cNvSpPr/>
          <p:nvPr/>
        </p:nvSpPr>
        <p:spPr>
          <a:xfrm>
            <a:off x="365760" y="3931920"/>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3977639"/>
            <a:ext cx="2560320" cy="411480"/>
          </a:xfrm>
          <a:prstGeom prst="rect">
            <a:avLst/>
          </a:prstGeom>
          <a:noFill/>
        </p:spPr>
        <p:txBody>
          <a:bodyPr wrap="square">
            <a:spAutoFit/>
          </a:bodyPr>
          <a:lstStyle/>
          <a:p>
            <a:pPr algn="l"/>
            <a:r>
              <a:rPr sz="1300" b="1" i="0">
                <a:solidFill>
                  <a:srgbClr val="0A294B"/>
                </a:solidFill>
              </a:rPr>
              <a:t>Instruments d'écriture intelligents</a:t>
            </a:r>
          </a:p>
        </p:txBody>
      </p:sp>
      <p:sp>
        <p:nvSpPr>
          <p:cNvPr id="33" name="TextBox 32"/>
          <p:cNvSpPr txBox="1"/>
          <p:nvPr/>
        </p:nvSpPr>
        <p:spPr>
          <a:xfrm>
            <a:off x="2971800" y="3977639"/>
            <a:ext cx="2194560" cy="411480"/>
          </a:xfrm>
          <a:prstGeom prst="rect">
            <a:avLst/>
          </a:prstGeom>
          <a:noFill/>
        </p:spPr>
        <p:txBody>
          <a:bodyPr wrap="square">
            <a:spAutoFit/>
          </a:bodyPr>
          <a:lstStyle/>
          <a:p>
            <a:pPr algn="l"/>
            <a:r>
              <a:rPr sz="1300" b="0" i="0">
                <a:solidFill>
                  <a:srgbClr val="1A1A2E"/>
                </a:solidFill>
              </a:rPr>
              <a:t>Quasi inexistant</a:t>
            </a:r>
          </a:p>
        </p:txBody>
      </p:sp>
      <p:sp>
        <p:nvSpPr>
          <p:cNvPr id="34" name="TextBox 33"/>
          <p:cNvSpPr txBox="1"/>
          <p:nvPr/>
        </p:nvSpPr>
        <p:spPr>
          <a:xfrm>
            <a:off x="5193792" y="3977639"/>
            <a:ext cx="2286000" cy="411480"/>
          </a:xfrm>
          <a:prstGeom prst="rect">
            <a:avLst/>
          </a:prstGeom>
          <a:noFill/>
        </p:spPr>
        <p:txBody>
          <a:bodyPr wrap="square">
            <a:spAutoFit/>
          </a:bodyPr>
          <a:lstStyle/>
          <a:p>
            <a:pPr algn="l"/>
            <a:r>
              <a:rPr sz="1300" b="0" i="0">
                <a:solidFill>
                  <a:srgbClr val="1A1A2E"/>
                </a:solidFill>
              </a:rPr>
              <a:t>Fort potentiel</a:t>
            </a:r>
          </a:p>
        </p:txBody>
      </p:sp>
      <p:sp>
        <p:nvSpPr>
          <p:cNvPr id="35" name="TextBox 34"/>
          <p:cNvSpPr txBox="1"/>
          <p:nvPr/>
        </p:nvSpPr>
        <p:spPr>
          <a:xfrm>
            <a:off x="7498079" y="3977639"/>
            <a:ext cx="4297680" cy="411480"/>
          </a:xfrm>
          <a:prstGeom prst="rect">
            <a:avLst/>
          </a:prstGeom>
          <a:noFill/>
        </p:spPr>
        <p:txBody>
          <a:bodyPr wrap="square">
            <a:spAutoFit/>
          </a:bodyPr>
          <a:lstStyle/>
          <a:p>
            <a:pPr algn="l"/>
            <a:r>
              <a:rPr sz="1300" b="0" i="0">
                <a:solidFill>
                  <a:srgbClr val="1A1A2E"/>
                </a:solidFill>
              </a:rPr>
              <a:t>🎯 Positionnement pionnier — aucun concurrent direct</a:t>
            </a:r>
          </a:p>
        </p:txBody>
      </p:sp>
      <p:sp>
        <p:nvSpPr>
          <p:cNvPr id="36" name="Rectangle 35"/>
          <p:cNvSpPr/>
          <p:nvPr/>
        </p:nvSpPr>
        <p:spPr>
          <a:xfrm>
            <a:off x="365760" y="4480559"/>
            <a:ext cx="11457432" cy="59436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526280"/>
            <a:ext cx="11064240" cy="502920"/>
          </a:xfrm>
          <a:prstGeom prst="rect">
            <a:avLst/>
          </a:prstGeom>
          <a:noFill/>
        </p:spPr>
        <p:txBody>
          <a:bodyPr wrap="square">
            <a:spAutoFit/>
          </a:bodyPr>
          <a:lstStyle/>
          <a:p>
            <a:pPr algn="l"/>
            <a:r>
              <a:rPr sz="1400" b="0" i="0">
                <a:solidFill>
                  <a:srgbClr val="FFFFFF"/>
                </a:solidFill>
              </a:rPr>
              <a:t>📊 Tri à plat : 56,6 % utilisent le correcteur téléphone et 43,4 % le correcteur Word — mais aucun de ces outils ne fonctionne sur papier. Opportunité unique pour le Stylo Ortho.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3.2 Concurrents directs et indirects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OFFRE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384048"/>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53896"/>
            <a:ext cx="1280160" cy="320040"/>
          </a:xfrm>
          <a:prstGeom prst="rect">
            <a:avLst/>
          </a:prstGeom>
          <a:noFill/>
        </p:spPr>
        <p:txBody>
          <a:bodyPr wrap="square">
            <a:spAutoFit/>
          </a:bodyPr>
          <a:lstStyle/>
          <a:p>
            <a:pPr algn="l"/>
            <a:r>
              <a:rPr sz="1300" b="1" i="0">
                <a:solidFill>
                  <a:srgbClr val="FFFFFF"/>
                </a:solidFill>
              </a:rPr>
              <a:t>Type</a:t>
            </a:r>
          </a:p>
        </p:txBody>
      </p:sp>
      <p:sp>
        <p:nvSpPr>
          <p:cNvPr id="8" name="TextBox 7"/>
          <p:cNvSpPr txBox="1"/>
          <p:nvPr/>
        </p:nvSpPr>
        <p:spPr>
          <a:xfrm>
            <a:off x="1691640" y="1453896"/>
            <a:ext cx="1554480" cy="320040"/>
          </a:xfrm>
          <a:prstGeom prst="rect">
            <a:avLst/>
          </a:prstGeom>
          <a:noFill/>
        </p:spPr>
        <p:txBody>
          <a:bodyPr wrap="square">
            <a:spAutoFit/>
          </a:bodyPr>
          <a:lstStyle/>
          <a:p>
            <a:pPr algn="l"/>
            <a:r>
              <a:rPr sz="1300" b="1" i="0">
                <a:solidFill>
                  <a:srgbClr val="FFFFFF"/>
                </a:solidFill>
              </a:rPr>
              <a:t>Concurrent</a:t>
            </a:r>
          </a:p>
        </p:txBody>
      </p:sp>
      <p:sp>
        <p:nvSpPr>
          <p:cNvPr id="9" name="TextBox 8"/>
          <p:cNvSpPr txBox="1"/>
          <p:nvPr/>
        </p:nvSpPr>
        <p:spPr>
          <a:xfrm>
            <a:off x="3273552" y="1453896"/>
            <a:ext cx="2011680" cy="320040"/>
          </a:xfrm>
          <a:prstGeom prst="rect">
            <a:avLst/>
          </a:prstGeom>
          <a:noFill/>
        </p:spPr>
        <p:txBody>
          <a:bodyPr wrap="square">
            <a:spAutoFit/>
          </a:bodyPr>
          <a:lstStyle/>
          <a:p>
            <a:pPr algn="l"/>
            <a:r>
              <a:rPr sz="1300" b="1" i="0">
                <a:solidFill>
                  <a:srgbClr val="FFFFFF"/>
                </a:solidFill>
              </a:rPr>
              <a:t>PDM estimée</a:t>
            </a:r>
          </a:p>
        </p:txBody>
      </p:sp>
      <p:sp>
        <p:nvSpPr>
          <p:cNvPr id="10" name="TextBox 9"/>
          <p:cNvSpPr txBox="1"/>
          <p:nvPr/>
        </p:nvSpPr>
        <p:spPr>
          <a:xfrm>
            <a:off x="5303520" y="1453896"/>
            <a:ext cx="2560320" cy="320040"/>
          </a:xfrm>
          <a:prstGeom prst="rect">
            <a:avLst/>
          </a:prstGeom>
          <a:noFill/>
        </p:spPr>
        <p:txBody>
          <a:bodyPr wrap="square">
            <a:spAutoFit/>
          </a:bodyPr>
          <a:lstStyle/>
          <a:p>
            <a:pPr algn="l"/>
            <a:r>
              <a:rPr sz="1300" b="1" i="0">
                <a:solidFill>
                  <a:srgbClr val="FFFFFF"/>
                </a:solidFill>
              </a:rPr>
              <a:t>Forces</a:t>
            </a:r>
          </a:p>
        </p:txBody>
      </p:sp>
      <p:sp>
        <p:nvSpPr>
          <p:cNvPr id="11" name="TextBox 10"/>
          <p:cNvSpPr txBox="1"/>
          <p:nvPr/>
        </p:nvSpPr>
        <p:spPr>
          <a:xfrm>
            <a:off x="7891272" y="1453896"/>
            <a:ext cx="3749039" cy="320040"/>
          </a:xfrm>
          <a:prstGeom prst="rect">
            <a:avLst/>
          </a:prstGeom>
          <a:noFill/>
        </p:spPr>
        <p:txBody>
          <a:bodyPr wrap="square">
            <a:spAutoFit/>
          </a:bodyPr>
          <a:lstStyle/>
          <a:p>
            <a:pPr algn="l"/>
            <a:r>
              <a:rPr sz="1300" b="1" i="0">
                <a:solidFill>
                  <a:srgbClr val="FFFFFF"/>
                </a:solidFill>
              </a:rPr>
              <a:t>Limite face au Stylo Ortho</a:t>
            </a:r>
          </a:p>
        </p:txBody>
      </p:sp>
      <p:sp>
        <p:nvSpPr>
          <p:cNvPr id="12" name="Rectangle 11"/>
          <p:cNvSpPr/>
          <p:nvPr/>
        </p:nvSpPr>
        <p:spPr>
          <a:xfrm>
            <a:off x="365760" y="1929384"/>
            <a:ext cx="1145743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965960"/>
            <a:ext cx="1280160" cy="438912"/>
          </a:xfrm>
          <a:prstGeom prst="rect">
            <a:avLst/>
          </a:prstGeom>
          <a:noFill/>
        </p:spPr>
        <p:txBody>
          <a:bodyPr wrap="square">
            <a:spAutoFit/>
          </a:bodyPr>
          <a:lstStyle/>
          <a:p>
            <a:pPr algn="l"/>
            <a:r>
              <a:rPr sz="1200" b="0" i="0">
                <a:solidFill>
                  <a:srgbClr val="1A1A2E"/>
                </a:solidFill>
              </a:rPr>
              <a:t>Indirecte</a:t>
            </a:r>
          </a:p>
        </p:txBody>
      </p:sp>
      <p:sp>
        <p:nvSpPr>
          <p:cNvPr id="14" name="TextBox 13"/>
          <p:cNvSpPr txBox="1"/>
          <p:nvPr/>
        </p:nvSpPr>
        <p:spPr>
          <a:xfrm>
            <a:off x="1691640" y="1965960"/>
            <a:ext cx="1554480" cy="438912"/>
          </a:xfrm>
          <a:prstGeom prst="rect">
            <a:avLst/>
          </a:prstGeom>
          <a:noFill/>
        </p:spPr>
        <p:txBody>
          <a:bodyPr wrap="square">
            <a:spAutoFit/>
          </a:bodyPr>
          <a:lstStyle/>
          <a:p>
            <a:pPr algn="l"/>
            <a:r>
              <a:rPr sz="1200" b="1" i="0">
                <a:solidFill>
                  <a:srgbClr val="0A294B"/>
                </a:solidFill>
              </a:rPr>
              <a:t>BIC</a:t>
            </a:r>
          </a:p>
        </p:txBody>
      </p:sp>
      <p:sp>
        <p:nvSpPr>
          <p:cNvPr id="15" name="TextBox 14"/>
          <p:cNvSpPr txBox="1"/>
          <p:nvPr/>
        </p:nvSpPr>
        <p:spPr>
          <a:xfrm>
            <a:off x="3273552" y="1965960"/>
            <a:ext cx="2011680" cy="438912"/>
          </a:xfrm>
          <a:prstGeom prst="rect">
            <a:avLst/>
          </a:prstGeom>
          <a:noFill/>
        </p:spPr>
        <p:txBody>
          <a:bodyPr wrap="square">
            <a:spAutoFit/>
          </a:bodyPr>
          <a:lstStyle/>
          <a:p>
            <a:pPr algn="l"/>
            <a:r>
              <a:rPr sz="1200" b="0" i="0">
                <a:solidFill>
                  <a:srgbClr val="1A1A2E"/>
                </a:solidFill>
              </a:rPr>
              <a:t>≈ 20–25 % stylos France</a:t>
            </a:r>
          </a:p>
        </p:txBody>
      </p:sp>
      <p:sp>
        <p:nvSpPr>
          <p:cNvPr id="16" name="TextBox 15"/>
          <p:cNvSpPr txBox="1"/>
          <p:nvPr/>
        </p:nvSpPr>
        <p:spPr>
          <a:xfrm>
            <a:off x="5303520" y="1965960"/>
            <a:ext cx="2560320" cy="438912"/>
          </a:xfrm>
          <a:prstGeom prst="rect">
            <a:avLst/>
          </a:prstGeom>
          <a:noFill/>
        </p:spPr>
        <p:txBody>
          <a:bodyPr wrap="square">
            <a:spAutoFit/>
          </a:bodyPr>
          <a:lstStyle/>
          <a:p>
            <a:pPr algn="l"/>
            <a:r>
              <a:rPr sz="1200" b="0" i="0">
                <a:solidFill>
                  <a:srgbClr val="1A1A2E"/>
                </a:solidFill>
              </a:rPr>
              <a:t>Notoriété mondiale, prix très bas, réseau massif</a:t>
            </a:r>
          </a:p>
        </p:txBody>
      </p:sp>
      <p:sp>
        <p:nvSpPr>
          <p:cNvPr id="17" name="TextBox 16"/>
          <p:cNvSpPr txBox="1"/>
          <p:nvPr/>
        </p:nvSpPr>
        <p:spPr>
          <a:xfrm>
            <a:off x="7891272" y="1965960"/>
            <a:ext cx="3749039" cy="438912"/>
          </a:xfrm>
          <a:prstGeom prst="rect">
            <a:avLst/>
          </a:prstGeom>
          <a:noFill/>
        </p:spPr>
        <p:txBody>
          <a:bodyPr wrap="square">
            <a:spAutoFit/>
          </a:bodyPr>
          <a:lstStyle/>
          <a:p>
            <a:pPr algn="l"/>
            <a:r>
              <a:rPr sz="1200" b="0" i="0">
                <a:solidFill>
                  <a:srgbClr val="1A1A2E"/>
                </a:solidFill>
              </a:rPr>
              <a:t>Aucune technologie de correction intégrée</a:t>
            </a:r>
          </a:p>
        </p:txBody>
      </p:sp>
      <p:sp>
        <p:nvSpPr>
          <p:cNvPr id="18" name="Rectangle 17"/>
          <p:cNvSpPr/>
          <p:nvPr/>
        </p:nvSpPr>
        <p:spPr>
          <a:xfrm>
            <a:off x="365760" y="2441448"/>
            <a:ext cx="11457432" cy="49377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478024"/>
            <a:ext cx="1280160" cy="438912"/>
          </a:xfrm>
          <a:prstGeom prst="rect">
            <a:avLst/>
          </a:prstGeom>
          <a:noFill/>
        </p:spPr>
        <p:txBody>
          <a:bodyPr wrap="square">
            <a:spAutoFit/>
          </a:bodyPr>
          <a:lstStyle/>
          <a:p>
            <a:pPr algn="l"/>
            <a:r>
              <a:rPr sz="1200" b="0" i="0">
                <a:solidFill>
                  <a:srgbClr val="1A1A2E"/>
                </a:solidFill>
              </a:rPr>
              <a:t>Indirecte</a:t>
            </a:r>
          </a:p>
        </p:txBody>
      </p:sp>
      <p:sp>
        <p:nvSpPr>
          <p:cNvPr id="20" name="TextBox 19"/>
          <p:cNvSpPr txBox="1"/>
          <p:nvPr/>
        </p:nvSpPr>
        <p:spPr>
          <a:xfrm>
            <a:off x="1691640" y="2478024"/>
            <a:ext cx="1554480" cy="438912"/>
          </a:xfrm>
          <a:prstGeom prst="rect">
            <a:avLst/>
          </a:prstGeom>
          <a:noFill/>
        </p:spPr>
        <p:txBody>
          <a:bodyPr wrap="square">
            <a:spAutoFit/>
          </a:bodyPr>
          <a:lstStyle/>
          <a:p>
            <a:pPr algn="l"/>
            <a:r>
              <a:rPr sz="1200" b="1" i="0">
                <a:solidFill>
                  <a:srgbClr val="0A294B"/>
                </a:solidFill>
              </a:rPr>
              <a:t>Pilot / Stabilo / Pentel</a:t>
            </a:r>
          </a:p>
        </p:txBody>
      </p:sp>
      <p:sp>
        <p:nvSpPr>
          <p:cNvPr id="21" name="TextBox 20"/>
          <p:cNvSpPr txBox="1"/>
          <p:nvPr/>
        </p:nvSpPr>
        <p:spPr>
          <a:xfrm>
            <a:off x="3273552" y="2478024"/>
            <a:ext cx="2011680" cy="438912"/>
          </a:xfrm>
          <a:prstGeom prst="rect">
            <a:avLst/>
          </a:prstGeom>
          <a:noFill/>
        </p:spPr>
        <p:txBody>
          <a:bodyPr wrap="square">
            <a:spAutoFit/>
          </a:bodyPr>
          <a:lstStyle/>
          <a:p>
            <a:pPr algn="l"/>
            <a:r>
              <a:rPr sz="1200" b="0" i="0">
                <a:solidFill>
                  <a:srgbClr val="1A1A2E"/>
                </a:solidFill>
              </a:rPr>
              <a:t>≈ 15–20 % cumulés</a:t>
            </a:r>
          </a:p>
        </p:txBody>
      </p:sp>
      <p:sp>
        <p:nvSpPr>
          <p:cNvPr id="22" name="TextBox 21"/>
          <p:cNvSpPr txBox="1"/>
          <p:nvPr/>
        </p:nvSpPr>
        <p:spPr>
          <a:xfrm>
            <a:off x="5303520" y="2478024"/>
            <a:ext cx="2560320" cy="438912"/>
          </a:xfrm>
          <a:prstGeom prst="rect">
            <a:avLst/>
          </a:prstGeom>
          <a:noFill/>
        </p:spPr>
        <p:txBody>
          <a:bodyPr wrap="square">
            <a:spAutoFit/>
          </a:bodyPr>
          <a:lstStyle/>
          <a:p>
            <a:pPr algn="l"/>
            <a:r>
              <a:rPr sz="1200" b="0" i="0">
                <a:solidFill>
                  <a:srgbClr val="1A1A2E"/>
                </a:solidFill>
              </a:rPr>
              <a:t>Innovation stylos effaçables (FriXion)</a:t>
            </a:r>
          </a:p>
        </p:txBody>
      </p:sp>
      <p:sp>
        <p:nvSpPr>
          <p:cNvPr id="23" name="TextBox 22"/>
          <p:cNvSpPr txBox="1"/>
          <p:nvPr/>
        </p:nvSpPr>
        <p:spPr>
          <a:xfrm>
            <a:off x="7891272" y="2478024"/>
            <a:ext cx="3749039" cy="438912"/>
          </a:xfrm>
          <a:prstGeom prst="rect">
            <a:avLst/>
          </a:prstGeom>
          <a:noFill/>
        </p:spPr>
        <p:txBody>
          <a:bodyPr wrap="square">
            <a:spAutoFit/>
          </a:bodyPr>
          <a:lstStyle/>
          <a:p>
            <a:pPr algn="l"/>
            <a:r>
              <a:rPr sz="1200" b="0" i="0">
                <a:solidFill>
                  <a:srgbClr val="1A1A2E"/>
                </a:solidFill>
              </a:rPr>
              <a:t>Pas de capacité de correction orthographique</a:t>
            </a:r>
          </a:p>
        </p:txBody>
      </p:sp>
      <p:sp>
        <p:nvSpPr>
          <p:cNvPr id="24" name="Rectangle 23"/>
          <p:cNvSpPr/>
          <p:nvPr/>
        </p:nvSpPr>
        <p:spPr>
          <a:xfrm>
            <a:off x="365760" y="2953512"/>
            <a:ext cx="1145743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990088"/>
            <a:ext cx="1280160" cy="438912"/>
          </a:xfrm>
          <a:prstGeom prst="rect">
            <a:avLst/>
          </a:prstGeom>
          <a:noFill/>
        </p:spPr>
        <p:txBody>
          <a:bodyPr wrap="square">
            <a:spAutoFit/>
          </a:bodyPr>
          <a:lstStyle/>
          <a:p>
            <a:pPr algn="l"/>
            <a:r>
              <a:rPr sz="1200" b="0" i="0">
                <a:solidFill>
                  <a:srgbClr val="1A1A2E"/>
                </a:solidFill>
              </a:rPr>
              <a:t>Directe
(numérique)</a:t>
            </a:r>
          </a:p>
        </p:txBody>
      </p:sp>
      <p:sp>
        <p:nvSpPr>
          <p:cNvPr id="26" name="TextBox 25"/>
          <p:cNvSpPr txBox="1"/>
          <p:nvPr/>
        </p:nvSpPr>
        <p:spPr>
          <a:xfrm>
            <a:off x="1691640" y="2990088"/>
            <a:ext cx="1554480" cy="438912"/>
          </a:xfrm>
          <a:prstGeom prst="rect">
            <a:avLst/>
          </a:prstGeom>
          <a:noFill/>
        </p:spPr>
        <p:txBody>
          <a:bodyPr wrap="square">
            <a:spAutoFit/>
          </a:bodyPr>
          <a:lstStyle/>
          <a:p>
            <a:pPr algn="l"/>
            <a:r>
              <a:rPr sz="1200" b="1" i="0">
                <a:solidFill>
                  <a:srgbClr val="0A294B"/>
                </a:solidFill>
              </a:rPr>
              <a:t>Microsoft Word /
Google Docs</a:t>
            </a:r>
          </a:p>
        </p:txBody>
      </p:sp>
      <p:sp>
        <p:nvSpPr>
          <p:cNvPr id="27" name="TextBox 26"/>
          <p:cNvSpPr txBox="1"/>
          <p:nvPr/>
        </p:nvSpPr>
        <p:spPr>
          <a:xfrm>
            <a:off x="3273552" y="2990088"/>
            <a:ext cx="2011680" cy="438912"/>
          </a:xfrm>
          <a:prstGeom prst="rect">
            <a:avLst/>
          </a:prstGeom>
          <a:noFill/>
        </p:spPr>
        <p:txBody>
          <a:bodyPr wrap="square">
            <a:spAutoFit/>
          </a:bodyPr>
          <a:lstStyle/>
          <a:p>
            <a:pPr algn="l"/>
            <a:r>
              <a:rPr sz="1200" b="0" i="0">
                <a:solidFill>
                  <a:srgbClr val="1A1A2E"/>
                </a:solidFill>
              </a:rPr>
              <a:t>≈ 43,4 % utilisateurs</a:t>
            </a:r>
          </a:p>
        </p:txBody>
      </p:sp>
      <p:sp>
        <p:nvSpPr>
          <p:cNvPr id="28" name="TextBox 27"/>
          <p:cNvSpPr txBox="1"/>
          <p:nvPr/>
        </p:nvSpPr>
        <p:spPr>
          <a:xfrm>
            <a:off x="5303520" y="2990088"/>
            <a:ext cx="2560320" cy="438912"/>
          </a:xfrm>
          <a:prstGeom prst="rect">
            <a:avLst/>
          </a:prstGeom>
          <a:noFill/>
        </p:spPr>
        <p:txBody>
          <a:bodyPr wrap="square">
            <a:spAutoFit/>
          </a:bodyPr>
          <a:lstStyle/>
          <a:p>
            <a:pPr algn="l"/>
            <a:r>
              <a:rPr sz="1200" b="0" i="0">
                <a:solidFill>
                  <a:srgbClr val="1A1A2E"/>
                </a:solidFill>
              </a:rPr>
              <a:t>Intégré aux outils bureautiques, gratuit</a:t>
            </a:r>
          </a:p>
        </p:txBody>
      </p:sp>
      <p:sp>
        <p:nvSpPr>
          <p:cNvPr id="29" name="TextBox 28"/>
          <p:cNvSpPr txBox="1"/>
          <p:nvPr/>
        </p:nvSpPr>
        <p:spPr>
          <a:xfrm>
            <a:off x="7891272" y="2990088"/>
            <a:ext cx="3749039" cy="438912"/>
          </a:xfrm>
          <a:prstGeom prst="rect">
            <a:avLst/>
          </a:prstGeom>
          <a:noFill/>
        </p:spPr>
        <p:txBody>
          <a:bodyPr wrap="square">
            <a:spAutoFit/>
          </a:bodyPr>
          <a:lstStyle/>
          <a:p>
            <a:pPr algn="l"/>
            <a:r>
              <a:rPr sz="1200" b="0" i="0">
                <a:solidFill>
                  <a:srgbClr val="1A1A2E"/>
                </a:solidFill>
              </a:rPr>
              <a:t>Inutilisable sur papier ou en examen manuscrit</a:t>
            </a:r>
          </a:p>
        </p:txBody>
      </p:sp>
      <p:sp>
        <p:nvSpPr>
          <p:cNvPr id="30" name="Rectangle 29"/>
          <p:cNvSpPr/>
          <p:nvPr/>
        </p:nvSpPr>
        <p:spPr>
          <a:xfrm>
            <a:off x="365760" y="3465576"/>
            <a:ext cx="11457432" cy="493776"/>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3502152"/>
            <a:ext cx="1280160" cy="438912"/>
          </a:xfrm>
          <a:prstGeom prst="rect">
            <a:avLst/>
          </a:prstGeom>
          <a:noFill/>
        </p:spPr>
        <p:txBody>
          <a:bodyPr wrap="square">
            <a:spAutoFit/>
          </a:bodyPr>
          <a:lstStyle/>
          <a:p>
            <a:pPr algn="l"/>
            <a:r>
              <a:rPr sz="1200" b="0" i="0">
                <a:solidFill>
                  <a:srgbClr val="1A1A2E"/>
                </a:solidFill>
              </a:rPr>
              <a:t>Directe
(numérique)</a:t>
            </a:r>
          </a:p>
        </p:txBody>
      </p:sp>
      <p:sp>
        <p:nvSpPr>
          <p:cNvPr id="32" name="TextBox 31"/>
          <p:cNvSpPr txBox="1"/>
          <p:nvPr/>
        </p:nvSpPr>
        <p:spPr>
          <a:xfrm>
            <a:off x="1691640" y="3502152"/>
            <a:ext cx="1554480" cy="438912"/>
          </a:xfrm>
          <a:prstGeom prst="rect">
            <a:avLst/>
          </a:prstGeom>
          <a:noFill/>
        </p:spPr>
        <p:txBody>
          <a:bodyPr wrap="square">
            <a:spAutoFit/>
          </a:bodyPr>
          <a:lstStyle/>
          <a:p>
            <a:pPr algn="l"/>
            <a:r>
              <a:rPr sz="1200" b="1" i="0">
                <a:solidFill>
                  <a:srgbClr val="0A294B"/>
                </a:solidFill>
              </a:rPr>
              <a:t>Correcteur téléphone</a:t>
            </a:r>
          </a:p>
        </p:txBody>
      </p:sp>
      <p:sp>
        <p:nvSpPr>
          <p:cNvPr id="33" name="TextBox 32"/>
          <p:cNvSpPr txBox="1"/>
          <p:nvPr/>
        </p:nvSpPr>
        <p:spPr>
          <a:xfrm>
            <a:off x="3273552" y="3502152"/>
            <a:ext cx="2011680" cy="438912"/>
          </a:xfrm>
          <a:prstGeom prst="rect">
            <a:avLst/>
          </a:prstGeom>
          <a:noFill/>
        </p:spPr>
        <p:txBody>
          <a:bodyPr wrap="square">
            <a:spAutoFit/>
          </a:bodyPr>
          <a:lstStyle/>
          <a:p>
            <a:pPr algn="l"/>
            <a:r>
              <a:rPr sz="1200" b="0" i="0">
                <a:solidFill>
                  <a:srgbClr val="1A1A2E"/>
                </a:solidFill>
              </a:rPr>
              <a:t>≈ 56,6 % utilisateurs</a:t>
            </a:r>
          </a:p>
        </p:txBody>
      </p:sp>
      <p:sp>
        <p:nvSpPr>
          <p:cNvPr id="34" name="TextBox 33"/>
          <p:cNvSpPr txBox="1"/>
          <p:nvPr/>
        </p:nvSpPr>
        <p:spPr>
          <a:xfrm>
            <a:off x="5303520" y="3502152"/>
            <a:ext cx="2560320" cy="438912"/>
          </a:xfrm>
          <a:prstGeom prst="rect">
            <a:avLst/>
          </a:prstGeom>
          <a:noFill/>
        </p:spPr>
        <p:txBody>
          <a:bodyPr wrap="square">
            <a:spAutoFit/>
          </a:bodyPr>
          <a:lstStyle/>
          <a:p>
            <a:pPr algn="l"/>
            <a:r>
              <a:rPr sz="1200" b="0" i="0">
                <a:solidFill>
                  <a:srgbClr val="1A1A2E"/>
                </a:solidFill>
              </a:rPr>
              <a:t>Gratuit, accessible partout, instantané</a:t>
            </a:r>
          </a:p>
        </p:txBody>
      </p:sp>
      <p:sp>
        <p:nvSpPr>
          <p:cNvPr id="35" name="TextBox 34"/>
          <p:cNvSpPr txBox="1"/>
          <p:nvPr/>
        </p:nvSpPr>
        <p:spPr>
          <a:xfrm>
            <a:off x="7891272" y="3502152"/>
            <a:ext cx="3749039" cy="438912"/>
          </a:xfrm>
          <a:prstGeom prst="rect">
            <a:avLst/>
          </a:prstGeom>
          <a:noFill/>
        </p:spPr>
        <p:txBody>
          <a:bodyPr wrap="square">
            <a:spAutoFit/>
          </a:bodyPr>
          <a:lstStyle/>
          <a:p>
            <a:pPr algn="l"/>
            <a:r>
              <a:rPr sz="1200" b="0" i="0">
                <a:solidFill>
                  <a:srgbClr val="1A1A2E"/>
                </a:solidFill>
              </a:rPr>
              <a:t>Ne fonctionne pas lors d'une rédaction manuscrite</a:t>
            </a:r>
          </a:p>
        </p:txBody>
      </p:sp>
      <p:sp>
        <p:nvSpPr>
          <p:cNvPr id="36" name="Rectangle 35"/>
          <p:cNvSpPr/>
          <p:nvPr/>
        </p:nvSpPr>
        <p:spPr>
          <a:xfrm>
            <a:off x="365760" y="3977640"/>
            <a:ext cx="1145743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4048" y="4014216"/>
            <a:ext cx="1280160" cy="438912"/>
          </a:xfrm>
          <a:prstGeom prst="rect">
            <a:avLst/>
          </a:prstGeom>
          <a:noFill/>
        </p:spPr>
        <p:txBody>
          <a:bodyPr wrap="square">
            <a:spAutoFit/>
          </a:bodyPr>
          <a:lstStyle/>
          <a:p>
            <a:pPr algn="l"/>
            <a:r>
              <a:rPr sz="1200" b="0" i="0">
                <a:solidFill>
                  <a:srgbClr val="1A1A2E"/>
                </a:solidFill>
              </a:rPr>
              <a:t>Directe
(numérique)</a:t>
            </a:r>
          </a:p>
        </p:txBody>
      </p:sp>
      <p:sp>
        <p:nvSpPr>
          <p:cNvPr id="38" name="TextBox 37"/>
          <p:cNvSpPr txBox="1"/>
          <p:nvPr/>
        </p:nvSpPr>
        <p:spPr>
          <a:xfrm>
            <a:off x="1691640" y="4014216"/>
            <a:ext cx="1554480" cy="438912"/>
          </a:xfrm>
          <a:prstGeom prst="rect">
            <a:avLst/>
          </a:prstGeom>
          <a:noFill/>
        </p:spPr>
        <p:txBody>
          <a:bodyPr wrap="square">
            <a:spAutoFit/>
          </a:bodyPr>
          <a:lstStyle/>
          <a:p>
            <a:pPr algn="l"/>
            <a:r>
              <a:rPr sz="1200" b="1" i="0">
                <a:solidFill>
                  <a:srgbClr val="0A294B"/>
                </a:solidFill>
              </a:rPr>
              <a:t>Grammarly / Antidote</a:t>
            </a:r>
          </a:p>
        </p:txBody>
      </p:sp>
      <p:sp>
        <p:nvSpPr>
          <p:cNvPr id="39" name="TextBox 38"/>
          <p:cNvSpPr txBox="1"/>
          <p:nvPr/>
        </p:nvSpPr>
        <p:spPr>
          <a:xfrm>
            <a:off x="3273552" y="4014216"/>
            <a:ext cx="2011680" cy="438912"/>
          </a:xfrm>
          <a:prstGeom prst="rect">
            <a:avLst/>
          </a:prstGeom>
          <a:noFill/>
        </p:spPr>
        <p:txBody>
          <a:bodyPr wrap="square">
            <a:spAutoFit/>
          </a:bodyPr>
          <a:lstStyle/>
          <a:p>
            <a:pPr algn="l"/>
            <a:r>
              <a:rPr sz="1200" b="0" i="0">
                <a:solidFill>
                  <a:srgbClr val="1A1A2E"/>
                </a:solidFill>
              </a:rPr>
              <a:t>Niche</a:t>
            </a:r>
          </a:p>
        </p:txBody>
      </p:sp>
      <p:sp>
        <p:nvSpPr>
          <p:cNvPr id="40" name="TextBox 39"/>
          <p:cNvSpPr txBox="1"/>
          <p:nvPr/>
        </p:nvSpPr>
        <p:spPr>
          <a:xfrm>
            <a:off x="5303520" y="4014216"/>
            <a:ext cx="2560320" cy="438912"/>
          </a:xfrm>
          <a:prstGeom prst="rect">
            <a:avLst/>
          </a:prstGeom>
          <a:noFill/>
        </p:spPr>
        <p:txBody>
          <a:bodyPr wrap="square">
            <a:spAutoFit/>
          </a:bodyPr>
          <a:lstStyle/>
          <a:p>
            <a:pPr algn="l"/>
            <a:r>
              <a:rPr sz="1200" b="0" i="0">
                <a:solidFill>
                  <a:srgbClr val="1A1A2E"/>
                </a:solidFill>
              </a:rPr>
              <a:t>Très performants à l'écrit numérique</a:t>
            </a:r>
          </a:p>
        </p:txBody>
      </p:sp>
      <p:sp>
        <p:nvSpPr>
          <p:cNvPr id="41" name="TextBox 40"/>
          <p:cNvSpPr txBox="1"/>
          <p:nvPr/>
        </p:nvSpPr>
        <p:spPr>
          <a:xfrm>
            <a:off x="7891272" y="4014216"/>
            <a:ext cx="3749039" cy="438912"/>
          </a:xfrm>
          <a:prstGeom prst="rect">
            <a:avLst/>
          </a:prstGeom>
          <a:noFill/>
        </p:spPr>
        <p:txBody>
          <a:bodyPr wrap="square">
            <a:spAutoFit/>
          </a:bodyPr>
          <a:lstStyle/>
          <a:p>
            <a:pPr algn="l"/>
            <a:r>
              <a:rPr sz="1200" b="0" i="0">
                <a:solidFill>
                  <a:srgbClr val="1A1A2E"/>
                </a:solidFill>
              </a:rPr>
              <a:t>Réservés au numérique, payants, non utilisables sur papier</a:t>
            </a:r>
          </a:p>
        </p:txBody>
      </p:sp>
      <p:sp>
        <p:nvSpPr>
          <p:cNvPr id="42" name="Rectangle 41"/>
          <p:cNvSpPr/>
          <p:nvPr/>
        </p:nvSpPr>
        <p:spPr>
          <a:xfrm>
            <a:off x="365760" y="4544568"/>
            <a:ext cx="11457432" cy="53035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4590288"/>
            <a:ext cx="11064240" cy="438912"/>
          </a:xfrm>
          <a:prstGeom prst="rect">
            <a:avLst/>
          </a:prstGeom>
          <a:noFill/>
        </p:spPr>
        <p:txBody>
          <a:bodyPr wrap="square">
            <a:spAutoFit/>
          </a:bodyPr>
          <a:lstStyle/>
          <a:p>
            <a:pPr algn="l"/>
            <a:r>
              <a:rPr sz="1400" b="0" i="0">
                <a:solidFill>
                  <a:srgbClr val="FFFFFF"/>
                </a:solidFill>
              </a:rPr>
              <a:t>🎯 Le Stylo Ortho occupe un territoire inexploité. Même les personnes n'étant pas sa cible directe reconnaissent l'utilité du produit pour les autres — effet de prescription fort.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3.3 Analyse des distributeurs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OFFRE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384048"/>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53896"/>
            <a:ext cx="2286000" cy="320040"/>
          </a:xfrm>
          <a:prstGeom prst="rect">
            <a:avLst/>
          </a:prstGeom>
          <a:noFill/>
        </p:spPr>
        <p:txBody>
          <a:bodyPr wrap="square">
            <a:spAutoFit/>
          </a:bodyPr>
          <a:lstStyle/>
          <a:p>
            <a:pPr algn="l"/>
            <a:r>
              <a:rPr sz="1300" b="1" i="0">
                <a:solidFill>
                  <a:srgbClr val="FFFFFF"/>
                </a:solidFill>
              </a:rPr>
              <a:t>Distributeur</a:t>
            </a:r>
          </a:p>
        </p:txBody>
      </p:sp>
      <p:sp>
        <p:nvSpPr>
          <p:cNvPr id="8" name="TextBox 7"/>
          <p:cNvSpPr txBox="1"/>
          <p:nvPr/>
        </p:nvSpPr>
        <p:spPr>
          <a:xfrm>
            <a:off x="2697480" y="1453896"/>
            <a:ext cx="1645920" cy="320040"/>
          </a:xfrm>
          <a:prstGeom prst="rect">
            <a:avLst/>
          </a:prstGeom>
          <a:noFill/>
        </p:spPr>
        <p:txBody>
          <a:bodyPr wrap="square">
            <a:spAutoFit/>
          </a:bodyPr>
          <a:lstStyle/>
          <a:p>
            <a:pPr algn="l"/>
            <a:r>
              <a:rPr sz="1300" b="1" i="0">
                <a:solidFill>
                  <a:srgbClr val="FFFFFF"/>
                </a:solidFill>
              </a:rPr>
              <a:t>Circuit</a:t>
            </a:r>
          </a:p>
        </p:txBody>
      </p:sp>
      <p:sp>
        <p:nvSpPr>
          <p:cNvPr id="9" name="TextBox 8"/>
          <p:cNvSpPr txBox="1"/>
          <p:nvPr/>
        </p:nvSpPr>
        <p:spPr>
          <a:xfrm>
            <a:off x="4370832" y="1453896"/>
            <a:ext cx="1645920" cy="320040"/>
          </a:xfrm>
          <a:prstGeom prst="rect">
            <a:avLst/>
          </a:prstGeom>
          <a:noFill/>
        </p:spPr>
        <p:txBody>
          <a:bodyPr wrap="square">
            <a:spAutoFit/>
          </a:bodyPr>
          <a:lstStyle/>
          <a:p>
            <a:pPr algn="l"/>
            <a:r>
              <a:rPr sz="1300" b="1" i="0">
                <a:solidFill>
                  <a:srgbClr val="FFFFFF"/>
                </a:solidFill>
              </a:rPr>
              <a:t>PDM valeur</a:t>
            </a:r>
          </a:p>
        </p:txBody>
      </p:sp>
      <p:sp>
        <p:nvSpPr>
          <p:cNvPr id="10" name="TextBox 9"/>
          <p:cNvSpPr txBox="1"/>
          <p:nvPr/>
        </p:nvSpPr>
        <p:spPr>
          <a:xfrm>
            <a:off x="6035040" y="1453896"/>
            <a:ext cx="1554480" cy="320040"/>
          </a:xfrm>
          <a:prstGeom prst="rect">
            <a:avLst/>
          </a:prstGeom>
          <a:noFill/>
        </p:spPr>
        <p:txBody>
          <a:bodyPr wrap="square">
            <a:spAutoFit/>
          </a:bodyPr>
          <a:lstStyle/>
          <a:p>
            <a:pPr algn="l"/>
            <a:r>
              <a:rPr sz="1300" b="1" i="0">
                <a:solidFill>
                  <a:srgbClr val="FFFFFF"/>
                </a:solidFill>
              </a:rPr>
              <a:t>Évolution</a:t>
            </a:r>
          </a:p>
        </p:txBody>
      </p:sp>
      <p:sp>
        <p:nvSpPr>
          <p:cNvPr id="11" name="TextBox 10"/>
          <p:cNvSpPr txBox="1"/>
          <p:nvPr/>
        </p:nvSpPr>
        <p:spPr>
          <a:xfrm>
            <a:off x="7616952" y="1453896"/>
            <a:ext cx="4206240" cy="320040"/>
          </a:xfrm>
          <a:prstGeom prst="rect">
            <a:avLst/>
          </a:prstGeom>
          <a:noFill/>
        </p:spPr>
        <p:txBody>
          <a:bodyPr wrap="square">
            <a:spAutoFit/>
          </a:bodyPr>
          <a:lstStyle/>
          <a:p>
            <a:pPr algn="l"/>
            <a:r>
              <a:rPr sz="1300" b="1" i="0">
                <a:solidFill>
                  <a:srgbClr val="FFFFFF"/>
                </a:solidFill>
              </a:rPr>
              <a:t>Politique Stylo Ortho</a:t>
            </a:r>
          </a:p>
        </p:txBody>
      </p:sp>
      <p:sp>
        <p:nvSpPr>
          <p:cNvPr id="12" name="Rectangle 11"/>
          <p:cNvSpPr/>
          <p:nvPr/>
        </p:nvSpPr>
        <p:spPr>
          <a:xfrm>
            <a:off x="365760" y="2039112"/>
            <a:ext cx="11457432"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2084831"/>
            <a:ext cx="2286000" cy="530352"/>
          </a:xfrm>
          <a:prstGeom prst="rect">
            <a:avLst/>
          </a:prstGeom>
          <a:noFill/>
        </p:spPr>
        <p:txBody>
          <a:bodyPr wrap="square">
            <a:spAutoFit/>
          </a:bodyPr>
          <a:lstStyle/>
          <a:p>
            <a:pPr algn="l"/>
            <a:r>
              <a:rPr sz="1200" b="1" i="0">
                <a:solidFill>
                  <a:srgbClr val="0A294B"/>
                </a:solidFill>
              </a:rPr>
              <a:t>Bureau Vallée, Cultura, Fnac</a:t>
            </a:r>
          </a:p>
        </p:txBody>
      </p:sp>
      <p:sp>
        <p:nvSpPr>
          <p:cNvPr id="14" name="TextBox 13"/>
          <p:cNvSpPr txBox="1"/>
          <p:nvPr/>
        </p:nvSpPr>
        <p:spPr>
          <a:xfrm>
            <a:off x="2697480" y="2084831"/>
            <a:ext cx="1645920" cy="530352"/>
          </a:xfrm>
          <a:prstGeom prst="rect">
            <a:avLst/>
          </a:prstGeom>
          <a:noFill/>
        </p:spPr>
        <p:txBody>
          <a:bodyPr wrap="square">
            <a:spAutoFit/>
          </a:bodyPr>
          <a:lstStyle/>
          <a:p>
            <a:pPr algn="l"/>
            <a:r>
              <a:rPr sz="1200" b="0" i="0">
                <a:solidFill>
                  <a:srgbClr val="1A1A2E"/>
                </a:solidFill>
              </a:rPr>
              <a:t>Spécialistes
(circuit court)</a:t>
            </a:r>
          </a:p>
        </p:txBody>
      </p:sp>
      <p:sp>
        <p:nvSpPr>
          <p:cNvPr id="15" name="TextBox 14"/>
          <p:cNvSpPr txBox="1"/>
          <p:nvPr/>
        </p:nvSpPr>
        <p:spPr>
          <a:xfrm>
            <a:off x="4370832" y="2084831"/>
            <a:ext cx="1645920" cy="530352"/>
          </a:xfrm>
          <a:prstGeom prst="rect">
            <a:avLst/>
          </a:prstGeom>
          <a:noFill/>
        </p:spPr>
        <p:txBody>
          <a:bodyPr wrap="square">
            <a:spAutoFit/>
          </a:bodyPr>
          <a:lstStyle/>
          <a:p>
            <a:pPr algn="l"/>
            <a:r>
              <a:rPr sz="1200" b="0" i="0">
                <a:solidFill>
                  <a:srgbClr val="1A1A2E"/>
                </a:solidFill>
              </a:rPr>
              <a:t>≈ 15–20 %</a:t>
            </a:r>
          </a:p>
        </p:txBody>
      </p:sp>
      <p:sp>
        <p:nvSpPr>
          <p:cNvPr id="16" name="TextBox 15"/>
          <p:cNvSpPr txBox="1"/>
          <p:nvPr/>
        </p:nvSpPr>
        <p:spPr>
          <a:xfrm>
            <a:off x="6035040" y="2084831"/>
            <a:ext cx="1554480" cy="530352"/>
          </a:xfrm>
          <a:prstGeom prst="rect">
            <a:avLst/>
          </a:prstGeom>
          <a:noFill/>
        </p:spPr>
        <p:txBody>
          <a:bodyPr wrap="square">
            <a:spAutoFit/>
          </a:bodyPr>
          <a:lstStyle/>
          <a:p>
            <a:pPr algn="l"/>
            <a:r>
              <a:rPr sz="1200" b="0" i="0">
                <a:solidFill>
                  <a:srgbClr val="1A1A2E"/>
                </a:solidFill>
              </a:rPr>
              <a:t>+3 % (2020)</a:t>
            </a:r>
          </a:p>
        </p:txBody>
      </p:sp>
      <p:sp>
        <p:nvSpPr>
          <p:cNvPr id="17" name="TextBox 16"/>
          <p:cNvSpPr txBox="1"/>
          <p:nvPr/>
        </p:nvSpPr>
        <p:spPr>
          <a:xfrm>
            <a:off x="7616952" y="2084831"/>
            <a:ext cx="4206240" cy="530352"/>
          </a:xfrm>
          <a:prstGeom prst="rect">
            <a:avLst/>
          </a:prstGeom>
          <a:noFill/>
        </p:spPr>
        <p:txBody>
          <a:bodyPr wrap="square">
            <a:spAutoFit/>
          </a:bodyPr>
          <a:lstStyle/>
          <a:p>
            <a:pPr algn="l"/>
            <a:r>
              <a:rPr sz="1200" b="0" i="0">
                <a:solidFill>
                  <a:srgbClr val="1A1A2E"/>
                </a:solidFill>
              </a:rPr>
              <a:t>✅ Priorité 1 — Démonstration possible en rayon. Distribution sélective au lancement.</a:t>
            </a:r>
          </a:p>
        </p:txBody>
      </p:sp>
      <p:sp>
        <p:nvSpPr>
          <p:cNvPr id="18" name="Rectangle 17"/>
          <p:cNvSpPr/>
          <p:nvPr/>
        </p:nvSpPr>
        <p:spPr>
          <a:xfrm>
            <a:off x="365760" y="2660904"/>
            <a:ext cx="11457432" cy="60350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706624"/>
            <a:ext cx="2286000" cy="530352"/>
          </a:xfrm>
          <a:prstGeom prst="rect">
            <a:avLst/>
          </a:prstGeom>
          <a:noFill/>
        </p:spPr>
        <p:txBody>
          <a:bodyPr wrap="square">
            <a:spAutoFit/>
          </a:bodyPr>
          <a:lstStyle/>
          <a:p>
            <a:pPr algn="l"/>
            <a:r>
              <a:rPr sz="1200" b="1" i="0">
                <a:solidFill>
                  <a:srgbClr val="0A294B"/>
                </a:solidFill>
              </a:rPr>
              <a:t>Amazon, Fnac.com</a:t>
            </a:r>
          </a:p>
        </p:txBody>
      </p:sp>
      <p:sp>
        <p:nvSpPr>
          <p:cNvPr id="20" name="TextBox 19"/>
          <p:cNvSpPr txBox="1"/>
          <p:nvPr/>
        </p:nvSpPr>
        <p:spPr>
          <a:xfrm>
            <a:off x="2697480" y="2706624"/>
            <a:ext cx="1645920" cy="530352"/>
          </a:xfrm>
          <a:prstGeom prst="rect">
            <a:avLst/>
          </a:prstGeom>
          <a:noFill/>
        </p:spPr>
        <p:txBody>
          <a:bodyPr wrap="square">
            <a:spAutoFit/>
          </a:bodyPr>
          <a:lstStyle/>
          <a:p>
            <a:pPr algn="l"/>
            <a:r>
              <a:rPr sz="1200" b="0" i="0">
                <a:solidFill>
                  <a:srgbClr val="1A1A2E"/>
                </a:solidFill>
              </a:rPr>
              <a:t>E-commerce
(ultra-court)</a:t>
            </a:r>
          </a:p>
        </p:txBody>
      </p:sp>
      <p:sp>
        <p:nvSpPr>
          <p:cNvPr id="21" name="TextBox 20"/>
          <p:cNvSpPr txBox="1"/>
          <p:nvPr/>
        </p:nvSpPr>
        <p:spPr>
          <a:xfrm>
            <a:off x="4370832" y="2706624"/>
            <a:ext cx="1645920" cy="530352"/>
          </a:xfrm>
          <a:prstGeom prst="rect">
            <a:avLst/>
          </a:prstGeom>
          <a:noFill/>
        </p:spPr>
        <p:txBody>
          <a:bodyPr wrap="square">
            <a:spAutoFit/>
          </a:bodyPr>
          <a:lstStyle/>
          <a:p>
            <a:pPr algn="l"/>
            <a:r>
              <a:rPr sz="1200" b="0" i="0">
                <a:solidFill>
                  <a:srgbClr val="1A1A2E"/>
                </a:solidFill>
              </a:rPr>
              <a:t>≈ 49 %
transactions</a:t>
            </a:r>
          </a:p>
        </p:txBody>
      </p:sp>
      <p:sp>
        <p:nvSpPr>
          <p:cNvPr id="22" name="TextBox 21"/>
          <p:cNvSpPr txBox="1"/>
          <p:nvPr/>
        </p:nvSpPr>
        <p:spPr>
          <a:xfrm>
            <a:off x="6035040" y="2706624"/>
            <a:ext cx="1554480" cy="530352"/>
          </a:xfrm>
          <a:prstGeom prst="rect">
            <a:avLst/>
          </a:prstGeom>
          <a:noFill/>
        </p:spPr>
        <p:txBody>
          <a:bodyPr wrap="square">
            <a:spAutoFit/>
          </a:bodyPr>
          <a:lstStyle/>
          <a:p>
            <a:pPr algn="l"/>
            <a:r>
              <a:rPr sz="1200" b="0" i="0">
                <a:solidFill>
                  <a:srgbClr val="1A1A2E"/>
                </a:solidFill>
              </a:rPr>
              <a:t>+15 %/an</a:t>
            </a:r>
          </a:p>
        </p:txBody>
      </p:sp>
      <p:sp>
        <p:nvSpPr>
          <p:cNvPr id="23" name="TextBox 22"/>
          <p:cNvSpPr txBox="1"/>
          <p:nvPr/>
        </p:nvSpPr>
        <p:spPr>
          <a:xfrm>
            <a:off x="7616952" y="2706624"/>
            <a:ext cx="4206240" cy="530352"/>
          </a:xfrm>
          <a:prstGeom prst="rect">
            <a:avLst/>
          </a:prstGeom>
          <a:noFill/>
        </p:spPr>
        <p:txBody>
          <a:bodyPr wrap="square">
            <a:spAutoFit/>
          </a:bodyPr>
          <a:lstStyle/>
          <a:p>
            <a:pPr algn="l"/>
            <a:r>
              <a:rPr sz="1200" b="0" i="0">
                <a:solidFill>
                  <a:srgbClr val="1A1A2E"/>
                </a:solidFill>
              </a:rPr>
              <a:t>✅ Priorité 2 — Distribution directe via stylo-ortho.fr + Amazon. Marge maîtrisée.</a:t>
            </a:r>
          </a:p>
        </p:txBody>
      </p:sp>
      <p:sp>
        <p:nvSpPr>
          <p:cNvPr id="24" name="Rectangle 23"/>
          <p:cNvSpPr/>
          <p:nvPr/>
        </p:nvSpPr>
        <p:spPr>
          <a:xfrm>
            <a:off x="365760" y="3282696"/>
            <a:ext cx="11457432"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3328416"/>
            <a:ext cx="2286000" cy="530352"/>
          </a:xfrm>
          <a:prstGeom prst="rect">
            <a:avLst/>
          </a:prstGeom>
          <a:noFill/>
        </p:spPr>
        <p:txBody>
          <a:bodyPr wrap="square">
            <a:spAutoFit/>
          </a:bodyPr>
          <a:lstStyle/>
          <a:p>
            <a:pPr algn="l"/>
            <a:r>
              <a:rPr sz="1200" b="1" i="0">
                <a:solidFill>
                  <a:srgbClr val="0A294B"/>
                </a:solidFill>
              </a:rPr>
              <a:t>Carrefour, E.Leclerc</a:t>
            </a:r>
          </a:p>
        </p:txBody>
      </p:sp>
      <p:sp>
        <p:nvSpPr>
          <p:cNvPr id="26" name="TextBox 25"/>
          <p:cNvSpPr txBox="1"/>
          <p:nvPr/>
        </p:nvSpPr>
        <p:spPr>
          <a:xfrm>
            <a:off x="2697480" y="3328416"/>
            <a:ext cx="1645920" cy="530352"/>
          </a:xfrm>
          <a:prstGeom prst="rect">
            <a:avLst/>
          </a:prstGeom>
          <a:noFill/>
        </p:spPr>
        <p:txBody>
          <a:bodyPr wrap="square">
            <a:spAutoFit/>
          </a:bodyPr>
          <a:lstStyle/>
          <a:p>
            <a:pPr algn="l"/>
            <a:r>
              <a:rPr sz="1200" b="0" i="0">
                <a:solidFill>
                  <a:srgbClr val="1A1A2E"/>
                </a:solidFill>
              </a:rPr>
              <a:t>Grandes surfaces
(circuit long)</a:t>
            </a:r>
          </a:p>
        </p:txBody>
      </p:sp>
      <p:sp>
        <p:nvSpPr>
          <p:cNvPr id="27" name="TextBox 26"/>
          <p:cNvSpPr txBox="1"/>
          <p:nvPr/>
        </p:nvSpPr>
        <p:spPr>
          <a:xfrm>
            <a:off x="4370832" y="3328416"/>
            <a:ext cx="1645920" cy="530352"/>
          </a:xfrm>
          <a:prstGeom prst="rect">
            <a:avLst/>
          </a:prstGeom>
          <a:noFill/>
        </p:spPr>
        <p:txBody>
          <a:bodyPr wrap="square">
            <a:spAutoFit/>
          </a:bodyPr>
          <a:lstStyle/>
          <a:p>
            <a:pPr algn="l"/>
            <a:r>
              <a:rPr sz="1200" b="0" i="0">
                <a:solidFill>
                  <a:srgbClr val="1A1A2E"/>
                </a:solidFill>
              </a:rPr>
              <a:t>332 M€ rentrée 2024</a:t>
            </a:r>
          </a:p>
        </p:txBody>
      </p:sp>
      <p:sp>
        <p:nvSpPr>
          <p:cNvPr id="28" name="TextBox 27"/>
          <p:cNvSpPr txBox="1"/>
          <p:nvPr/>
        </p:nvSpPr>
        <p:spPr>
          <a:xfrm>
            <a:off x="6035040" y="3328416"/>
            <a:ext cx="1554480" cy="530352"/>
          </a:xfrm>
          <a:prstGeom prst="rect">
            <a:avLst/>
          </a:prstGeom>
          <a:noFill/>
        </p:spPr>
        <p:txBody>
          <a:bodyPr wrap="square">
            <a:spAutoFit/>
          </a:bodyPr>
          <a:lstStyle/>
          <a:p>
            <a:pPr algn="l"/>
            <a:r>
              <a:rPr sz="1200" b="0" i="0">
                <a:solidFill>
                  <a:srgbClr val="1A1A2E"/>
                </a:solidFill>
              </a:rPr>
              <a:t>–7 % (2024)</a:t>
            </a:r>
          </a:p>
        </p:txBody>
      </p:sp>
      <p:sp>
        <p:nvSpPr>
          <p:cNvPr id="29" name="TextBox 28"/>
          <p:cNvSpPr txBox="1"/>
          <p:nvPr/>
        </p:nvSpPr>
        <p:spPr>
          <a:xfrm>
            <a:off x="7616952" y="3328416"/>
            <a:ext cx="4206240" cy="530352"/>
          </a:xfrm>
          <a:prstGeom prst="rect">
            <a:avLst/>
          </a:prstGeom>
          <a:noFill/>
        </p:spPr>
        <p:txBody>
          <a:bodyPr wrap="square">
            <a:spAutoFit/>
          </a:bodyPr>
          <a:lstStyle/>
          <a:p>
            <a:pPr algn="l"/>
            <a:r>
              <a:rPr sz="1200" b="0" i="0">
                <a:solidFill>
                  <a:srgbClr val="1A1A2E"/>
                </a:solidFill>
              </a:rPr>
              <a:t>⏳ Phase 2 uniquement — après notoriété établie.</a:t>
            </a:r>
          </a:p>
        </p:txBody>
      </p:sp>
      <p:sp>
        <p:nvSpPr>
          <p:cNvPr id="30" name="Rectangle 29"/>
          <p:cNvSpPr/>
          <p:nvPr/>
        </p:nvSpPr>
        <p:spPr>
          <a:xfrm>
            <a:off x="365760" y="3904488"/>
            <a:ext cx="11457432" cy="603504"/>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3950208"/>
            <a:ext cx="2286000" cy="530352"/>
          </a:xfrm>
          <a:prstGeom prst="rect">
            <a:avLst/>
          </a:prstGeom>
          <a:noFill/>
        </p:spPr>
        <p:txBody>
          <a:bodyPr wrap="square">
            <a:spAutoFit/>
          </a:bodyPr>
          <a:lstStyle/>
          <a:p>
            <a:pPr algn="l"/>
            <a:r>
              <a:rPr sz="1200" b="1" i="0">
                <a:solidFill>
                  <a:srgbClr val="0A294B"/>
                </a:solidFill>
              </a:rPr>
              <a:t>Établissements scolaires / B2B</a:t>
            </a:r>
          </a:p>
        </p:txBody>
      </p:sp>
      <p:sp>
        <p:nvSpPr>
          <p:cNvPr id="32" name="TextBox 31"/>
          <p:cNvSpPr txBox="1"/>
          <p:nvPr/>
        </p:nvSpPr>
        <p:spPr>
          <a:xfrm>
            <a:off x="2697480" y="3950208"/>
            <a:ext cx="1645920" cy="530352"/>
          </a:xfrm>
          <a:prstGeom prst="rect">
            <a:avLst/>
          </a:prstGeom>
          <a:noFill/>
        </p:spPr>
        <p:txBody>
          <a:bodyPr wrap="square">
            <a:spAutoFit/>
          </a:bodyPr>
          <a:lstStyle/>
          <a:p>
            <a:pPr algn="l"/>
            <a:r>
              <a:rPr sz="1200" b="0" i="0">
                <a:solidFill>
                  <a:srgbClr val="1A1A2E"/>
                </a:solidFill>
              </a:rPr>
              <a:t>Circuit direct
(sélectif)</a:t>
            </a:r>
          </a:p>
        </p:txBody>
      </p:sp>
      <p:sp>
        <p:nvSpPr>
          <p:cNvPr id="33" name="TextBox 32"/>
          <p:cNvSpPr txBox="1"/>
          <p:nvPr/>
        </p:nvSpPr>
        <p:spPr>
          <a:xfrm>
            <a:off x="4370832" y="3950208"/>
            <a:ext cx="1645920" cy="530352"/>
          </a:xfrm>
          <a:prstGeom prst="rect">
            <a:avLst/>
          </a:prstGeom>
          <a:noFill/>
        </p:spPr>
        <p:txBody>
          <a:bodyPr wrap="square">
            <a:spAutoFit/>
          </a:bodyPr>
          <a:lstStyle/>
          <a:p>
            <a:pPr algn="l"/>
            <a:r>
              <a:rPr sz="1200" b="0" i="0">
                <a:solidFill>
                  <a:srgbClr val="1A1A2E"/>
                </a:solidFill>
              </a:rPr>
              <a:t>Non quantifié
(fort potentiel)</a:t>
            </a:r>
          </a:p>
        </p:txBody>
      </p:sp>
      <p:sp>
        <p:nvSpPr>
          <p:cNvPr id="34" name="TextBox 33"/>
          <p:cNvSpPr txBox="1"/>
          <p:nvPr/>
        </p:nvSpPr>
        <p:spPr>
          <a:xfrm>
            <a:off x="6035040" y="3950208"/>
            <a:ext cx="1554480" cy="530352"/>
          </a:xfrm>
          <a:prstGeom prst="rect">
            <a:avLst/>
          </a:prstGeom>
          <a:noFill/>
        </p:spPr>
        <p:txBody>
          <a:bodyPr wrap="square">
            <a:spAutoFit/>
          </a:bodyPr>
          <a:lstStyle/>
          <a:p>
            <a:pPr algn="l"/>
            <a:r>
              <a:rPr sz="1200" b="0" i="0">
                <a:solidFill>
                  <a:srgbClr val="1A1A2E"/>
                </a:solidFill>
              </a:rPr>
              <a:t>En développement</a:t>
            </a:r>
          </a:p>
        </p:txBody>
      </p:sp>
      <p:sp>
        <p:nvSpPr>
          <p:cNvPr id="35" name="TextBox 34"/>
          <p:cNvSpPr txBox="1"/>
          <p:nvPr/>
        </p:nvSpPr>
        <p:spPr>
          <a:xfrm>
            <a:off x="7616952" y="3950208"/>
            <a:ext cx="4206240" cy="530352"/>
          </a:xfrm>
          <a:prstGeom prst="rect">
            <a:avLst/>
          </a:prstGeom>
          <a:noFill/>
        </p:spPr>
        <p:txBody>
          <a:bodyPr wrap="square">
            <a:spAutoFit/>
          </a:bodyPr>
          <a:lstStyle/>
          <a:p>
            <a:pPr algn="l"/>
            <a:r>
              <a:rPr sz="1200" b="0" i="0">
                <a:solidFill>
                  <a:srgbClr val="1A1A2E"/>
                </a:solidFill>
              </a:rPr>
              <a:t>🤝 Partenariat Ministère Éducation nationale — phase de 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3.4 Analyse PESTEL</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OFFRE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384048"/>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53896"/>
            <a:ext cx="1371600" cy="320040"/>
          </a:xfrm>
          <a:prstGeom prst="rect">
            <a:avLst/>
          </a:prstGeom>
          <a:noFill/>
        </p:spPr>
        <p:txBody>
          <a:bodyPr wrap="square">
            <a:spAutoFit/>
          </a:bodyPr>
          <a:lstStyle/>
          <a:p>
            <a:pPr algn="l"/>
            <a:r>
              <a:rPr sz="1300" b="1" i="0">
                <a:solidFill>
                  <a:srgbClr val="FFFFFF"/>
                </a:solidFill>
              </a:rPr>
              <a:t>Facteur</a:t>
            </a:r>
          </a:p>
        </p:txBody>
      </p:sp>
      <p:sp>
        <p:nvSpPr>
          <p:cNvPr id="8" name="TextBox 7"/>
          <p:cNvSpPr txBox="1"/>
          <p:nvPr/>
        </p:nvSpPr>
        <p:spPr>
          <a:xfrm>
            <a:off x="1783080" y="1453896"/>
            <a:ext cx="4846320" cy="320040"/>
          </a:xfrm>
          <a:prstGeom prst="rect">
            <a:avLst/>
          </a:prstGeom>
          <a:noFill/>
        </p:spPr>
        <p:txBody>
          <a:bodyPr wrap="square">
            <a:spAutoFit/>
          </a:bodyPr>
          <a:lstStyle/>
          <a:p>
            <a:pPr algn="l"/>
            <a:r>
              <a:rPr sz="1300" b="1" i="0">
                <a:solidFill>
                  <a:srgbClr val="7FFFB0"/>
                </a:solidFill>
              </a:rPr>
              <a:t>Opportunités — influence positive</a:t>
            </a:r>
          </a:p>
        </p:txBody>
      </p:sp>
      <p:sp>
        <p:nvSpPr>
          <p:cNvPr id="9" name="TextBox 8"/>
          <p:cNvSpPr txBox="1"/>
          <p:nvPr/>
        </p:nvSpPr>
        <p:spPr>
          <a:xfrm>
            <a:off x="6656832" y="1453896"/>
            <a:ext cx="5120640" cy="320040"/>
          </a:xfrm>
          <a:prstGeom prst="rect">
            <a:avLst/>
          </a:prstGeom>
          <a:noFill/>
        </p:spPr>
        <p:txBody>
          <a:bodyPr wrap="square">
            <a:spAutoFit/>
          </a:bodyPr>
          <a:lstStyle/>
          <a:p>
            <a:pPr algn="l"/>
            <a:r>
              <a:rPr sz="1300" b="1" i="0">
                <a:solidFill>
                  <a:srgbClr val="FFB0B0"/>
                </a:solidFill>
              </a:rPr>
              <a:t>Menaces / Risques — influence négative</a:t>
            </a:r>
          </a:p>
        </p:txBody>
      </p:sp>
      <p:sp>
        <p:nvSpPr>
          <p:cNvPr id="10" name="Rectangle 9"/>
          <p:cNvSpPr/>
          <p:nvPr/>
        </p:nvSpPr>
        <p:spPr>
          <a:xfrm>
            <a:off x="365760" y="1865376"/>
            <a:ext cx="1145743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901952"/>
            <a:ext cx="1371600" cy="365760"/>
          </a:xfrm>
          <a:prstGeom prst="rect">
            <a:avLst/>
          </a:prstGeom>
          <a:noFill/>
        </p:spPr>
        <p:txBody>
          <a:bodyPr wrap="square">
            <a:spAutoFit/>
          </a:bodyPr>
          <a:lstStyle/>
          <a:p>
            <a:pPr algn="l"/>
            <a:r>
              <a:rPr sz="1200" b="1" i="0">
                <a:solidFill>
                  <a:srgbClr val="0A294B"/>
                </a:solidFill>
              </a:rPr>
              <a:t>🏛 Politique</a:t>
            </a:r>
          </a:p>
        </p:txBody>
      </p:sp>
      <p:sp>
        <p:nvSpPr>
          <p:cNvPr id="12" name="TextBox 11"/>
          <p:cNvSpPr txBox="1"/>
          <p:nvPr/>
        </p:nvSpPr>
        <p:spPr>
          <a:xfrm>
            <a:off x="1783080" y="1901952"/>
            <a:ext cx="4846320" cy="365760"/>
          </a:xfrm>
          <a:prstGeom prst="rect">
            <a:avLst/>
          </a:prstGeom>
          <a:noFill/>
        </p:spPr>
        <p:txBody>
          <a:bodyPr wrap="square">
            <a:spAutoFit/>
          </a:bodyPr>
          <a:lstStyle/>
          <a:p>
            <a:pPr algn="l"/>
            <a:r>
              <a:rPr sz="1200" b="0" i="0">
                <a:solidFill>
                  <a:srgbClr val="1A1A2E"/>
                </a:solidFill>
              </a:rPr>
              <a:t>Politiques publiques favorisant l'éducation et la lutte contre l'illettrisme</a:t>
            </a:r>
          </a:p>
        </p:txBody>
      </p:sp>
      <p:sp>
        <p:nvSpPr>
          <p:cNvPr id="13" name="TextBox 12"/>
          <p:cNvSpPr txBox="1"/>
          <p:nvPr/>
        </p:nvSpPr>
        <p:spPr>
          <a:xfrm>
            <a:off x="6656832" y="1901952"/>
            <a:ext cx="5120640" cy="365760"/>
          </a:xfrm>
          <a:prstGeom prst="rect">
            <a:avLst/>
          </a:prstGeom>
          <a:noFill/>
        </p:spPr>
        <p:txBody>
          <a:bodyPr wrap="square">
            <a:spAutoFit/>
          </a:bodyPr>
          <a:lstStyle/>
          <a:p>
            <a:pPr algn="l"/>
            <a:r>
              <a:rPr sz="1200" b="0" i="0">
                <a:solidFill>
                  <a:srgbClr val="1A1A2E"/>
                </a:solidFill>
              </a:rPr>
              <a:t>Réglementations sur composants électroniques en milieu scolaire. Certifications obligatoires.</a:t>
            </a:r>
          </a:p>
        </p:txBody>
      </p:sp>
      <p:sp>
        <p:nvSpPr>
          <p:cNvPr id="14" name="Rectangle 13"/>
          <p:cNvSpPr/>
          <p:nvPr/>
        </p:nvSpPr>
        <p:spPr>
          <a:xfrm>
            <a:off x="365760" y="2313432"/>
            <a:ext cx="11457432" cy="4297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350008"/>
            <a:ext cx="1371600" cy="365760"/>
          </a:xfrm>
          <a:prstGeom prst="rect">
            <a:avLst/>
          </a:prstGeom>
          <a:noFill/>
        </p:spPr>
        <p:txBody>
          <a:bodyPr wrap="square">
            <a:spAutoFit/>
          </a:bodyPr>
          <a:lstStyle/>
          <a:p>
            <a:pPr algn="l"/>
            <a:r>
              <a:rPr sz="1200" b="1" i="0">
                <a:solidFill>
                  <a:srgbClr val="0A294B"/>
                </a:solidFill>
              </a:rPr>
              <a:t>💶 Économique</a:t>
            </a:r>
          </a:p>
        </p:txBody>
      </p:sp>
      <p:sp>
        <p:nvSpPr>
          <p:cNvPr id="16" name="TextBox 15"/>
          <p:cNvSpPr txBox="1"/>
          <p:nvPr/>
        </p:nvSpPr>
        <p:spPr>
          <a:xfrm>
            <a:off x="1783080" y="2350008"/>
            <a:ext cx="4846320" cy="365760"/>
          </a:xfrm>
          <a:prstGeom prst="rect">
            <a:avLst/>
          </a:prstGeom>
          <a:noFill/>
        </p:spPr>
        <p:txBody>
          <a:bodyPr wrap="square">
            <a:spAutoFit/>
          </a:bodyPr>
          <a:lstStyle/>
          <a:p>
            <a:pPr algn="l"/>
            <a:r>
              <a:rPr sz="1200" b="0" i="0">
                <a:solidFill>
                  <a:srgbClr val="1A1A2E"/>
                </a:solidFill>
              </a:rPr>
              <a:t>Marché en croissance sur le segment innovation. Budget scolaire des familles stable.</a:t>
            </a:r>
          </a:p>
        </p:txBody>
      </p:sp>
      <p:sp>
        <p:nvSpPr>
          <p:cNvPr id="17" name="TextBox 16"/>
          <p:cNvSpPr txBox="1"/>
          <p:nvPr/>
        </p:nvSpPr>
        <p:spPr>
          <a:xfrm>
            <a:off x="6656832" y="2350008"/>
            <a:ext cx="5120640" cy="365760"/>
          </a:xfrm>
          <a:prstGeom prst="rect">
            <a:avLst/>
          </a:prstGeom>
          <a:noFill/>
        </p:spPr>
        <p:txBody>
          <a:bodyPr wrap="square">
            <a:spAutoFit/>
          </a:bodyPr>
          <a:lstStyle/>
          <a:p>
            <a:pPr algn="l"/>
            <a:r>
              <a:rPr sz="1200" b="0" i="0">
                <a:solidFill>
                  <a:srgbClr val="1A1A2E"/>
                </a:solidFill>
              </a:rPr>
              <a:t>Pouvoir d'achat sous pression — produit à 99,90 € positionné comme achat réfléchi.</a:t>
            </a:r>
          </a:p>
        </p:txBody>
      </p:sp>
      <p:sp>
        <p:nvSpPr>
          <p:cNvPr id="18" name="Rectangle 17"/>
          <p:cNvSpPr/>
          <p:nvPr/>
        </p:nvSpPr>
        <p:spPr>
          <a:xfrm>
            <a:off x="365760" y="2761488"/>
            <a:ext cx="1145743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798064"/>
            <a:ext cx="1371600" cy="365760"/>
          </a:xfrm>
          <a:prstGeom prst="rect">
            <a:avLst/>
          </a:prstGeom>
          <a:noFill/>
        </p:spPr>
        <p:txBody>
          <a:bodyPr wrap="square">
            <a:spAutoFit/>
          </a:bodyPr>
          <a:lstStyle/>
          <a:p>
            <a:pPr algn="l"/>
            <a:r>
              <a:rPr sz="1200" b="1" i="0">
                <a:solidFill>
                  <a:srgbClr val="0A294B"/>
                </a:solidFill>
              </a:rPr>
              <a:t>👥 Socioculturel</a:t>
            </a:r>
          </a:p>
        </p:txBody>
      </p:sp>
      <p:sp>
        <p:nvSpPr>
          <p:cNvPr id="20" name="TextBox 19"/>
          <p:cNvSpPr txBox="1"/>
          <p:nvPr/>
        </p:nvSpPr>
        <p:spPr>
          <a:xfrm>
            <a:off x="1783080" y="2798064"/>
            <a:ext cx="4846320" cy="365760"/>
          </a:xfrm>
          <a:prstGeom prst="rect">
            <a:avLst/>
          </a:prstGeom>
          <a:noFill/>
        </p:spPr>
        <p:txBody>
          <a:bodyPr wrap="square">
            <a:spAutoFit/>
          </a:bodyPr>
          <a:lstStyle/>
          <a:p>
            <a:pPr algn="l"/>
            <a:r>
              <a:rPr sz="1200" b="0" i="0">
                <a:solidFill>
                  <a:srgbClr val="1A1A2E"/>
                </a:solidFill>
              </a:rPr>
              <a:t>Importance de l'orthographe en France. Dyslexie (5–10 % population). 300 M de francophones.</a:t>
            </a:r>
          </a:p>
        </p:txBody>
      </p:sp>
      <p:sp>
        <p:nvSpPr>
          <p:cNvPr id="21" name="TextBox 20"/>
          <p:cNvSpPr txBox="1"/>
          <p:nvPr/>
        </p:nvSpPr>
        <p:spPr>
          <a:xfrm>
            <a:off x="6656832" y="2798064"/>
            <a:ext cx="5120640" cy="365760"/>
          </a:xfrm>
          <a:prstGeom prst="rect">
            <a:avLst/>
          </a:prstGeom>
          <a:noFill/>
        </p:spPr>
        <p:txBody>
          <a:bodyPr wrap="square">
            <a:spAutoFit/>
          </a:bodyPr>
          <a:lstStyle/>
          <a:p>
            <a:pPr algn="l"/>
            <a:r>
              <a:rPr sz="1200" b="0" i="0">
                <a:solidFill>
                  <a:srgbClr val="1A1A2E"/>
                </a:solidFill>
              </a:rPr>
              <a:t>Résistance au changement de certains enseignants. Habitude du stylo classique.</a:t>
            </a:r>
          </a:p>
        </p:txBody>
      </p:sp>
      <p:sp>
        <p:nvSpPr>
          <p:cNvPr id="22" name="Rectangle 21"/>
          <p:cNvSpPr/>
          <p:nvPr/>
        </p:nvSpPr>
        <p:spPr>
          <a:xfrm>
            <a:off x="365760" y="3209544"/>
            <a:ext cx="11457432" cy="4297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3246120"/>
            <a:ext cx="1371600" cy="365760"/>
          </a:xfrm>
          <a:prstGeom prst="rect">
            <a:avLst/>
          </a:prstGeom>
          <a:noFill/>
        </p:spPr>
        <p:txBody>
          <a:bodyPr wrap="square">
            <a:spAutoFit/>
          </a:bodyPr>
          <a:lstStyle/>
          <a:p>
            <a:pPr algn="l"/>
            <a:r>
              <a:rPr sz="1200" b="1" i="0">
                <a:solidFill>
                  <a:srgbClr val="0A294B"/>
                </a:solidFill>
              </a:rPr>
              <a:t>🔬 Technologique</a:t>
            </a:r>
          </a:p>
        </p:txBody>
      </p:sp>
      <p:sp>
        <p:nvSpPr>
          <p:cNvPr id="24" name="TextBox 23"/>
          <p:cNvSpPr txBox="1"/>
          <p:nvPr/>
        </p:nvSpPr>
        <p:spPr>
          <a:xfrm>
            <a:off x="1783080" y="3246120"/>
            <a:ext cx="4846320" cy="365760"/>
          </a:xfrm>
          <a:prstGeom prst="rect">
            <a:avLst/>
          </a:prstGeom>
          <a:noFill/>
        </p:spPr>
        <p:txBody>
          <a:bodyPr wrap="square">
            <a:spAutoFit/>
          </a:bodyPr>
          <a:lstStyle/>
          <a:p>
            <a:pPr algn="l"/>
            <a:r>
              <a:rPr sz="1200" b="0" i="0">
                <a:solidFill>
                  <a:srgbClr val="1A1A2E"/>
                </a:solidFill>
              </a:rPr>
              <a:t>Développement des outils numériques, innovation stylos intelligents, progrès composants électroniques.</a:t>
            </a:r>
          </a:p>
        </p:txBody>
      </p:sp>
      <p:sp>
        <p:nvSpPr>
          <p:cNvPr id="25" name="TextBox 24"/>
          <p:cNvSpPr txBox="1"/>
          <p:nvPr/>
        </p:nvSpPr>
        <p:spPr>
          <a:xfrm>
            <a:off x="6656832" y="3246120"/>
            <a:ext cx="5120640" cy="365760"/>
          </a:xfrm>
          <a:prstGeom prst="rect">
            <a:avLst/>
          </a:prstGeom>
          <a:noFill/>
        </p:spPr>
        <p:txBody>
          <a:bodyPr wrap="square">
            <a:spAutoFit/>
          </a:bodyPr>
          <a:lstStyle/>
          <a:p>
            <a:pPr algn="l"/>
            <a:r>
              <a:rPr sz="1200" b="0" i="0">
                <a:solidFill>
                  <a:srgbClr val="1A1A2E"/>
                </a:solidFill>
              </a:rPr>
              <a:t>Évolution rapide de l'IA — risque de substitution numérique à moyen terme.</a:t>
            </a:r>
          </a:p>
        </p:txBody>
      </p:sp>
      <p:sp>
        <p:nvSpPr>
          <p:cNvPr id="26" name="Rectangle 25"/>
          <p:cNvSpPr/>
          <p:nvPr/>
        </p:nvSpPr>
        <p:spPr>
          <a:xfrm>
            <a:off x="365760" y="3657600"/>
            <a:ext cx="11457432" cy="429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694176"/>
            <a:ext cx="1371600" cy="365760"/>
          </a:xfrm>
          <a:prstGeom prst="rect">
            <a:avLst/>
          </a:prstGeom>
          <a:noFill/>
        </p:spPr>
        <p:txBody>
          <a:bodyPr wrap="square">
            <a:spAutoFit/>
          </a:bodyPr>
          <a:lstStyle/>
          <a:p>
            <a:pPr algn="l"/>
            <a:r>
              <a:rPr sz="1200" b="1" i="0">
                <a:solidFill>
                  <a:srgbClr val="0A294B"/>
                </a:solidFill>
              </a:rPr>
              <a:t>🌱 Écologique</a:t>
            </a:r>
          </a:p>
        </p:txBody>
      </p:sp>
      <p:sp>
        <p:nvSpPr>
          <p:cNvPr id="28" name="TextBox 27"/>
          <p:cNvSpPr txBox="1"/>
          <p:nvPr/>
        </p:nvSpPr>
        <p:spPr>
          <a:xfrm>
            <a:off x="1783080" y="3694176"/>
            <a:ext cx="4846320" cy="365760"/>
          </a:xfrm>
          <a:prstGeom prst="rect">
            <a:avLst/>
          </a:prstGeom>
          <a:noFill/>
        </p:spPr>
        <p:txBody>
          <a:bodyPr wrap="square">
            <a:spAutoFit/>
          </a:bodyPr>
          <a:lstStyle/>
          <a:p>
            <a:pPr algn="l"/>
            <a:r>
              <a:rPr sz="1200" b="0" i="0">
                <a:solidFill>
                  <a:srgbClr val="1A1A2E"/>
                </a:solidFill>
              </a:rPr>
              <a:t>Produit rechargeable (USB-C) — faible empreinte vs stylos jetables.</a:t>
            </a:r>
          </a:p>
        </p:txBody>
      </p:sp>
      <p:sp>
        <p:nvSpPr>
          <p:cNvPr id="29" name="TextBox 28"/>
          <p:cNvSpPr txBox="1"/>
          <p:nvPr/>
        </p:nvSpPr>
        <p:spPr>
          <a:xfrm>
            <a:off x="6656832" y="3694176"/>
            <a:ext cx="5120640" cy="365760"/>
          </a:xfrm>
          <a:prstGeom prst="rect">
            <a:avLst/>
          </a:prstGeom>
          <a:noFill/>
        </p:spPr>
        <p:txBody>
          <a:bodyPr wrap="square">
            <a:spAutoFit/>
          </a:bodyPr>
          <a:lstStyle/>
          <a:p>
            <a:pPr algn="l"/>
            <a:r>
              <a:rPr sz="1200" b="0" i="0">
                <a:solidFill>
                  <a:srgbClr val="1A1A2E"/>
                </a:solidFill>
              </a:rPr>
              <a:t>Demande de réduction du plastique. Normes de recyclabilité renforcées en Europe.</a:t>
            </a:r>
          </a:p>
        </p:txBody>
      </p:sp>
      <p:sp>
        <p:nvSpPr>
          <p:cNvPr id="30" name="Rectangle 29"/>
          <p:cNvSpPr/>
          <p:nvPr/>
        </p:nvSpPr>
        <p:spPr>
          <a:xfrm>
            <a:off x="365760" y="4105656"/>
            <a:ext cx="11457432" cy="4297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4142232"/>
            <a:ext cx="1371600" cy="365760"/>
          </a:xfrm>
          <a:prstGeom prst="rect">
            <a:avLst/>
          </a:prstGeom>
          <a:noFill/>
        </p:spPr>
        <p:txBody>
          <a:bodyPr wrap="square">
            <a:spAutoFit/>
          </a:bodyPr>
          <a:lstStyle/>
          <a:p>
            <a:pPr algn="l"/>
            <a:r>
              <a:rPr sz="1200" b="1" i="0">
                <a:solidFill>
                  <a:srgbClr val="0A294B"/>
                </a:solidFill>
              </a:rPr>
              <a:t>⚖ Légal</a:t>
            </a:r>
          </a:p>
        </p:txBody>
      </p:sp>
      <p:sp>
        <p:nvSpPr>
          <p:cNvPr id="32" name="TextBox 31"/>
          <p:cNvSpPr txBox="1"/>
          <p:nvPr/>
        </p:nvSpPr>
        <p:spPr>
          <a:xfrm>
            <a:off x="1783080" y="4142232"/>
            <a:ext cx="4846320" cy="365760"/>
          </a:xfrm>
          <a:prstGeom prst="rect">
            <a:avLst/>
          </a:prstGeom>
          <a:noFill/>
        </p:spPr>
        <p:txBody>
          <a:bodyPr wrap="square">
            <a:spAutoFit/>
          </a:bodyPr>
          <a:lstStyle/>
          <a:p>
            <a:pPr algn="l"/>
            <a:r>
              <a:rPr sz="1200" b="0" i="0">
                <a:solidFill>
                  <a:srgbClr val="1A1A2E"/>
                </a:solidFill>
              </a:rPr>
              <a:t>Normes européennes maîtrisables. Assemblage Nicomatic en France facilite la conformité CE.</a:t>
            </a:r>
          </a:p>
        </p:txBody>
      </p:sp>
      <p:sp>
        <p:nvSpPr>
          <p:cNvPr id="33" name="TextBox 32"/>
          <p:cNvSpPr txBox="1"/>
          <p:nvPr/>
        </p:nvSpPr>
        <p:spPr>
          <a:xfrm>
            <a:off x="6656832" y="4142232"/>
            <a:ext cx="5120640" cy="365760"/>
          </a:xfrm>
          <a:prstGeom prst="rect">
            <a:avLst/>
          </a:prstGeom>
          <a:noFill/>
        </p:spPr>
        <p:txBody>
          <a:bodyPr wrap="square">
            <a:spAutoFit/>
          </a:bodyPr>
          <a:lstStyle/>
          <a:p>
            <a:pPr algn="l"/>
            <a:r>
              <a:rPr sz="1200" b="0" i="0">
                <a:solidFill>
                  <a:srgbClr val="1A1A2E"/>
                </a:solidFill>
              </a:rPr>
              <a:t>Réglementation composants électroniques, conformité produits enfants. Dépôt de brevet nécessaire.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Opportunités et Menaces</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SYNTHÈSE</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5577840" cy="5074920"/>
          </a:xfrm>
          <a:prstGeom prst="rect">
            <a:avLst/>
          </a:prstGeom>
          <a:solidFill>
            <a:srgbClr val="E8F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27048"/>
            <a:ext cx="5303520" cy="365760"/>
          </a:xfrm>
          <a:prstGeom prst="rect">
            <a:avLst/>
          </a:prstGeom>
          <a:noFill/>
        </p:spPr>
        <p:txBody>
          <a:bodyPr wrap="square">
            <a:spAutoFit/>
          </a:bodyPr>
          <a:lstStyle/>
          <a:p>
            <a:pPr algn="l"/>
            <a:r>
              <a:rPr sz="1900" b="1" i="0">
                <a:solidFill>
                  <a:srgbClr val="008040"/>
                </a:solidFill>
              </a:rPr>
              <a:t>✅ Opportunités</a:t>
            </a:r>
          </a:p>
        </p:txBody>
      </p:sp>
      <p:sp>
        <p:nvSpPr>
          <p:cNvPr id="8" name="TextBox 7"/>
          <p:cNvSpPr txBox="1"/>
          <p:nvPr/>
        </p:nvSpPr>
        <p:spPr>
          <a:xfrm>
            <a:off x="502920" y="1911095"/>
            <a:ext cx="5303520" cy="4443983"/>
          </a:xfrm>
          <a:prstGeom prst="rect">
            <a:avLst/>
          </a:prstGeom>
          <a:noFill/>
        </p:spPr>
        <p:txBody>
          <a:bodyPr wrap="square">
            <a:spAutoFit/>
          </a:bodyPr>
          <a:lstStyle/>
          <a:p>
            <a:pPr>
              <a:spcAft>
                <a:spcPts val="300"/>
              </a:spcAft>
            </a:pPr>
            <a:r>
              <a:rPr sz="1500">
                <a:solidFill>
                  <a:srgbClr val="1A1A2E"/>
                </a:solidFill>
              </a:rPr>
              <a:t>Le besoin croissant d'outils pédagogiques innovants et personnalisés</a:t>
            </a:r>
          </a:p>
          <a:p>
            <a:pPr>
              <a:spcAft>
                <a:spcPts val="300"/>
              </a:spcAft>
            </a:pPr>
            <a:r>
              <a:rPr sz="1500">
                <a:solidFill>
                  <a:srgbClr val="1A1A2E"/>
                </a:solidFill>
              </a:rPr>
              <a:t>Le segment des stylos intelligents est quasi inexistant en France → positionnement pionnier</a:t>
            </a:r>
          </a:p>
          <a:p>
            <a:pPr>
              <a:spcAft>
                <a:spcPts val="300"/>
              </a:spcAft>
            </a:pPr>
            <a:r>
              <a:rPr sz="1500">
                <a:solidFill>
                  <a:srgbClr val="1A1A2E"/>
                </a:solidFill>
              </a:rPr>
              <a:t>82,3 % des répondants intéressés ou potentiellement intéressés (enquête n=214)</a:t>
            </a:r>
          </a:p>
          <a:p>
            <a:pPr>
              <a:spcAft>
                <a:spcPts val="300"/>
              </a:spcAft>
            </a:pPr>
            <a:r>
              <a:rPr sz="1500">
                <a:solidFill>
                  <a:srgbClr val="1A1A2E"/>
                </a:solidFill>
              </a:rPr>
              <a:t>Assemblage en France (Nicomatic) — conformité CE et argument marketing fort</a:t>
            </a:r>
          </a:p>
          <a:p>
            <a:pPr>
              <a:spcAft>
                <a:spcPts val="300"/>
              </a:spcAft>
            </a:pPr>
            <a:r>
              <a:rPr sz="1500">
                <a:solidFill>
                  <a:srgbClr val="1A1A2E"/>
                </a:solidFill>
              </a:rPr>
              <a:t>Distribution sélective (Bureau Vallée, Fnac) → démonstration produit possible</a:t>
            </a:r>
          </a:p>
          <a:p>
            <a:pPr>
              <a:spcAft>
                <a:spcPts val="300"/>
              </a:spcAft>
            </a:pPr>
            <a:r>
              <a:rPr sz="1500">
                <a:solidFill>
                  <a:srgbClr val="1A1A2E"/>
                </a:solidFill>
              </a:rPr>
              <a:t>49 % des transactions papeterie passent par l'e-commerce → canal direct fort</a:t>
            </a:r>
          </a:p>
        </p:txBody>
      </p:sp>
      <p:sp>
        <p:nvSpPr>
          <p:cNvPr id="9" name="Rectangle 8"/>
          <p:cNvSpPr/>
          <p:nvPr/>
        </p:nvSpPr>
        <p:spPr>
          <a:xfrm>
            <a:off x="6062472" y="1417320"/>
            <a:ext cx="5577840" cy="5074920"/>
          </a:xfrm>
          <a:prstGeom prst="rect">
            <a:avLst/>
          </a:prstGeom>
          <a:solidFill>
            <a:srgbClr val="F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9632" y="1527048"/>
            <a:ext cx="5303520" cy="365760"/>
          </a:xfrm>
          <a:prstGeom prst="rect">
            <a:avLst/>
          </a:prstGeom>
          <a:noFill/>
        </p:spPr>
        <p:txBody>
          <a:bodyPr wrap="square">
            <a:spAutoFit/>
          </a:bodyPr>
          <a:lstStyle/>
          <a:p>
            <a:pPr algn="l"/>
            <a:r>
              <a:rPr sz="1900" b="1" i="0">
                <a:solidFill>
                  <a:srgbClr val="CC0000"/>
                </a:solidFill>
              </a:rPr>
              <a:t>⚠️ Menaces</a:t>
            </a:r>
          </a:p>
        </p:txBody>
      </p:sp>
      <p:sp>
        <p:nvSpPr>
          <p:cNvPr id="11" name="TextBox 10"/>
          <p:cNvSpPr txBox="1"/>
          <p:nvPr/>
        </p:nvSpPr>
        <p:spPr>
          <a:xfrm>
            <a:off x="6199632" y="1911095"/>
            <a:ext cx="5303520" cy="4443983"/>
          </a:xfrm>
          <a:prstGeom prst="rect">
            <a:avLst/>
          </a:prstGeom>
          <a:noFill/>
        </p:spPr>
        <p:txBody>
          <a:bodyPr wrap="square">
            <a:spAutoFit/>
          </a:bodyPr>
          <a:lstStyle/>
          <a:p>
            <a:pPr>
              <a:spcAft>
                <a:spcPts val="300"/>
              </a:spcAft>
            </a:pPr>
            <a:r>
              <a:rPr sz="1500">
                <a:solidFill>
                  <a:srgbClr val="1A1A2E"/>
                </a:solidFill>
              </a:rPr>
              <a:t>La concurrence des outils numériques (correcteurs, IA, GPT)</a:t>
            </a:r>
          </a:p>
          <a:p>
            <a:pPr>
              <a:spcAft>
                <a:spcPts val="300"/>
              </a:spcAft>
            </a:pPr>
            <a:r>
              <a:rPr sz="1500">
                <a:solidFill>
                  <a:srgbClr val="1A1A2E"/>
                </a:solidFill>
              </a:rPr>
              <a:t>Prix de 99,90 € perçu comme élevé vs stylo classique (1–5 €)</a:t>
            </a:r>
          </a:p>
          <a:p>
            <a:pPr>
              <a:spcAft>
                <a:spcPts val="300"/>
              </a:spcAft>
            </a:pPr>
            <a:r>
              <a:rPr sz="1500">
                <a:solidFill>
                  <a:srgbClr val="1A1A2E"/>
                </a:solidFill>
              </a:rPr>
              <a:t>Recul du marché papeterie : –7 % en 2024 vs 2023</a:t>
            </a:r>
          </a:p>
          <a:p>
            <a:pPr>
              <a:spcAft>
                <a:spcPts val="300"/>
              </a:spcAft>
            </a:pPr>
            <a:r>
              <a:rPr sz="1500">
                <a:solidFill>
                  <a:srgbClr val="1A1A2E"/>
                </a:solidFill>
              </a:rPr>
              <a:t>Résistance culturelle de certains enseignants au changement</a:t>
            </a:r>
          </a:p>
          <a:p>
            <a:pPr>
              <a:spcAft>
                <a:spcPts val="300"/>
              </a:spcAft>
            </a:pPr>
            <a:r>
              <a:rPr sz="1500">
                <a:solidFill>
                  <a:srgbClr val="1A1A2E"/>
                </a:solidFill>
              </a:rPr>
              <a:t>Évolution rapide de l'IA — risque de substitution à moyen terme</a:t>
            </a:r>
          </a:p>
          <a:p>
            <a:pPr>
              <a:spcAft>
                <a:spcPts val="300"/>
              </a:spcAft>
            </a:pPr>
            <a:r>
              <a:rPr sz="1500">
                <a:solidFill>
                  <a:srgbClr val="1A1A2E"/>
                </a:solidFill>
              </a:rPr>
              <a:t>Certifications et réglementations produits électroniques enfants</a:t>
            </a:r>
          </a:p>
        </p:txBody>
      </p:sp>
      <p:sp>
        <p:nvSpPr>
          <p:cNvPr id="12" name="TextBox 11"/>
          <p:cNvSpPr txBox="1"/>
          <p:nvPr/>
        </p:nvSpPr>
        <p:spPr>
          <a:xfrm>
            <a:off x="365760" y="6126480"/>
            <a:ext cx="11457432" cy="594360"/>
          </a:xfrm>
          <a:prstGeom prst="rect">
            <a:avLst/>
          </a:prstGeom>
          <a:noFill/>
        </p:spPr>
        <p:txBody>
          <a:bodyPr wrap="square">
            <a:spAutoFit/>
          </a:bodyPr>
          <a:lstStyle/>
          <a:p>
            <a:pPr algn="ctr"/>
            <a:r>
              <a:rPr sz="1500" b="1" i="0">
                <a:solidFill>
                  <a:srgbClr val="0A294B"/>
                </a:solidFill>
              </a:rPr>
              <a:t>Le marché des stylos intelligents représente une opportunité innovante et encore peu exploitée dans la papeterie. Le Stylo Ortho est positionné pour en être le leader grâce à son USP unique : correction en temps réel sur papier, sans internet.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Concept produit — Stylo Ortho</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1274552" cy="685800"/>
          </a:xfrm>
          <a:prstGeom prst="rect">
            <a:avLst/>
          </a:prstGeom>
          <a:noFill/>
        </p:spPr>
        <p:txBody>
          <a:bodyPr wrap="square">
            <a:spAutoFit/>
          </a:bodyPr>
          <a:lstStyle/>
          <a:p>
            <a:pPr algn="l"/>
            <a:r>
              <a:rPr sz="1800" b="0" i="1">
                <a:solidFill>
                  <a:srgbClr val="1A5276"/>
                </a:solidFill>
              </a:rPr>
              <a:t>Un stylo classique enrichi d'une technologie intégrée de correction orthographique en temps réel — discret, rechargeable, assemblé en France.</a:t>
            </a:r>
          </a:p>
        </p:txBody>
      </p:sp>
      <p:sp>
        <p:nvSpPr>
          <p:cNvPr id="7" name="Rectangle 6"/>
          <p:cNvSpPr/>
          <p:nvPr/>
        </p:nvSpPr>
        <p:spPr>
          <a:xfrm>
            <a:off x="365760" y="2240280"/>
            <a:ext cx="1145743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331720"/>
            <a:ext cx="2560320" cy="502920"/>
          </a:xfrm>
          <a:prstGeom prst="rect">
            <a:avLst/>
          </a:prstGeom>
          <a:noFill/>
        </p:spPr>
        <p:txBody>
          <a:bodyPr wrap="square">
            <a:spAutoFit/>
          </a:bodyPr>
          <a:lstStyle/>
          <a:p>
            <a:pPr algn="l"/>
            <a:r>
              <a:rPr sz="1400" b="1" i="0">
                <a:solidFill>
                  <a:srgbClr val="0A294B"/>
                </a:solidFill>
              </a:rPr>
              <a:t>Recharge USB-C</a:t>
            </a:r>
          </a:p>
        </p:txBody>
      </p:sp>
      <p:sp>
        <p:nvSpPr>
          <p:cNvPr id="9" name="TextBox 8"/>
          <p:cNvSpPr txBox="1"/>
          <p:nvPr/>
        </p:nvSpPr>
        <p:spPr>
          <a:xfrm>
            <a:off x="3063240" y="2331720"/>
            <a:ext cx="2743200" cy="502920"/>
          </a:xfrm>
          <a:prstGeom prst="rect">
            <a:avLst/>
          </a:prstGeom>
          <a:noFill/>
        </p:spPr>
        <p:txBody>
          <a:bodyPr wrap="square">
            <a:spAutoFit/>
          </a:bodyPr>
          <a:lstStyle/>
          <a:p>
            <a:pPr algn="l"/>
            <a:r>
              <a:rPr sz="1400" b="0" i="0">
                <a:solidFill>
                  <a:srgbClr val="1A5276"/>
                </a:solidFill>
              </a:rPr>
              <a:t>15 min de charge</a:t>
            </a:r>
          </a:p>
        </p:txBody>
      </p:sp>
      <p:sp>
        <p:nvSpPr>
          <p:cNvPr id="10" name="TextBox 9"/>
          <p:cNvSpPr txBox="1"/>
          <p:nvPr/>
        </p:nvSpPr>
        <p:spPr>
          <a:xfrm>
            <a:off x="5833872" y="2331720"/>
            <a:ext cx="5852160" cy="502920"/>
          </a:xfrm>
          <a:prstGeom prst="rect">
            <a:avLst/>
          </a:prstGeom>
          <a:noFill/>
        </p:spPr>
        <p:txBody>
          <a:bodyPr wrap="square">
            <a:spAutoFit/>
          </a:bodyPr>
          <a:lstStyle/>
          <a:p>
            <a:pPr algn="l"/>
            <a:r>
              <a:rPr sz="1400" b="0" i="0">
                <a:solidFill>
                  <a:srgbClr val="1A1A2E"/>
                </a:solidFill>
              </a:rPr>
              <a:t>Pratique pour les élèves et professionnels du quotidien</a:t>
            </a:r>
          </a:p>
        </p:txBody>
      </p:sp>
      <p:sp>
        <p:nvSpPr>
          <p:cNvPr id="11" name="Rectangle 10"/>
          <p:cNvSpPr/>
          <p:nvPr/>
        </p:nvSpPr>
        <p:spPr>
          <a:xfrm>
            <a:off x="365760" y="2898648"/>
            <a:ext cx="11457432"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990088"/>
            <a:ext cx="2560320" cy="502920"/>
          </a:xfrm>
          <a:prstGeom prst="rect">
            <a:avLst/>
          </a:prstGeom>
          <a:noFill/>
        </p:spPr>
        <p:txBody>
          <a:bodyPr wrap="square">
            <a:spAutoFit/>
          </a:bodyPr>
          <a:lstStyle/>
          <a:p>
            <a:pPr algn="l"/>
            <a:r>
              <a:rPr sz="1400" b="1" i="0">
                <a:solidFill>
                  <a:srgbClr val="0A294B"/>
                </a:solidFill>
              </a:rPr>
              <a:t>Encre rechargeable</a:t>
            </a:r>
          </a:p>
        </p:txBody>
      </p:sp>
      <p:sp>
        <p:nvSpPr>
          <p:cNvPr id="13" name="TextBox 12"/>
          <p:cNvSpPr txBox="1"/>
          <p:nvPr/>
        </p:nvSpPr>
        <p:spPr>
          <a:xfrm>
            <a:off x="3063240" y="2990088"/>
            <a:ext cx="2743200" cy="502920"/>
          </a:xfrm>
          <a:prstGeom prst="rect">
            <a:avLst/>
          </a:prstGeom>
          <a:noFill/>
        </p:spPr>
        <p:txBody>
          <a:bodyPr wrap="square">
            <a:spAutoFit/>
          </a:bodyPr>
          <a:lstStyle/>
          <a:p>
            <a:pPr algn="l"/>
            <a:r>
              <a:rPr sz="1400" b="0" i="0">
                <a:solidFill>
                  <a:srgbClr val="1A5276"/>
                </a:solidFill>
              </a:rPr>
              <a:t>Moderne et économique</a:t>
            </a:r>
          </a:p>
        </p:txBody>
      </p:sp>
      <p:sp>
        <p:nvSpPr>
          <p:cNvPr id="14" name="TextBox 13"/>
          <p:cNvSpPr txBox="1"/>
          <p:nvPr/>
        </p:nvSpPr>
        <p:spPr>
          <a:xfrm>
            <a:off x="5833872" y="2990088"/>
            <a:ext cx="5852160" cy="502920"/>
          </a:xfrm>
          <a:prstGeom prst="rect">
            <a:avLst/>
          </a:prstGeom>
          <a:noFill/>
        </p:spPr>
        <p:txBody>
          <a:bodyPr wrap="square">
            <a:spAutoFit/>
          </a:bodyPr>
          <a:lstStyle/>
          <a:p>
            <a:pPr algn="l"/>
            <a:r>
              <a:rPr sz="1400" b="0" i="0">
                <a:solidFill>
                  <a:srgbClr val="1A1A2E"/>
                </a:solidFill>
              </a:rPr>
              <a:t>Plus pratique et économique que les stylos à jeter</a:t>
            </a:r>
          </a:p>
        </p:txBody>
      </p:sp>
      <p:sp>
        <p:nvSpPr>
          <p:cNvPr id="15" name="Rectangle 14"/>
          <p:cNvSpPr/>
          <p:nvPr/>
        </p:nvSpPr>
        <p:spPr>
          <a:xfrm>
            <a:off x="365760" y="3557015"/>
            <a:ext cx="1145743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648456"/>
            <a:ext cx="2560320" cy="502920"/>
          </a:xfrm>
          <a:prstGeom prst="rect">
            <a:avLst/>
          </a:prstGeom>
          <a:noFill/>
        </p:spPr>
        <p:txBody>
          <a:bodyPr wrap="square">
            <a:spAutoFit/>
          </a:bodyPr>
          <a:lstStyle/>
          <a:p>
            <a:pPr algn="l"/>
            <a:r>
              <a:rPr sz="1400" b="1" i="0">
                <a:solidFill>
                  <a:srgbClr val="0A294B"/>
                </a:solidFill>
              </a:rPr>
              <a:t>Gomme effaçable</a:t>
            </a:r>
          </a:p>
        </p:txBody>
      </p:sp>
      <p:sp>
        <p:nvSpPr>
          <p:cNvPr id="17" name="TextBox 16"/>
          <p:cNvSpPr txBox="1"/>
          <p:nvPr/>
        </p:nvSpPr>
        <p:spPr>
          <a:xfrm>
            <a:off x="3063240" y="3648456"/>
            <a:ext cx="2743200" cy="502920"/>
          </a:xfrm>
          <a:prstGeom prst="rect">
            <a:avLst/>
          </a:prstGeom>
          <a:noFill/>
        </p:spPr>
        <p:txBody>
          <a:bodyPr wrap="square">
            <a:spAutoFit/>
          </a:bodyPr>
          <a:lstStyle/>
          <a:p>
            <a:pPr algn="l"/>
            <a:r>
              <a:rPr sz="1400" b="0" i="0">
                <a:solidFill>
                  <a:srgbClr val="1A5276"/>
                </a:solidFill>
              </a:rPr>
              <a:t>Au bout du stylo</a:t>
            </a:r>
          </a:p>
        </p:txBody>
      </p:sp>
      <p:sp>
        <p:nvSpPr>
          <p:cNvPr id="18" name="TextBox 17"/>
          <p:cNvSpPr txBox="1"/>
          <p:nvPr/>
        </p:nvSpPr>
        <p:spPr>
          <a:xfrm>
            <a:off x="5833872" y="3648456"/>
            <a:ext cx="5852160" cy="502920"/>
          </a:xfrm>
          <a:prstGeom prst="rect">
            <a:avLst/>
          </a:prstGeom>
          <a:noFill/>
        </p:spPr>
        <p:txBody>
          <a:bodyPr wrap="square">
            <a:spAutoFit/>
          </a:bodyPr>
          <a:lstStyle/>
          <a:p>
            <a:pPr algn="l"/>
            <a:r>
              <a:rPr sz="1400" b="0" i="0">
                <a:solidFill>
                  <a:srgbClr val="1A1A2E"/>
                </a:solidFill>
              </a:rPr>
              <a:t>Pas besoin de correcteur blanc — usage fluide</a:t>
            </a:r>
          </a:p>
        </p:txBody>
      </p:sp>
      <p:sp>
        <p:nvSpPr>
          <p:cNvPr id="19" name="Rectangle 18"/>
          <p:cNvSpPr/>
          <p:nvPr/>
        </p:nvSpPr>
        <p:spPr>
          <a:xfrm>
            <a:off x="365760" y="4215383"/>
            <a:ext cx="11457432"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306823"/>
            <a:ext cx="2560320" cy="502920"/>
          </a:xfrm>
          <a:prstGeom prst="rect">
            <a:avLst/>
          </a:prstGeom>
          <a:noFill/>
        </p:spPr>
        <p:txBody>
          <a:bodyPr wrap="square">
            <a:spAutoFit/>
          </a:bodyPr>
          <a:lstStyle/>
          <a:p>
            <a:pPr algn="l"/>
            <a:r>
              <a:rPr sz="1400" b="1" i="0">
                <a:solidFill>
                  <a:srgbClr val="0A294B"/>
                </a:solidFill>
              </a:rPr>
              <a:t>Écran intégré</a:t>
            </a:r>
          </a:p>
        </p:txBody>
      </p:sp>
      <p:sp>
        <p:nvSpPr>
          <p:cNvPr id="21" name="TextBox 20"/>
          <p:cNvSpPr txBox="1"/>
          <p:nvPr/>
        </p:nvSpPr>
        <p:spPr>
          <a:xfrm>
            <a:off x="3063240" y="4306823"/>
            <a:ext cx="2743200" cy="502920"/>
          </a:xfrm>
          <a:prstGeom prst="rect">
            <a:avLst/>
          </a:prstGeom>
          <a:noFill/>
        </p:spPr>
        <p:txBody>
          <a:bodyPr wrap="square">
            <a:spAutoFit/>
          </a:bodyPr>
          <a:lstStyle/>
          <a:p>
            <a:pPr algn="l"/>
            <a:r>
              <a:rPr sz="1400" b="0" i="0">
                <a:solidFill>
                  <a:srgbClr val="1A5276"/>
                </a:solidFill>
              </a:rPr>
              <a:t>Affiche les corrections en rouge</a:t>
            </a:r>
          </a:p>
        </p:txBody>
      </p:sp>
      <p:sp>
        <p:nvSpPr>
          <p:cNvPr id="22" name="TextBox 21"/>
          <p:cNvSpPr txBox="1"/>
          <p:nvPr/>
        </p:nvSpPr>
        <p:spPr>
          <a:xfrm>
            <a:off x="5833872" y="4306823"/>
            <a:ext cx="5852160" cy="502920"/>
          </a:xfrm>
          <a:prstGeom prst="rect">
            <a:avLst/>
          </a:prstGeom>
          <a:noFill/>
        </p:spPr>
        <p:txBody>
          <a:bodyPr wrap="square">
            <a:spAutoFit/>
          </a:bodyPr>
          <a:lstStyle/>
          <a:p>
            <a:pPr algn="l"/>
            <a:r>
              <a:rPr sz="1400" b="0" i="0">
                <a:solidFill>
                  <a:srgbClr val="1A1A2E"/>
                </a:solidFill>
              </a:rPr>
              <a:t>Correction immédiate en temps réel — USP unique sur le marché</a:t>
            </a:r>
          </a:p>
        </p:txBody>
      </p:sp>
      <p:sp>
        <p:nvSpPr>
          <p:cNvPr id="23" name="Rectangle 22"/>
          <p:cNvSpPr/>
          <p:nvPr/>
        </p:nvSpPr>
        <p:spPr>
          <a:xfrm>
            <a:off x="365760" y="4873751"/>
            <a:ext cx="1145743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965191"/>
            <a:ext cx="2560320" cy="502920"/>
          </a:xfrm>
          <a:prstGeom prst="rect">
            <a:avLst/>
          </a:prstGeom>
          <a:noFill/>
        </p:spPr>
        <p:txBody>
          <a:bodyPr wrap="square">
            <a:spAutoFit/>
          </a:bodyPr>
          <a:lstStyle/>
          <a:p>
            <a:pPr algn="l"/>
            <a:r>
              <a:rPr sz="1400" b="1" i="0">
                <a:solidFill>
                  <a:srgbClr val="0A294B"/>
                </a:solidFill>
              </a:rPr>
              <a:t>Design ergonomique</a:t>
            </a:r>
          </a:p>
        </p:txBody>
      </p:sp>
      <p:sp>
        <p:nvSpPr>
          <p:cNvPr id="25" name="TextBox 24"/>
          <p:cNvSpPr txBox="1"/>
          <p:nvPr/>
        </p:nvSpPr>
        <p:spPr>
          <a:xfrm>
            <a:off x="3063240" y="4965191"/>
            <a:ext cx="2743200" cy="502920"/>
          </a:xfrm>
          <a:prstGeom prst="rect">
            <a:avLst/>
          </a:prstGeom>
          <a:noFill/>
        </p:spPr>
        <p:txBody>
          <a:bodyPr wrap="square">
            <a:spAutoFit/>
          </a:bodyPr>
          <a:lstStyle/>
          <a:p>
            <a:pPr algn="l"/>
            <a:r>
              <a:rPr sz="1400" b="0" i="0">
                <a:solidFill>
                  <a:srgbClr val="1A5276"/>
                </a:solidFill>
              </a:rPr>
              <a:t>Léger, usage longue durée</a:t>
            </a:r>
          </a:p>
        </p:txBody>
      </p:sp>
      <p:sp>
        <p:nvSpPr>
          <p:cNvPr id="26" name="TextBox 25"/>
          <p:cNvSpPr txBox="1"/>
          <p:nvPr/>
        </p:nvSpPr>
        <p:spPr>
          <a:xfrm>
            <a:off x="5833872" y="4965191"/>
            <a:ext cx="5852160" cy="502920"/>
          </a:xfrm>
          <a:prstGeom prst="rect">
            <a:avLst/>
          </a:prstGeom>
          <a:noFill/>
        </p:spPr>
        <p:txBody>
          <a:bodyPr wrap="square">
            <a:spAutoFit/>
          </a:bodyPr>
          <a:lstStyle/>
          <a:p>
            <a:pPr algn="l"/>
            <a:r>
              <a:rPr sz="1400" b="0" i="0">
                <a:solidFill>
                  <a:srgbClr val="1A1A2E"/>
                </a:solidFill>
              </a:rPr>
              <a:t>Adapté à tous : élèves dès le collège, étudiants, professionnels</a:t>
            </a:r>
          </a:p>
        </p:txBody>
      </p:sp>
      <p:sp>
        <p:nvSpPr>
          <p:cNvPr id="27" name="Rectangle 26"/>
          <p:cNvSpPr/>
          <p:nvPr/>
        </p:nvSpPr>
        <p:spPr>
          <a:xfrm>
            <a:off x="365760" y="5532119"/>
            <a:ext cx="11457432" cy="65836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623559"/>
            <a:ext cx="2560320" cy="502920"/>
          </a:xfrm>
          <a:prstGeom prst="rect">
            <a:avLst/>
          </a:prstGeom>
          <a:noFill/>
        </p:spPr>
        <p:txBody>
          <a:bodyPr wrap="square">
            <a:spAutoFit/>
          </a:bodyPr>
          <a:lstStyle/>
          <a:p>
            <a:pPr algn="l"/>
            <a:r>
              <a:rPr sz="1400" b="1" i="0">
                <a:solidFill>
                  <a:srgbClr val="0A294B"/>
                </a:solidFill>
              </a:rPr>
              <a:t>4 couleurs</a:t>
            </a:r>
          </a:p>
        </p:txBody>
      </p:sp>
      <p:sp>
        <p:nvSpPr>
          <p:cNvPr id="29" name="TextBox 28"/>
          <p:cNvSpPr txBox="1"/>
          <p:nvPr/>
        </p:nvSpPr>
        <p:spPr>
          <a:xfrm>
            <a:off x="3063240" y="5623559"/>
            <a:ext cx="2743200" cy="502920"/>
          </a:xfrm>
          <a:prstGeom prst="rect">
            <a:avLst/>
          </a:prstGeom>
          <a:noFill/>
        </p:spPr>
        <p:txBody>
          <a:bodyPr wrap="square">
            <a:spAutoFit/>
          </a:bodyPr>
          <a:lstStyle/>
          <a:p>
            <a:pPr algn="l"/>
            <a:r>
              <a:rPr sz="1400" b="0" i="0">
                <a:solidFill>
                  <a:srgbClr val="1A5276"/>
                </a:solidFill>
              </a:rPr>
              <a:t>Noir, Bleu, Rouge, Vert</a:t>
            </a:r>
          </a:p>
        </p:txBody>
      </p:sp>
      <p:sp>
        <p:nvSpPr>
          <p:cNvPr id="30" name="TextBox 29"/>
          <p:cNvSpPr txBox="1"/>
          <p:nvPr/>
        </p:nvSpPr>
        <p:spPr>
          <a:xfrm>
            <a:off x="5833872" y="5623559"/>
            <a:ext cx="5852160" cy="502920"/>
          </a:xfrm>
          <a:prstGeom prst="rect">
            <a:avLst/>
          </a:prstGeom>
          <a:noFill/>
        </p:spPr>
        <p:txBody>
          <a:bodyPr wrap="square">
            <a:spAutoFit/>
          </a:bodyPr>
          <a:lstStyle/>
          <a:p>
            <a:pPr algn="l"/>
            <a:r>
              <a:rPr sz="1400" b="0" i="0">
                <a:solidFill>
                  <a:srgbClr val="1A1A2E"/>
                </a:solidFill>
              </a:rPr>
              <a:t>Personnalisation et adaptation aux préférences</a:t>
            </a:r>
          </a:p>
        </p:txBody>
      </p:sp>
      <p:sp>
        <p:nvSpPr>
          <p:cNvPr id="31" name="Rectangle 30"/>
          <p:cNvSpPr/>
          <p:nvPr/>
        </p:nvSpPr>
        <p:spPr>
          <a:xfrm>
            <a:off x="365760" y="5989320"/>
            <a:ext cx="11457432" cy="6858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035040"/>
            <a:ext cx="11457432" cy="594360"/>
          </a:xfrm>
          <a:prstGeom prst="rect">
            <a:avLst/>
          </a:prstGeom>
          <a:noFill/>
        </p:spPr>
        <p:txBody>
          <a:bodyPr wrap="square">
            <a:spAutoFit/>
          </a:bodyPr>
          <a:lstStyle/>
          <a:p>
            <a:pPr algn="ctr"/>
            <a:r>
              <a:rPr sz="3000" b="1" i="0">
                <a:solidFill>
                  <a:srgbClr val="FF7A00"/>
                </a:solidFill>
              </a:rPr>
              <a:t>86,4 %</a:t>
            </a:r>
          </a:p>
        </p:txBody>
      </p:sp>
      <p:sp>
        <p:nvSpPr>
          <p:cNvPr id="33" name="TextBox 32"/>
          <p:cNvSpPr txBox="1"/>
          <p:nvPr/>
        </p:nvSpPr>
        <p:spPr>
          <a:xfrm>
            <a:off x="365760" y="6583680"/>
            <a:ext cx="11457432" cy="457200"/>
          </a:xfrm>
          <a:prstGeom prst="rect">
            <a:avLst/>
          </a:prstGeom>
          <a:noFill/>
        </p:spPr>
        <p:txBody>
          <a:bodyPr wrap="square">
            <a:spAutoFit/>
          </a:bodyPr>
          <a:lstStyle/>
          <a:p>
            <a:pPr algn="ctr"/>
            <a:r>
              <a:rPr sz="1300" b="0" i="0">
                <a:solidFill>
                  <a:srgbClr val="FFFFFF"/>
                </a:solidFill>
              </a:rPr>
              <a:t>jugent le Stylo Ortho utile ou très utile (enquête)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Segmentation du marché</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11457432" cy="13716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554480"/>
            <a:ext cx="2103120" cy="347472"/>
          </a:xfrm>
          <a:prstGeom prst="rect">
            <a:avLst/>
          </a:prstGeom>
          <a:noFill/>
        </p:spPr>
        <p:txBody>
          <a:bodyPr wrap="square">
            <a:spAutoFit/>
          </a:bodyPr>
          <a:lstStyle/>
          <a:p>
            <a:pPr algn="r"/>
            <a:r>
              <a:rPr sz="1300" b="1" i="0">
                <a:solidFill>
                  <a:srgbClr val="FF7A00"/>
                </a:solidFill>
              </a:rPr>
              <a:t>CIBLE PRINCIPALE</a:t>
            </a:r>
          </a:p>
        </p:txBody>
      </p:sp>
      <p:sp>
        <p:nvSpPr>
          <p:cNvPr id="8" name="TextBox 7"/>
          <p:cNvSpPr txBox="1"/>
          <p:nvPr/>
        </p:nvSpPr>
        <p:spPr>
          <a:xfrm>
            <a:off x="548640" y="1554480"/>
            <a:ext cx="7772400" cy="502920"/>
          </a:xfrm>
          <a:prstGeom prst="rect">
            <a:avLst/>
          </a:prstGeom>
          <a:noFill/>
        </p:spPr>
        <p:txBody>
          <a:bodyPr wrap="square">
            <a:spAutoFit/>
          </a:bodyPr>
          <a:lstStyle/>
          <a:p>
            <a:pPr algn="l"/>
            <a:r>
              <a:rPr sz="2000" b="1" i="0">
                <a:solidFill>
                  <a:srgbClr val="FFFFFF"/>
                </a:solidFill>
              </a:rPr>
              <a:t>🎯 Parents d'élèves</a:t>
            </a:r>
          </a:p>
        </p:txBody>
      </p:sp>
      <p:sp>
        <p:nvSpPr>
          <p:cNvPr id="9" name="TextBox 8"/>
          <p:cNvSpPr txBox="1"/>
          <p:nvPr/>
        </p:nvSpPr>
        <p:spPr>
          <a:xfrm>
            <a:off x="548640" y="2057400"/>
            <a:ext cx="5029200" cy="411480"/>
          </a:xfrm>
          <a:prstGeom prst="rect">
            <a:avLst/>
          </a:prstGeom>
          <a:noFill/>
        </p:spPr>
        <p:txBody>
          <a:bodyPr wrap="square">
            <a:spAutoFit/>
          </a:bodyPr>
          <a:lstStyle/>
          <a:p>
            <a:pPr algn="l"/>
            <a:r>
              <a:rPr sz="1500" b="0" i="0">
                <a:solidFill>
                  <a:srgbClr val="D0E8F5"/>
                </a:solidFill>
              </a:rPr>
              <a:t>30–50 ans, acheteurs principaux</a:t>
            </a:r>
          </a:p>
        </p:txBody>
      </p:sp>
      <p:sp>
        <p:nvSpPr>
          <p:cNvPr id="10" name="TextBox 9"/>
          <p:cNvSpPr txBox="1"/>
          <p:nvPr/>
        </p:nvSpPr>
        <p:spPr>
          <a:xfrm>
            <a:off x="5669280" y="2057400"/>
            <a:ext cx="5943600" cy="411480"/>
          </a:xfrm>
          <a:prstGeom prst="rect">
            <a:avLst/>
          </a:prstGeom>
          <a:noFill/>
        </p:spPr>
        <p:txBody>
          <a:bodyPr wrap="square">
            <a:spAutoFit/>
          </a:bodyPr>
          <a:lstStyle/>
          <a:p>
            <a:pPr algn="l"/>
            <a:r>
              <a:rPr sz="1500" b="0" i="0">
                <a:solidFill>
                  <a:srgbClr val="FF7A00"/>
                </a:solidFill>
              </a:rPr>
              <a:t>📊 46,9 % prêts à acheter pour leur enfant (enquête)</a:t>
            </a:r>
          </a:p>
        </p:txBody>
      </p:sp>
      <p:sp>
        <p:nvSpPr>
          <p:cNvPr id="11" name="Rectangle 10"/>
          <p:cNvSpPr/>
          <p:nvPr/>
        </p:nvSpPr>
        <p:spPr>
          <a:xfrm>
            <a:off x="365760" y="2971800"/>
            <a:ext cx="11457432" cy="13716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3063240"/>
            <a:ext cx="2103120" cy="347472"/>
          </a:xfrm>
          <a:prstGeom prst="rect">
            <a:avLst/>
          </a:prstGeom>
          <a:noFill/>
        </p:spPr>
        <p:txBody>
          <a:bodyPr wrap="square">
            <a:spAutoFit/>
          </a:bodyPr>
          <a:lstStyle/>
          <a:p>
            <a:pPr algn="r"/>
            <a:r>
              <a:rPr sz="1300" b="1" i="0">
                <a:solidFill>
                  <a:srgbClr val="FF7A00"/>
                </a:solidFill>
              </a:rPr>
              <a:t>CIBLE SECONDAIRE</a:t>
            </a:r>
          </a:p>
        </p:txBody>
      </p:sp>
      <p:sp>
        <p:nvSpPr>
          <p:cNvPr id="13" name="TextBox 12"/>
          <p:cNvSpPr txBox="1"/>
          <p:nvPr/>
        </p:nvSpPr>
        <p:spPr>
          <a:xfrm>
            <a:off x="548640" y="3063240"/>
            <a:ext cx="7772400" cy="502920"/>
          </a:xfrm>
          <a:prstGeom prst="rect">
            <a:avLst/>
          </a:prstGeom>
          <a:noFill/>
        </p:spPr>
        <p:txBody>
          <a:bodyPr wrap="square">
            <a:spAutoFit/>
          </a:bodyPr>
          <a:lstStyle/>
          <a:p>
            <a:pPr algn="l"/>
            <a:r>
              <a:rPr sz="2000" b="1" i="0">
                <a:solidFill>
                  <a:srgbClr val="FFFFFF"/>
                </a:solidFill>
              </a:rPr>
              <a:t>🎯 Élèves et étudiants</a:t>
            </a:r>
          </a:p>
        </p:txBody>
      </p:sp>
      <p:sp>
        <p:nvSpPr>
          <p:cNvPr id="14" name="TextBox 13"/>
          <p:cNvSpPr txBox="1"/>
          <p:nvPr/>
        </p:nvSpPr>
        <p:spPr>
          <a:xfrm>
            <a:off x="548640" y="3566160"/>
            <a:ext cx="5029200" cy="411480"/>
          </a:xfrm>
          <a:prstGeom prst="rect">
            <a:avLst/>
          </a:prstGeom>
          <a:noFill/>
        </p:spPr>
        <p:txBody>
          <a:bodyPr wrap="square">
            <a:spAutoFit/>
          </a:bodyPr>
          <a:lstStyle/>
          <a:p>
            <a:pPr algn="l"/>
            <a:r>
              <a:rPr sz="1500" b="0" i="0">
                <a:solidFill>
                  <a:srgbClr val="D0E8F5"/>
                </a:solidFill>
              </a:rPr>
              <a:t>11–25 ans, utilisateurs directs</a:t>
            </a:r>
          </a:p>
        </p:txBody>
      </p:sp>
      <p:sp>
        <p:nvSpPr>
          <p:cNvPr id="15" name="TextBox 14"/>
          <p:cNvSpPr txBox="1"/>
          <p:nvPr/>
        </p:nvSpPr>
        <p:spPr>
          <a:xfrm>
            <a:off x="5669280" y="3566160"/>
            <a:ext cx="5943600" cy="411480"/>
          </a:xfrm>
          <a:prstGeom prst="rect">
            <a:avLst/>
          </a:prstGeom>
          <a:noFill/>
        </p:spPr>
        <p:txBody>
          <a:bodyPr wrap="square">
            <a:spAutoFit/>
          </a:bodyPr>
          <a:lstStyle/>
          <a:p>
            <a:pPr algn="l"/>
            <a:r>
              <a:rPr sz="1500" b="0" i="0">
                <a:solidFill>
                  <a:srgbClr val="FF7A00"/>
                </a:solidFill>
              </a:rPr>
              <a:t>📊 45 % font des fautes souvent ou très souvent (enquête)</a:t>
            </a:r>
          </a:p>
        </p:txBody>
      </p:sp>
      <p:sp>
        <p:nvSpPr>
          <p:cNvPr id="16" name="Rectangle 15"/>
          <p:cNvSpPr/>
          <p:nvPr/>
        </p:nvSpPr>
        <p:spPr>
          <a:xfrm>
            <a:off x="365760" y="4480560"/>
            <a:ext cx="11457432" cy="1371600"/>
          </a:xfrm>
          <a:prstGeom prst="rect">
            <a:avLst/>
          </a:prstGeom>
          <a:solidFill>
            <a:srgbClr val="2E7D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0" y="4572000"/>
            <a:ext cx="2103120" cy="347472"/>
          </a:xfrm>
          <a:prstGeom prst="rect">
            <a:avLst/>
          </a:prstGeom>
          <a:noFill/>
        </p:spPr>
        <p:txBody>
          <a:bodyPr wrap="square">
            <a:spAutoFit/>
          </a:bodyPr>
          <a:lstStyle/>
          <a:p>
            <a:pPr algn="r"/>
            <a:r>
              <a:rPr sz="1300" b="1" i="0">
                <a:solidFill>
                  <a:srgbClr val="FF7A00"/>
                </a:solidFill>
              </a:rPr>
              <a:t>CIBLE TERTIAIRE</a:t>
            </a:r>
          </a:p>
        </p:txBody>
      </p:sp>
      <p:sp>
        <p:nvSpPr>
          <p:cNvPr id="18" name="TextBox 17"/>
          <p:cNvSpPr txBox="1"/>
          <p:nvPr/>
        </p:nvSpPr>
        <p:spPr>
          <a:xfrm>
            <a:off x="548640" y="4572000"/>
            <a:ext cx="7772400" cy="502920"/>
          </a:xfrm>
          <a:prstGeom prst="rect">
            <a:avLst/>
          </a:prstGeom>
          <a:noFill/>
        </p:spPr>
        <p:txBody>
          <a:bodyPr wrap="square">
            <a:spAutoFit/>
          </a:bodyPr>
          <a:lstStyle/>
          <a:p>
            <a:pPr algn="l"/>
            <a:r>
              <a:rPr sz="2000" b="1" i="0">
                <a:solidFill>
                  <a:srgbClr val="FFFFFF"/>
                </a:solidFill>
              </a:rPr>
              <a:t>Professionnels / Enseignants</a:t>
            </a:r>
          </a:p>
        </p:txBody>
      </p:sp>
      <p:sp>
        <p:nvSpPr>
          <p:cNvPr id="19" name="TextBox 18"/>
          <p:cNvSpPr txBox="1"/>
          <p:nvPr/>
        </p:nvSpPr>
        <p:spPr>
          <a:xfrm>
            <a:off x="548640" y="5074920"/>
            <a:ext cx="5029200" cy="411480"/>
          </a:xfrm>
          <a:prstGeom prst="rect">
            <a:avLst/>
          </a:prstGeom>
          <a:noFill/>
        </p:spPr>
        <p:txBody>
          <a:bodyPr wrap="square">
            <a:spAutoFit/>
          </a:bodyPr>
          <a:lstStyle/>
          <a:p>
            <a:pPr algn="l"/>
            <a:r>
              <a:rPr sz="1500" b="0" i="0">
                <a:solidFill>
                  <a:srgbClr val="D0E8F5"/>
                </a:solidFill>
              </a:rPr>
              <a:t>25–50 ans, prescripteurs</a:t>
            </a:r>
          </a:p>
        </p:txBody>
      </p:sp>
      <p:sp>
        <p:nvSpPr>
          <p:cNvPr id="20" name="TextBox 19"/>
          <p:cNvSpPr txBox="1"/>
          <p:nvPr/>
        </p:nvSpPr>
        <p:spPr>
          <a:xfrm>
            <a:off x="5669280" y="5074920"/>
            <a:ext cx="5943600" cy="411480"/>
          </a:xfrm>
          <a:prstGeom prst="rect">
            <a:avLst/>
          </a:prstGeom>
          <a:noFill/>
        </p:spPr>
        <p:txBody>
          <a:bodyPr wrap="square">
            <a:spAutoFit/>
          </a:bodyPr>
          <a:lstStyle/>
          <a:p>
            <a:pPr algn="l"/>
            <a:r>
              <a:rPr sz="1500" b="0" i="0">
                <a:solidFill>
                  <a:srgbClr val="FF7A00"/>
                </a:solidFill>
              </a:rPr>
              <a:t>📊 75,2 % voient l'utilité du produit pour leurs élèves ou collègues (enquête)</a:t>
            </a:r>
          </a:p>
        </p:txBody>
      </p:sp>
      <p:sp>
        <p:nvSpPr>
          <p:cNvPr id="21" name="Rectangle 20"/>
          <p:cNvSpPr/>
          <p:nvPr/>
        </p:nvSpPr>
        <p:spPr>
          <a:xfrm>
            <a:off x="365760" y="5989320"/>
            <a:ext cx="11457432" cy="11887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080760"/>
            <a:ext cx="7315200" cy="411480"/>
          </a:xfrm>
          <a:prstGeom prst="rect">
            <a:avLst/>
          </a:prstGeom>
          <a:noFill/>
        </p:spPr>
        <p:txBody>
          <a:bodyPr wrap="square">
            <a:spAutoFit/>
          </a:bodyPr>
          <a:lstStyle/>
          <a:p>
            <a:pPr algn="l"/>
            <a:r>
              <a:rPr sz="1800" b="1" i="0">
                <a:solidFill>
                  <a:srgbClr val="0A294B"/>
                </a:solidFill>
              </a:rPr>
              <a:t>Stratégie retenue : Indifférenciée</a:t>
            </a:r>
          </a:p>
        </p:txBody>
      </p:sp>
      <p:sp>
        <p:nvSpPr>
          <p:cNvPr id="23" name="TextBox 22"/>
          <p:cNvSpPr txBox="1"/>
          <p:nvPr/>
        </p:nvSpPr>
        <p:spPr>
          <a:xfrm>
            <a:off x="548640" y="6492240"/>
            <a:ext cx="11064240" cy="594360"/>
          </a:xfrm>
          <a:prstGeom prst="rect">
            <a:avLst/>
          </a:prstGeom>
          <a:noFill/>
        </p:spPr>
        <p:txBody>
          <a:bodyPr wrap="square">
            <a:spAutoFit/>
          </a:bodyPr>
          <a:lstStyle/>
          <a:p>
            <a:pPr algn="l"/>
            <a:r>
              <a:rPr sz="1400" b="0" i="0">
                <a:solidFill>
                  <a:srgbClr val="1A1A2E"/>
                </a:solidFill>
              </a:rPr>
              <a:t>Le Stylo Ortho s'adresse à toute personne ayant besoin d'écrire sans fautes — élèves, étudiants, professionnels, apprenants. La campagne de communication cible néanmoins en priorité les parents et les élèves (rentrée scolaire).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Ciblage et Positionnement</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17320"/>
            <a:ext cx="11457432"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27048"/>
            <a:ext cx="11183111" cy="365760"/>
          </a:xfrm>
          <a:prstGeom prst="rect">
            <a:avLst/>
          </a:prstGeom>
          <a:noFill/>
        </p:spPr>
        <p:txBody>
          <a:bodyPr wrap="square">
            <a:spAutoFit/>
          </a:bodyPr>
          <a:lstStyle/>
          <a:p>
            <a:pPr algn="l"/>
            <a:r>
              <a:rPr sz="1900" b="1" i="0">
                <a:solidFill>
                  <a:srgbClr val="0A294B"/>
                </a:solidFill>
              </a:rPr>
              <a:t>Ciblage</a:t>
            </a:r>
          </a:p>
        </p:txBody>
      </p:sp>
      <p:sp>
        <p:nvSpPr>
          <p:cNvPr id="8" name="TextBox 7"/>
          <p:cNvSpPr txBox="1"/>
          <p:nvPr/>
        </p:nvSpPr>
        <p:spPr>
          <a:xfrm>
            <a:off x="502920" y="1911095"/>
            <a:ext cx="11183111" cy="1563624"/>
          </a:xfrm>
          <a:prstGeom prst="rect">
            <a:avLst/>
          </a:prstGeom>
          <a:noFill/>
        </p:spPr>
        <p:txBody>
          <a:bodyPr wrap="square">
            <a:spAutoFit/>
          </a:bodyPr>
          <a:lstStyle/>
          <a:p>
            <a:pPr>
              <a:spcAft>
                <a:spcPts val="300"/>
              </a:spcAft>
            </a:pPr>
            <a:r>
              <a:rPr sz="1600">
                <a:solidFill>
                  <a:srgbClr val="1A1A2E"/>
                </a:solidFill>
              </a:rPr>
              <a:t>Cible principale : Parents d'élèves (30–50 ans) — 46,9 % prêts à acheter (enquête)</a:t>
            </a:r>
          </a:p>
          <a:p>
            <a:pPr>
              <a:spcAft>
                <a:spcPts val="300"/>
              </a:spcAft>
            </a:pPr>
            <a:r>
              <a:rPr sz="1600">
                <a:solidFill>
                  <a:srgbClr val="1A1A2E"/>
                </a:solidFill>
              </a:rPr>
              <a:t>Cible secondaire : Élèves et étudiants (11–25 ans) — 45 % font souvent des fautes</a:t>
            </a:r>
          </a:p>
          <a:p>
            <a:pPr>
              <a:spcAft>
                <a:spcPts val="300"/>
              </a:spcAft>
            </a:pPr>
            <a:r>
              <a:rPr sz="1600">
                <a:solidFill>
                  <a:srgbClr val="1A1A2E"/>
                </a:solidFill>
              </a:rPr>
              <a:t>Cible tertiaire : Professionnels et enseignants — prescripteurs et ambassadeurs</a:t>
            </a:r>
          </a:p>
          <a:p>
            <a:pPr>
              <a:spcAft>
                <a:spcPts val="300"/>
              </a:spcAft>
            </a:pPr>
            <a:r>
              <a:rPr sz="1600">
                <a:solidFill>
                  <a:srgbClr val="1A1A2E"/>
                </a:solidFill>
              </a:rPr>
              <a:t>Stratégie indifférenciée : un seul produit, une seule gamme, pour tous les profils</a:t>
            </a:r>
          </a:p>
        </p:txBody>
      </p:sp>
      <p:sp>
        <p:nvSpPr>
          <p:cNvPr id="9" name="Rectangle 8"/>
          <p:cNvSpPr/>
          <p:nvPr/>
        </p:nvSpPr>
        <p:spPr>
          <a:xfrm>
            <a:off x="365760" y="3749039"/>
            <a:ext cx="11457432" cy="43891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10972800" cy="347472"/>
          </a:xfrm>
          <a:prstGeom prst="rect">
            <a:avLst/>
          </a:prstGeom>
          <a:noFill/>
        </p:spPr>
        <p:txBody>
          <a:bodyPr wrap="square">
            <a:spAutoFit/>
          </a:bodyPr>
          <a:lstStyle/>
          <a:p>
            <a:pPr algn="l"/>
            <a:r>
              <a:rPr sz="1900" b="1" i="0">
                <a:solidFill>
                  <a:srgbClr val="FFFFFF"/>
                </a:solidFill>
              </a:rPr>
              <a:t>Positionnement</a:t>
            </a:r>
          </a:p>
        </p:txBody>
      </p:sp>
      <p:sp>
        <p:nvSpPr>
          <p:cNvPr id="11" name="Rectangle 10"/>
          <p:cNvSpPr/>
          <p:nvPr/>
        </p:nvSpPr>
        <p:spPr>
          <a:xfrm>
            <a:off x="365760" y="4187952"/>
            <a:ext cx="11457432" cy="1188720"/>
          </a:xfrm>
          <a:prstGeom prst="rect">
            <a:avLst/>
          </a:prstGeom>
          <a:solidFill>
            <a:srgbClr val="D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233672"/>
            <a:ext cx="11064240" cy="384048"/>
          </a:xfrm>
          <a:prstGeom prst="rect">
            <a:avLst/>
          </a:prstGeom>
          <a:noFill/>
        </p:spPr>
        <p:txBody>
          <a:bodyPr wrap="square">
            <a:spAutoFit/>
          </a:bodyPr>
          <a:lstStyle/>
          <a:p>
            <a:pPr algn="l"/>
            <a:r>
              <a:rPr sz="1600" b="0" i="0">
                <a:solidFill>
                  <a:srgbClr val="0A294B"/>
                </a:solidFill>
              </a:rPr>
              <a:t>Dans la tête du consommateur, le Stylo Ortho doit être perçu comme :</a:t>
            </a:r>
          </a:p>
        </p:txBody>
      </p:sp>
      <p:sp>
        <p:nvSpPr>
          <p:cNvPr id="13" name="TextBox 12"/>
          <p:cNvSpPr txBox="1"/>
          <p:nvPr/>
        </p:nvSpPr>
        <p:spPr>
          <a:xfrm>
            <a:off x="548640" y="4617720"/>
            <a:ext cx="11064240" cy="658368"/>
          </a:xfrm>
          <a:prstGeom prst="rect">
            <a:avLst/>
          </a:prstGeom>
          <a:noFill/>
        </p:spPr>
        <p:txBody>
          <a:bodyPr wrap="square">
            <a:spAutoFit/>
          </a:bodyPr>
          <a:lstStyle/>
          <a:p>
            <a:pPr algn="ctr"/>
            <a:r>
              <a:rPr sz="2200" b="1" i="0">
                <a:solidFill>
                  <a:srgbClr val="0A294B"/>
                </a:solidFill>
              </a:rPr>
              <a:t>« Le stylo intelligent qui corrige mes fautes quand j'écris à la main »</a:t>
            </a:r>
          </a:p>
        </p:txBody>
      </p:sp>
      <p:sp>
        <p:nvSpPr>
          <p:cNvPr id="14" name="Rectangle 13"/>
          <p:cNvSpPr/>
          <p:nvPr/>
        </p:nvSpPr>
        <p:spPr>
          <a:xfrm>
            <a:off x="365760" y="5486400"/>
            <a:ext cx="11457432" cy="12344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596128"/>
            <a:ext cx="11183111" cy="987552"/>
          </a:xfrm>
          <a:prstGeom prst="rect">
            <a:avLst/>
          </a:prstGeom>
          <a:noFill/>
        </p:spPr>
        <p:txBody>
          <a:bodyPr wrap="square">
            <a:spAutoFit/>
          </a:bodyPr>
          <a:lstStyle/>
          <a:p>
            <a:pPr>
              <a:spcAft>
                <a:spcPts val="300"/>
              </a:spcAft>
            </a:pPr>
            <a:r>
              <a:rPr sz="1500">
                <a:solidFill>
                  <a:srgbClr val="1A1A2E"/>
                </a:solidFill>
              </a:rPr>
              <a:t>Axe fonctionnel : correction orthographique en temps réel sur papier — USP unique</a:t>
            </a:r>
          </a:p>
          <a:p>
            <a:pPr>
              <a:spcAft>
                <a:spcPts val="300"/>
              </a:spcAft>
            </a:pPr>
            <a:r>
              <a:rPr sz="1500">
                <a:solidFill>
                  <a:srgbClr val="1A1A2E"/>
                </a:solidFill>
              </a:rPr>
              <a:t>Axe émotionnel : confiance en soi, réussite scolaire et professionnelle</a:t>
            </a:r>
          </a:p>
          <a:p>
            <a:pPr>
              <a:spcAft>
                <a:spcPts val="300"/>
              </a:spcAft>
            </a:pPr>
            <a:r>
              <a:rPr sz="1500">
                <a:solidFill>
                  <a:srgbClr val="1A1A2E"/>
                </a:solidFill>
              </a:rPr>
              <a:t>Axe symbolique : produit made in France, innovant, discret et non intrusif</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Bénéfice consommateur</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11457432"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3200400" cy="13258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645920"/>
            <a:ext cx="2926080" cy="914400"/>
          </a:xfrm>
          <a:prstGeom prst="rect">
            <a:avLst/>
          </a:prstGeom>
          <a:noFill/>
        </p:spPr>
        <p:txBody>
          <a:bodyPr wrap="square">
            <a:spAutoFit/>
          </a:bodyPr>
          <a:lstStyle/>
          <a:p>
            <a:pPr algn="l"/>
            <a:r>
              <a:rPr sz="1500" b="1" i="0">
                <a:solidFill>
                  <a:srgbClr val="FFFFFF"/>
                </a:solidFill>
              </a:rPr>
              <a:t>Bénéfice fonctionnel
(USP — utilité)</a:t>
            </a:r>
          </a:p>
        </p:txBody>
      </p:sp>
      <p:sp>
        <p:nvSpPr>
          <p:cNvPr id="9" name="TextBox 8"/>
          <p:cNvSpPr txBox="1"/>
          <p:nvPr/>
        </p:nvSpPr>
        <p:spPr>
          <a:xfrm>
            <a:off x="3657600" y="1536192"/>
            <a:ext cx="2743200" cy="384048"/>
          </a:xfrm>
          <a:prstGeom prst="rect">
            <a:avLst/>
          </a:prstGeom>
          <a:noFill/>
        </p:spPr>
        <p:txBody>
          <a:bodyPr wrap="square">
            <a:spAutoFit/>
          </a:bodyPr>
          <a:lstStyle/>
          <a:p>
            <a:pPr algn="l"/>
            <a:r>
              <a:rPr sz="1300" b="0" i="1">
                <a:solidFill>
                  <a:srgbClr val="1A5276"/>
                </a:solidFill>
              </a:rPr>
              <a:t>Ce que le produit fait concrètement</a:t>
            </a:r>
          </a:p>
        </p:txBody>
      </p:sp>
      <p:sp>
        <p:nvSpPr>
          <p:cNvPr id="10" name="TextBox 9"/>
          <p:cNvSpPr txBox="1"/>
          <p:nvPr/>
        </p:nvSpPr>
        <p:spPr>
          <a:xfrm>
            <a:off x="3657600" y="1938528"/>
            <a:ext cx="7955279" cy="777240"/>
          </a:xfrm>
          <a:prstGeom prst="rect">
            <a:avLst/>
          </a:prstGeom>
          <a:noFill/>
        </p:spPr>
        <p:txBody>
          <a:bodyPr wrap="square">
            <a:spAutoFit/>
          </a:bodyPr>
          <a:lstStyle/>
          <a:p>
            <a:pPr algn="l"/>
            <a:r>
              <a:rPr sz="1500" b="0" i="0">
                <a:solidFill>
                  <a:srgbClr val="1A1A2E"/>
                </a:solidFill>
              </a:rPr>
              <a:t>Corriger les fautes d'orthographe en temps réel sur papier, sans connexion, en situation de manuscrit (école, bureau, examen).</a:t>
            </a:r>
          </a:p>
        </p:txBody>
      </p:sp>
      <p:sp>
        <p:nvSpPr>
          <p:cNvPr id="11" name="Rectangle 10"/>
          <p:cNvSpPr/>
          <p:nvPr/>
        </p:nvSpPr>
        <p:spPr>
          <a:xfrm>
            <a:off x="365760" y="2880360"/>
            <a:ext cx="11457432" cy="13258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880360"/>
            <a:ext cx="3200400" cy="13258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3063240"/>
            <a:ext cx="2926080" cy="914400"/>
          </a:xfrm>
          <a:prstGeom prst="rect">
            <a:avLst/>
          </a:prstGeom>
          <a:noFill/>
        </p:spPr>
        <p:txBody>
          <a:bodyPr wrap="square">
            <a:spAutoFit/>
          </a:bodyPr>
          <a:lstStyle/>
          <a:p>
            <a:pPr algn="l"/>
            <a:r>
              <a:rPr sz="1500" b="1" i="0">
                <a:solidFill>
                  <a:srgbClr val="FFFFFF"/>
                </a:solidFill>
              </a:rPr>
              <a:t>Bénéfice émotionnel
(ressenti)</a:t>
            </a:r>
          </a:p>
        </p:txBody>
      </p:sp>
      <p:sp>
        <p:nvSpPr>
          <p:cNvPr id="14" name="TextBox 13"/>
          <p:cNvSpPr txBox="1"/>
          <p:nvPr/>
        </p:nvSpPr>
        <p:spPr>
          <a:xfrm>
            <a:off x="3657600" y="2953512"/>
            <a:ext cx="2743200" cy="384048"/>
          </a:xfrm>
          <a:prstGeom prst="rect">
            <a:avLst/>
          </a:prstGeom>
          <a:noFill/>
        </p:spPr>
        <p:txBody>
          <a:bodyPr wrap="square">
            <a:spAutoFit/>
          </a:bodyPr>
          <a:lstStyle/>
          <a:p>
            <a:pPr algn="l"/>
            <a:r>
              <a:rPr sz="1300" b="0" i="1">
                <a:solidFill>
                  <a:srgbClr val="1A5276"/>
                </a:solidFill>
              </a:rPr>
              <a:t>Ce que l'utilisateur ressent</a:t>
            </a:r>
          </a:p>
        </p:txBody>
      </p:sp>
      <p:sp>
        <p:nvSpPr>
          <p:cNvPr id="15" name="TextBox 14"/>
          <p:cNvSpPr txBox="1"/>
          <p:nvPr/>
        </p:nvSpPr>
        <p:spPr>
          <a:xfrm>
            <a:off x="3657600" y="3355848"/>
            <a:ext cx="7955279" cy="777240"/>
          </a:xfrm>
          <a:prstGeom prst="rect">
            <a:avLst/>
          </a:prstGeom>
          <a:noFill/>
        </p:spPr>
        <p:txBody>
          <a:bodyPr wrap="square">
            <a:spAutoFit/>
          </a:bodyPr>
          <a:lstStyle/>
          <a:p>
            <a:pPr algn="l"/>
            <a:r>
              <a:rPr sz="1500" b="0" i="0">
                <a:solidFill>
                  <a:srgbClr val="1A1A2E"/>
                </a:solidFill>
              </a:rPr>
              <a:t>Confiance en soi, réduction de la honte liée aux fautes, sérénité lors des examens et prises de notes importantes.</a:t>
            </a:r>
          </a:p>
        </p:txBody>
      </p:sp>
      <p:sp>
        <p:nvSpPr>
          <p:cNvPr id="16" name="Rectangle 15"/>
          <p:cNvSpPr/>
          <p:nvPr/>
        </p:nvSpPr>
        <p:spPr>
          <a:xfrm>
            <a:off x="365760" y="4297680"/>
            <a:ext cx="11457432" cy="1325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297680"/>
            <a:ext cx="3200400" cy="132588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480560"/>
            <a:ext cx="2926080" cy="914400"/>
          </a:xfrm>
          <a:prstGeom prst="rect">
            <a:avLst/>
          </a:prstGeom>
          <a:noFill/>
        </p:spPr>
        <p:txBody>
          <a:bodyPr wrap="square">
            <a:spAutoFit/>
          </a:bodyPr>
          <a:lstStyle/>
          <a:p>
            <a:pPr algn="l"/>
            <a:r>
              <a:rPr sz="1500" b="1" i="0">
                <a:solidFill>
                  <a:srgbClr val="FFFFFF"/>
                </a:solidFill>
              </a:rPr>
              <a:t>Bénéfice symbolique
(image et statut)</a:t>
            </a:r>
          </a:p>
        </p:txBody>
      </p:sp>
      <p:sp>
        <p:nvSpPr>
          <p:cNvPr id="19" name="TextBox 18"/>
          <p:cNvSpPr txBox="1"/>
          <p:nvPr/>
        </p:nvSpPr>
        <p:spPr>
          <a:xfrm>
            <a:off x="3657600" y="4370832"/>
            <a:ext cx="2743200" cy="384048"/>
          </a:xfrm>
          <a:prstGeom prst="rect">
            <a:avLst/>
          </a:prstGeom>
          <a:noFill/>
        </p:spPr>
        <p:txBody>
          <a:bodyPr wrap="square">
            <a:spAutoFit/>
          </a:bodyPr>
          <a:lstStyle/>
          <a:p>
            <a:pPr algn="l"/>
            <a:r>
              <a:rPr sz="1300" b="0" i="1">
                <a:solidFill>
                  <a:srgbClr val="1A5276"/>
                </a:solidFill>
              </a:rPr>
              <a:t>Ce que le produit dit de soi</a:t>
            </a:r>
          </a:p>
        </p:txBody>
      </p:sp>
      <p:sp>
        <p:nvSpPr>
          <p:cNvPr id="20" name="TextBox 19"/>
          <p:cNvSpPr txBox="1"/>
          <p:nvPr/>
        </p:nvSpPr>
        <p:spPr>
          <a:xfrm>
            <a:off x="3657600" y="4773168"/>
            <a:ext cx="7955279" cy="777240"/>
          </a:xfrm>
          <a:prstGeom prst="rect">
            <a:avLst/>
          </a:prstGeom>
          <a:noFill/>
        </p:spPr>
        <p:txBody>
          <a:bodyPr wrap="square">
            <a:spAutoFit/>
          </a:bodyPr>
          <a:lstStyle/>
          <a:p>
            <a:pPr algn="l"/>
            <a:r>
              <a:rPr sz="1500" b="0" i="0">
                <a:solidFill>
                  <a:srgbClr val="1A1A2E"/>
                </a:solidFill>
              </a:rPr>
              <a:t>Utiliser un produit made in France innovant. Montrer qu'on valorise l'écrit soigné tout en adoptant les nouvelles technologies de manière discrète.</a:t>
            </a:r>
          </a:p>
        </p:txBody>
      </p:sp>
      <p:sp>
        <p:nvSpPr>
          <p:cNvPr id="21" name="Rectangle 20"/>
          <p:cNvSpPr/>
          <p:nvPr/>
        </p:nvSpPr>
        <p:spPr>
          <a:xfrm>
            <a:off x="365760" y="5715000"/>
            <a:ext cx="11457432" cy="914400"/>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788152"/>
            <a:ext cx="10972800" cy="347472"/>
          </a:xfrm>
          <a:prstGeom prst="rect">
            <a:avLst/>
          </a:prstGeom>
          <a:noFill/>
        </p:spPr>
        <p:txBody>
          <a:bodyPr wrap="square">
            <a:spAutoFit/>
          </a:bodyPr>
          <a:lstStyle/>
          <a:p>
            <a:pPr algn="l"/>
            <a:r>
              <a:rPr sz="1500" b="1" i="0">
                <a:solidFill>
                  <a:srgbClr val="FFFFFF"/>
                </a:solidFill>
              </a:rPr>
              <a:t>Bénéfice consommateur synthétique :</a:t>
            </a:r>
          </a:p>
        </p:txBody>
      </p:sp>
      <p:sp>
        <p:nvSpPr>
          <p:cNvPr id="23" name="TextBox 22"/>
          <p:cNvSpPr txBox="1"/>
          <p:nvPr/>
        </p:nvSpPr>
        <p:spPr>
          <a:xfrm>
            <a:off x="548640" y="6153912"/>
            <a:ext cx="10972800" cy="384048"/>
          </a:xfrm>
          <a:prstGeom prst="rect">
            <a:avLst/>
          </a:prstGeom>
          <a:noFill/>
        </p:spPr>
        <p:txBody>
          <a:bodyPr wrap="square">
            <a:spAutoFit/>
          </a:bodyPr>
          <a:lstStyle/>
          <a:p>
            <a:pPr algn="l"/>
            <a:r>
              <a:rPr sz="1600" b="1" i="0">
                <a:solidFill>
                  <a:srgbClr val="FFFFFF"/>
                </a:solidFill>
              </a:rPr>
              <a:t>« Avec le Stylo Ortho, j'écris à la main sans stresser pour mes fautes — en cours, au bureau ou en examen, c'est le seul outil qui fait ça sur papier.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P1 — Produit</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 MIX</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1274552" cy="594360"/>
          </a:xfrm>
          <a:prstGeom prst="rect">
            <a:avLst/>
          </a:prstGeom>
          <a:noFill/>
        </p:spPr>
        <p:txBody>
          <a:bodyPr wrap="square">
            <a:spAutoFit/>
          </a:bodyPr>
          <a:lstStyle/>
          <a:p>
            <a:pPr algn="l"/>
            <a:r>
              <a:rPr sz="1700" b="0" i="1">
                <a:solidFill>
                  <a:srgbClr val="1A5276"/>
                </a:solidFill>
              </a:rPr>
              <a:t>Le Stylo Ortho est un stylo intelligent qui aide à écrire sans fautes. Il ressemble à un stylo classique, mais il contient une petite technologie intégrée.</a:t>
            </a:r>
          </a:p>
        </p:txBody>
      </p:sp>
      <p:sp>
        <p:nvSpPr>
          <p:cNvPr id="7" name="Rectangle 6"/>
          <p:cNvSpPr/>
          <p:nvPr/>
        </p:nvSpPr>
        <p:spPr>
          <a:xfrm>
            <a:off x="365760" y="2103120"/>
            <a:ext cx="11457432" cy="3657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2139696"/>
            <a:ext cx="2286000" cy="301752"/>
          </a:xfrm>
          <a:prstGeom prst="rect">
            <a:avLst/>
          </a:prstGeom>
          <a:noFill/>
        </p:spPr>
        <p:txBody>
          <a:bodyPr wrap="square">
            <a:spAutoFit/>
          </a:bodyPr>
          <a:lstStyle/>
          <a:p>
            <a:pPr algn="l"/>
            <a:r>
              <a:rPr sz="1300" b="1" i="0">
                <a:solidFill>
                  <a:srgbClr val="FFFFFF"/>
                </a:solidFill>
              </a:rPr>
              <a:t>Caractéristique</a:t>
            </a:r>
          </a:p>
        </p:txBody>
      </p:sp>
      <p:sp>
        <p:nvSpPr>
          <p:cNvPr id="9" name="TextBox 8"/>
          <p:cNvSpPr txBox="1"/>
          <p:nvPr/>
        </p:nvSpPr>
        <p:spPr>
          <a:xfrm>
            <a:off x="2697480" y="2139696"/>
            <a:ext cx="3017520" cy="301752"/>
          </a:xfrm>
          <a:prstGeom prst="rect">
            <a:avLst/>
          </a:prstGeom>
          <a:noFill/>
        </p:spPr>
        <p:txBody>
          <a:bodyPr wrap="square">
            <a:spAutoFit/>
          </a:bodyPr>
          <a:lstStyle/>
          <a:p>
            <a:pPr algn="l"/>
            <a:r>
              <a:rPr sz="1300" b="1" i="0">
                <a:solidFill>
                  <a:srgbClr val="FFFFFF"/>
                </a:solidFill>
              </a:rPr>
              <a:t>Description</a:t>
            </a:r>
          </a:p>
        </p:txBody>
      </p:sp>
      <p:sp>
        <p:nvSpPr>
          <p:cNvPr id="10" name="TextBox 9"/>
          <p:cNvSpPr txBox="1"/>
          <p:nvPr/>
        </p:nvSpPr>
        <p:spPr>
          <a:xfrm>
            <a:off x="5742432" y="2139696"/>
            <a:ext cx="6035040" cy="301752"/>
          </a:xfrm>
          <a:prstGeom prst="rect">
            <a:avLst/>
          </a:prstGeom>
          <a:noFill/>
        </p:spPr>
        <p:txBody>
          <a:bodyPr wrap="square">
            <a:spAutoFit/>
          </a:bodyPr>
          <a:lstStyle/>
          <a:p>
            <a:pPr algn="l"/>
            <a:r>
              <a:rPr sz="1300" b="1" i="0">
                <a:solidFill>
                  <a:srgbClr val="FFFFFF"/>
                </a:solidFill>
              </a:rPr>
              <a:t>Avantage consommateur (USP)</a:t>
            </a:r>
          </a:p>
        </p:txBody>
      </p:sp>
      <p:sp>
        <p:nvSpPr>
          <p:cNvPr id="11" name="Rectangle 10"/>
          <p:cNvSpPr/>
          <p:nvPr/>
        </p:nvSpPr>
        <p:spPr>
          <a:xfrm>
            <a:off x="365760" y="2606039"/>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660903"/>
            <a:ext cx="2286000" cy="393192"/>
          </a:xfrm>
          <a:prstGeom prst="rect">
            <a:avLst/>
          </a:prstGeom>
          <a:noFill/>
        </p:spPr>
        <p:txBody>
          <a:bodyPr wrap="square">
            <a:spAutoFit/>
          </a:bodyPr>
          <a:lstStyle/>
          <a:p>
            <a:pPr algn="l"/>
            <a:r>
              <a:rPr sz="1300" b="1" i="0">
                <a:solidFill>
                  <a:srgbClr val="0A294B"/>
                </a:solidFill>
              </a:rPr>
              <a:t>Recharge USB-C</a:t>
            </a:r>
          </a:p>
        </p:txBody>
      </p:sp>
      <p:sp>
        <p:nvSpPr>
          <p:cNvPr id="13" name="TextBox 12"/>
          <p:cNvSpPr txBox="1"/>
          <p:nvPr/>
        </p:nvSpPr>
        <p:spPr>
          <a:xfrm>
            <a:off x="2697480" y="2660903"/>
            <a:ext cx="3017520" cy="393192"/>
          </a:xfrm>
          <a:prstGeom prst="rect">
            <a:avLst/>
          </a:prstGeom>
          <a:noFill/>
        </p:spPr>
        <p:txBody>
          <a:bodyPr wrap="square">
            <a:spAutoFit/>
          </a:bodyPr>
          <a:lstStyle/>
          <a:p>
            <a:pPr algn="l"/>
            <a:r>
              <a:rPr sz="1200" b="0" i="0">
                <a:solidFill>
                  <a:srgbClr val="1A1A2E"/>
                </a:solidFill>
              </a:rPr>
              <a:t>15 minutes de charge</a:t>
            </a:r>
          </a:p>
        </p:txBody>
      </p:sp>
      <p:sp>
        <p:nvSpPr>
          <p:cNvPr id="14" name="TextBox 13"/>
          <p:cNvSpPr txBox="1"/>
          <p:nvPr/>
        </p:nvSpPr>
        <p:spPr>
          <a:xfrm>
            <a:off x="5742432" y="2660903"/>
            <a:ext cx="5943600" cy="393192"/>
          </a:xfrm>
          <a:prstGeom prst="rect">
            <a:avLst/>
          </a:prstGeom>
          <a:noFill/>
        </p:spPr>
        <p:txBody>
          <a:bodyPr wrap="square">
            <a:spAutoFit/>
          </a:bodyPr>
          <a:lstStyle/>
          <a:p>
            <a:pPr algn="l"/>
            <a:r>
              <a:rPr sz="1200" b="0" i="0">
                <a:solidFill>
                  <a:srgbClr val="1A1A2E"/>
                </a:solidFill>
              </a:rPr>
              <a:t>Pratique pour les élèves et professionnels du quotidien</a:t>
            </a:r>
          </a:p>
        </p:txBody>
      </p:sp>
      <p:sp>
        <p:nvSpPr>
          <p:cNvPr id="15" name="Rectangle 14"/>
          <p:cNvSpPr/>
          <p:nvPr/>
        </p:nvSpPr>
        <p:spPr>
          <a:xfrm>
            <a:off x="365760" y="3108959"/>
            <a:ext cx="11457432" cy="4846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3163823"/>
            <a:ext cx="2286000" cy="393192"/>
          </a:xfrm>
          <a:prstGeom prst="rect">
            <a:avLst/>
          </a:prstGeom>
          <a:noFill/>
        </p:spPr>
        <p:txBody>
          <a:bodyPr wrap="square">
            <a:spAutoFit/>
          </a:bodyPr>
          <a:lstStyle/>
          <a:p>
            <a:pPr algn="l"/>
            <a:r>
              <a:rPr sz="1300" b="1" i="0">
                <a:solidFill>
                  <a:srgbClr val="0A294B"/>
                </a:solidFill>
              </a:rPr>
              <a:t>Encre rechargeable</a:t>
            </a:r>
          </a:p>
        </p:txBody>
      </p:sp>
      <p:sp>
        <p:nvSpPr>
          <p:cNvPr id="17" name="TextBox 16"/>
          <p:cNvSpPr txBox="1"/>
          <p:nvPr/>
        </p:nvSpPr>
        <p:spPr>
          <a:xfrm>
            <a:off x="2697480" y="3163823"/>
            <a:ext cx="3017520" cy="393192"/>
          </a:xfrm>
          <a:prstGeom prst="rect">
            <a:avLst/>
          </a:prstGeom>
          <a:noFill/>
        </p:spPr>
        <p:txBody>
          <a:bodyPr wrap="square">
            <a:spAutoFit/>
          </a:bodyPr>
          <a:lstStyle/>
          <a:p>
            <a:pPr algn="l"/>
            <a:r>
              <a:rPr sz="1200" b="0" i="0">
                <a:solidFill>
                  <a:srgbClr val="1A1A2E"/>
                </a:solidFill>
              </a:rPr>
              <a:t>Encre moderne rechargeable, économique sur le long terme</a:t>
            </a:r>
          </a:p>
        </p:txBody>
      </p:sp>
      <p:sp>
        <p:nvSpPr>
          <p:cNvPr id="18" name="TextBox 17"/>
          <p:cNvSpPr txBox="1"/>
          <p:nvPr/>
        </p:nvSpPr>
        <p:spPr>
          <a:xfrm>
            <a:off x="5742432" y="3163823"/>
            <a:ext cx="5943600" cy="393192"/>
          </a:xfrm>
          <a:prstGeom prst="rect">
            <a:avLst/>
          </a:prstGeom>
          <a:noFill/>
        </p:spPr>
        <p:txBody>
          <a:bodyPr wrap="square">
            <a:spAutoFit/>
          </a:bodyPr>
          <a:lstStyle/>
          <a:p>
            <a:pPr algn="l"/>
            <a:r>
              <a:rPr sz="1200" b="0" i="0">
                <a:solidFill>
                  <a:srgbClr val="1A1A2E"/>
                </a:solidFill>
              </a:rPr>
              <a:t>Plus pratique et économique que les stylos à jeter</a:t>
            </a:r>
          </a:p>
        </p:txBody>
      </p:sp>
      <p:sp>
        <p:nvSpPr>
          <p:cNvPr id="19" name="Rectangle 18"/>
          <p:cNvSpPr/>
          <p:nvPr/>
        </p:nvSpPr>
        <p:spPr>
          <a:xfrm>
            <a:off x="365760" y="3611879"/>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3666743"/>
            <a:ext cx="2286000" cy="393192"/>
          </a:xfrm>
          <a:prstGeom prst="rect">
            <a:avLst/>
          </a:prstGeom>
          <a:noFill/>
        </p:spPr>
        <p:txBody>
          <a:bodyPr wrap="square">
            <a:spAutoFit/>
          </a:bodyPr>
          <a:lstStyle/>
          <a:p>
            <a:pPr algn="l"/>
            <a:r>
              <a:rPr sz="1300" b="1" i="0">
                <a:solidFill>
                  <a:srgbClr val="0A294B"/>
                </a:solidFill>
              </a:rPr>
              <a:t>Gomme effaçable</a:t>
            </a:r>
          </a:p>
        </p:txBody>
      </p:sp>
      <p:sp>
        <p:nvSpPr>
          <p:cNvPr id="21" name="TextBox 20"/>
          <p:cNvSpPr txBox="1"/>
          <p:nvPr/>
        </p:nvSpPr>
        <p:spPr>
          <a:xfrm>
            <a:off x="2697480" y="3666743"/>
            <a:ext cx="3017520" cy="393192"/>
          </a:xfrm>
          <a:prstGeom prst="rect">
            <a:avLst/>
          </a:prstGeom>
          <a:noFill/>
        </p:spPr>
        <p:txBody>
          <a:bodyPr wrap="square">
            <a:spAutoFit/>
          </a:bodyPr>
          <a:lstStyle/>
          <a:p>
            <a:pPr algn="l"/>
            <a:r>
              <a:rPr sz="1200" b="0" i="0">
                <a:solidFill>
                  <a:srgbClr val="1A1A2E"/>
                </a:solidFill>
              </a:rPr>
              <a:t>Petite gomme au bout du stylo pour effacer et réécrire directement</a:t>
            </a:r>
          </a:p>
        </p:txBody>
      </p:sp>
      <p:sp>
        <p:nvSpPr>
          <p:cNvPr id="22" name="TextBox 21"/>
          <p:cNvSpPr txBox="1"/>
          <p:nvPr/>
        </p:nvSpPr>
        <p:spPr>
          <a:xfrm>
            <a:off x="5742432" y="3666743"/>
            <a:ext cx="5943600" cy="393192"/>
          </a:xfrm>
          <a:prstGeom prst="rect">
            <a:avLst/>
          </a:prstGeom>
          <a:noFill/>
        </p:spPr>
        <p:txBody>
          <a:bodyPr wrap="square">
            <a:spAutoFit/>
          </a:bodyPr>
          <a:lstStyle/>
          <a:p>
            <a:pPr algn="l"/>
            <a:r>
              <a:rPr sz="1200" b="0" i="0">
                <a:solidFill>
                  <a:srgbClr val="1A1A2E"/>
                </a:solidFill>
              </a:rPr>
              <a:t>Pas besoin de correcteur blanc, usage fluide</a:t>
            </a:r>
          </a:p>
        </p:txBody>
      </p:sp>
      <p:sp>
        <p:nvSpPr>
          <p:cNvPr id="23" name="Rectangle 22"/>
          <p:cNvSpPr/>
          <p:nvPr/>
        </p:nvSpPr>
        <p:spPr>
          <a:xfrm>
            <a:off x="365760" y="4114799"/>
            <a:ext cx="11457432" cy="4846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4048" y="4169663"/>
            <a:ext cx="2286000" cy="393192"/>
          </a:xfrm>
          <a:prstGeom prst="rect">
            <a:avLst/>
          </a:prstGeom>
          <a:noFill/>
        </p:spPr>
        <p:txBody>
          <a:bodyPr wrap="square">
            <a:spAutoFit/>
          </a:bodyPr>
          <a:lstStyle/>
          <a:p>
            <a:pPr algn="l"/>
            <a:r>
              <a:rPr sz="1300" b="1" i="0">
                <a:solidFill>
                  <a:srgbClr val="0A294B"/>
                </a:solidFill>
              </a:rPr>
              <a:t>Écran intégré</a:t>
            </a:r>
          </a:p>
        </p:txBody>
      </p:sp>
      <p:sp>
        <p:nvSpPr>
          <p:cNvPr id="25" name="TextBox 24"/>
          <p:cNvSpPr txBox="1"/>
          <p:nvPr/>
        </p:nvSpPr>
        <p:spPr>
          <a:xfrm>
            <a:off x="2697480" y="4169663"/>
            <a:ext cx="3017520" cy="393192"/>
          </a:xfrm>
          <a:prstGeom prst="rect">
            <a:avLst/>
          </a:prstGeom>
          <a:noFill/>
        </p:spPr>
        <p:txBody>
          <a:bodyPr wrap="square">
            <a:spAutoFit/>
          </a:bodyPr>
          <a:lstStyle/>
          <a:p>
            <a:pPr algn="l"/>
            <a:r>
              <a:rPr sz="1200" b="0" i="0">
                <a:solidFill>
                  <a:srgbClr val="1A1A2E"/>
                </a:solidFill>
              </a:rPr>
              <a:t>Affiche les corrections en rouge et propose la bonne orthographe</a:t>
            </a:r>
          </a:p>
        </p:txBody>
      </p:sp>
      <p:sp>
        <p:nvSpPr>
          <p:cNvPr id="26" name="TextBox 25"/>
          <p:cNvSpPr txBox="1"/>
          <p:nvPr/>
        </p:nvSpPr>
        <p:spPr>
          <a:xfrm>
            <a:off x="5742432" y="4169663"/>
            <a:ext cx="5943600" cy="393192"/>
          </a:xfrm>
          <a:prstGeom prst="rect">
            <a:avLst/>
          </a:prstGeom>
          <a:noFill/>
        </p:spPr>
        <p:txBody>
          <a:bodyPr wrap="square">
            <a:spAutoFit/>
          </a:bodyPr>
          <a:lstStyle/>
          <a:p>
            <a:pPr algn="l"/>
            <a:r>
              <a:rPr sz="1200" b="0" i="0">
                <a:solidFill>
                  <a:srgbClr val="1A1A2E"/>
                </a:solidFill>
              </a:rPr>
              <a:t>Correction immédiate en temps réel — USP unique sur le marché</a:t>
            </a:r>
          </a:p>
        </p:txBody>
      </p:sp>
      <p:sp>
        <p:nvSpPr>
          <p:cNvPr id="27" name="Rectangle 26"/>
          <p:cNvSpPr/>
          <p:nvPr/>
        </p:nvSpPr>
        <p:spPr>
          <a:xfrm>
            <a:off x="365760" y="4617719"/>
            <a:ext cx="11457432"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4672583"/>
            <a:ext cx="2286000" cy="393192"/>
          </a:xfrm>
          <a:prstGeom prst="rect">
            <a:avLst/>
          </a:prstGeom>
          <a:noFill/>
        </p:spPr>
        <p:txBody>
          <a:bodyPr wrap="square">
            <a:spAutoFit/>
          </a:bodyPr>
          <a:lstStyle/>
          <a:p>
            <a:pPr algn="l"/>
            <a:r>
              <a:rPr sz="1300" b="1" i="0">
                <a:solidFill>
                  <a:srgbClr val="0A294B"/>
                </a:solidFill>
              </a:rPr>
              <a:t>Design ergonomique</a:t>
            </a:r>
          </a:p>
        </p:txBody>
      </p:sp>
      <p:sp>
        <p:nvSpPr>
          <p:cNvPr id="29" name="TextBox 28"/>
          <p:cNvSpPr txBox="1"/>
          <p:nvPr/>
        </p:nvSpPr>
        <p:spPr>
          <a:xfrm>
            <a:off x="2697480" y="4672583"/>
            <a:ext cx="3017520" cy="393192"/>
          </a:xfrm>
          <a:prstGeom prst="rect">
            <a:avLst/>
          </a:prstGeom>
          <a:noFill/>
        </p:spPr>
        <p:txBody>
          <a:bodyPr wrap="square">
            <a:spAutoFit/>
          </a:bodyPr>
          <a:lstStyle/>
          <a:p>
            <a:pPr algn="l"/>
            <a:r>
              <a:rPr sz="1200" b="0" i="0">
                <a:solidFill>
                  <a:srgbClr val="1A1A2E"/>
                </a:solidFill>
              </a:rPr>
              <a:t>Léger, conçu pour une utilisation longue sans fatigue</a:t>
            </a:r>
          </a:p>
        </p:txBody>
      </p:sp>
      <p:sp>
        <p:nvSpPr>
          <p:cNvPr id="30" name="TextBox 29"/>
          <p:cNvSpPr txBox="1"/>
          <p:nvPr/>
        </p:nvSpPr>
        <p:spPr>
          <a:xfrm>
            <a:off x="5742432" y="4672583"/>
            <a:ext cx="5943600" cy="393192"/>
          </a:xfrm>
          <a:prstGeom prst="rect">
            <a:avLst/>
          </a:prstGeom>
          <a:noFill/>
        </p:spPr>
        <p:txBody>
          <a:bodyPr wrap="square">
            <a:spAutoFit/>
          </a:bodyPr>
          <a:lstStyle/>
          <a:p>
            <a:pPr algn="l"/>
            <a:r>
              <a:rPr sz="1200" b="0" i="0">
                <a:solidFill>
                  <a:srgbClr val="1A1A2E"/>
                </a:solidFill>
              </a:rPr>
              <a:t>Adapté à tous : élèves dès le collège, étudiants, professionnels</a:t>
            </a:r>
          </a:p>
        </p:txBody>
      </p:sp>
      <p:sp>
        <p:nvSpPr>
          <p:cNvPr id="31" name="Rectangle 30"/>
          <p:cNvSpPr/>
          <p:nvPr/>
        </p:nvSpPr>
        <p:spPr>
          <a:xfrm>
            <a:off x="365760" y="5120639"/>
            <a:ext cx="11457432" cy="4846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 y="5175503"/>
            <a:ext cx="2286000" cy="393192"/>
          </a:xfrm>
          <a:prstGeom prst="rect">
            <a:avLst/>
          </a:prstGeom>
          <a:noFill/>
        </p:spPr>
        <p:txBody>
          <a:bodyPr wrap="square">
            <a:spAutoFit/>
          </a:bodyPr>
          <a:lstStyle/>
          <a:p>
            <a:pPr algn="l"/>
            <a:r>
              <a:rPr sz="1300" b="1" i="0">
                <a:solidFill>
                  <a:srgbClr val="0A294B"/>
                </a:solidFill>
              </a:rPr>
              <a:t>4 couleurs disponibles</a:t>
            </a:r>
          </a:p>
        </p:txBody>
      </p:sp>
      <p:sp>
        <p:nvSpPr>
          <p:cNvPr id="33" name="TextBox 32"/>
          <p:cNvSpPr txBox="1"/>
          <p:nvPr/>
        </p:nvSpPr>
        <p:spPr>
          <a:xfrm>
            <a:off x="2697480" y="5175503"/>
            <a:ext cx="3017520" cy="393192"/>
          </a:xfrm>
          <a:prstGeom prst="rect">
            <a:avLst/>
          </a:prstGeom>
          <a:noFill/>
        </p:spPr>
        <p:txBody>
          <a:bodyPr wrap="square">
            <a:spAutoFit/>
          </a:bodyPr>
          <a:lstStyle/>
          <a:p>
            <a:pPr algn="l"/>
            <a:r>
              <a:rPr sz="1200" b="0" i="0">
                <a:solidFill>
                  <a:srgbClr val="1A1A2E"/>
                </a:solidFill>
              </a:rPr>
              <a:t>Noir, Bleu, Rouge, Vert</a:t>
            </a:r>
          </a:p>
        </p:txBody>
      </p:sp>
      <p:sp>
        <p:nvSpPr>
          <p:cNvPr id="34" name="TextBox 33"/>
          <p:cNvSpPr txBox="1"/>
          <p:nvPr/>
        </p:nvSpPr>
        <p:spPr>
          <a:xfrm>
            <a:off x="5742432" y="5175503"/>
            <a:ext cx="5943600" cy="393192"/>
          </a:xfrm>
          <a:prstGeom prst="rect">
            <a:avLst/>
          </a:prstGeom>
          <a:noFill/>
        </p:spPr>
        <p:txBody>
          <a:bodyPr wrap="square">
            <a:spAutoFit/>
          </a:bodyPr>
          <a:lstStyle/>
          <a:p>
            <a:pPr algn="l"/>
            <a:r>
              <a:rPr sz="1200" b="0" i="0">
                <a:solidFill>
                  <a:srgbClr val="1A1A2E"/>
                </a:solidFill>
              </a:rPr>
              <a:t>Personnalisation selon les préférences</a:t>
            </a:r>
          </a:p>
        </p:txBody>
      </p:sp>
      <p:sp>
        <p:nvSpPr>
          <p:cNvPr id="35" name="Rectangle 34"/>
          <p:cNvSpPr/>
          <p:nvPr/>
        </p:nvSpPr>
        <p:spPr>
          <a:xfrm>
            <a:off x="365760" y="5669279"/>
            <a:ext cx="11457432" cy="658368"/>
          </a:xfrm>
          <a:prstGeom prst="rect">
            <a:avLst/>
          </a:prstGeom>
          <a:solidFill>
            <a:srgbClr val="D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714999"/>
            <a:ext cx="10972800" cy="548640"/>
          </a:xfrm>
          <a:prstGeom prst="rect">
            <a:avLst/>
          </a:prstGeom>
          <a:noFill/>
        </p:spPr>
        <p:txBody>
          <a:bodyPr wrap="square">
            <a:spAutoFit/>
          </a:bodyPr>
          <a:lstStyle/>
          <a:p>
            <a:pPr algn="l"/>
            <a:r>
              <a:rPr sz="1400" b="0" i="0">
                <a:solidFill>
                  <a:srgbClr val="0A294B"/>
                </a:solidFill>
              </a:rPr>
              <a:t>Partenaires industriels : Shenzhen Apec (électronique 🇨🇳)  •  Pentel / Aihao (encre 🇯🇵🇨🇳)  •  Nicomatic assemblage final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P2 — Prix</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 MIX</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3566160" cy="146304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3566160" cy="594360"/>
          </a:xfrm>
          <a:prstGeom prst="rect">
            <a:avLst/>
          </a:prstGeom>
          <a:noFill/>
        </p:spPr>
        <p:txBody>
          <a:bodyPr wrap="square">
            <a:spAutoFit/>
          </a:bodyPr>
          <a:lstStyle/>
          <a:p>
            <a:pPr algn="ctr"/>
            <a:r>
              <a:rPr sz="3000" b="1" i="0">
                <a:solidFill>
                  <a:srgbClr val="FF7A00"/>
                </a:solidFill>
              </a:rPr>
              <a:t>99,90 €</a:t>
            </a:r>
          </a:p>
        </p:txBody>
      </p:sp>
      <p:sp>
        <p:nvSpPr>
          <p:cNvPr id="8" name="TextBox 7"/>
          <p:cNvSpPr txBox="1"/>
          <p:nvPr/>
        </p:nvSpPr>
        <p:spPr>
          <a:xfrm>
            <a:off x="457200" y="2057400"/>
            <a:ext cx="3566160" cy="457200"/>
          </a:xfrm>
          <a:prstGeom prst="rect">
            <a:avLst/>
          </a:prstGeom>
          <a:noFill/>
        </p:spPr>
        <p:txBody>
          <a:bodyPr wrap="square">
            <a:spAutoFit/>
          </a:bodyPr>
          <a:lstStyle/>
          <a:p>
            <a:pPr algn="ctr"/>
            <a:r>
              <a:rPr sz="1300" b="0" i="0">
                <a:solidFill>
                  <a:srgbClr val="FFFFFF"/>
                </a:solidFill>
              </a:rPr>
              <a:t>Prix de vente public
(Standard)</a:t>
            </a:r>
          </a:p>
        </p:txBody>
      </p:sp>
      <p:sp>
        <p:nvSpPr>
          <p:cNvPr id="9" name="Rectangle 8"/>
          <p:cNvSpPr/>
          <p:nvPr/>
        </p:nvSpPr>
        <p:spPr>
          <a:xfrm>
            <a:off x="4297680" y="1463040"/>
            <a:ext cx="3566160" cy="146304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508760"/>
            <a:ext cx="3566160" cy="594360"/>
          </a:xfrm>
          <a:prstGeom prst="rect">
            <a:avLst/>
          </a:prstGeom>
          <a:noFill/>
        </p:spPr>
        <p:txBody>
          <a:bodyPr wrap="square">
            <a:spAutoFit/>
          </a:bodyPr>
          <a:lstStyle/>
          <a:p>
            <a:pPr algn="ctr"/>
            <a:r>
              <a:rPr sz="3000" b="1" i="0">
                <a:solidFill>
                  <a:srgbClr val="FF7A00"/>
                </a:solidFill>
              </a:rPr>
              <a:t>44,90 €</a:t>
            </a:r>
          </a:p>
        </p:txBody>
      </p:sp>
      <p:sp>
        <p:nvSpPr>
          <p:cNvPr id="11" name="TextBox 10"/>
          <p:cNvSpPr txBox="1"/>
          <p:nvPr/>
        </p:nvSpPr>
        <p:spPr>
          <a:xfrm>
            <a:off x="4297680" y="2057400"/>
            <a:ext cx="3566160" cy="457200"/>
          </a:xfrm>
          <a:prstGeom prst="rect">
            <a:avLst/>
          </a:prstGeom>
          <a:noFill/>
        </p:spPr>
        <p:txBody>
          <a:bodyPr wrap="square">
            <a:spAutoFit/>
          </a:bodyPr>
          <a:lstStyle/>
          <a:p>
            <a:pPr algn="ctr"/>
            <a:r>
              <a:rPr sz="1300" b="0" i="0">
                <a:solidFill>
                  <a:srgbClr val="FFFFFF"/>
                </a:solidFill>
              </a:rPr>
              <a:t>Prix psychologique
(promotionnel rentrée)</a:t>
            </a:r>
          </a:p>
        </p:txBody>
      </p:sp>
      <p:sp>
        <p:nvSpPr>
          <p:cNvPr id="12" name="Rectangle 11"/>
          <p:cNvSpPr/>
          <p:nvPr/>
        </p:nvSpPr>
        <p:spPr>
          <a:xfrm>
            <a:off x="8138160" y="1463040"/>
            <a:ext cx="3566160" cy="146304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508760"/>
            <a:ext cx="3566160" cy="594360"/>
          </a:xfrm>
          <a:prstGeom prst="rect">
            <a:avLst/>
          </a:prstGeom>
          <a:noFill/>
        </p:spPr>
        <p:txBody>
          <a:bodyPr wrap="square">
            <a:spAutoFit/>
          </a:bodyPr>
          <a:lstStyle/>
          <a:p>
            <a:pPr algn="ctr"/>
            <a:r>
              <a:rPr sz="3000" b="1" i="0">
                <a:solidFill>
                  <a:srgbClr val="FF7A00"/>
                </a:solidFill>
              </a:rPr>
              <a:t>82,3 %</a:t>
            </a:r>
          </a:p>
        </p:txBody>
      </p:sp>
      <p:sp>
        <p:nvSpPr>
          <p:cNvPr id="14" name="TextBox 13"/>
          <p:cNvSpPr txBox="1"/>
          <p:nvPr/>
        </p:nvSpPr>
        <p:spPr>
          <a:xfrm>
            <a:off x="8138160" y="2057400"/>
            <a:ext cx="3566160" cy="457200"/>
          </a:xfrm>
          <a:prstGeom prst="rect">
            <a:avLst/>
          </a:prstGeom>
          <a:noFill/>
        </p:spPr>
        <p:txBody>
          <a:bodyPr wrap="square">
            <a:spAutoFit/>
          </a:bodyPr>
          <a:lstStyle/>
          <a:p>
            <a:pPr algn="ctr"/>
            <a:r>
              <a:rPr sz="1300" b="0" i="0">
                <a:solidFill>
                  <a:srgbClr val="FFFFFF"/>
                </a:solidFill>
              </a:rPr>
              <a:t>des répondants
intéressés (enquête)</a:t>
            </a:r>
          </a:p>
        </p:txBody>
      </p:sp>
      <p:sp>
        <p:nvSpPr>
          <p:cNvPr id="15" name="Rectangle 14"/>
          <p:cNvSpPr/>
          <p:nvPr/>
        </p:nvSpPr>
        <p:spPr>
          <a:xfrm>
            <a:off x="365760" y="3200400"/>
            <a:ext cx="11457432" cy="3246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11183111" cy="365760"/>
          </a:xfrm>
          <a:prstGeom prst="rect">
            <a:avLst/>
          </a:prstGeom>
          <a:noFill/>
        </p:spPr>
        <p:txBody>
          <a:bodyPr wrap="square">
            <a:spAutoFit/>
          </a:bodyPr>
          <a:lstStyle/>
          <a:p>
            <a:pPr algn="l"/>
            <a:r>
              <a:rPr sz="1900" b="1" i="0">
                <a:solidFill>
                  <a:srgbClr val="0A294B"/>
                </a:solidFill>
              </a:rPr>
              <a:t>Stratégie de prix</a:t>
            </a:r>
          </a:p>
        </p:txBody>
      </p:sp>
      <p:sp>
        <p:nvSpPr>
          <p:cNvPr id="17" name="TextBox 16"/>
          <p:cNvSpPr txBox="1"/>
          <p:nvPr/>
        </p:nvSpPr>
        <p:spPr>
          <a:xfrm>
            <a:off x="502920" y="3694176"/>
            <a:ext cx="11183111" cy="2615184"/>
          </a:xfrm>
          <a:prstGeom prst="rect">
            <a:avLst/>
          </a:prstGeom>
          <a:noFill/>
        </p:spPr>
        <p:txBody>
          <a:bodyPr wrap="square">
            <a:spAutoFit/>
          </a:bodyPr>
          <a:lstStyle/>
          <a:p>
            <a:pPr>
              <a:spcAft>
                <a:spcPts val="300"/>
              </a:spcAft>
            </a:pPr>
            <a:r>
              <a:rPr sz="1600">
                <a:solidFill>
                  <a:srgbClr val="1A1A2E"/>
                </a:solidFill>
              </a:rPr>
              <a:t>Version unique : Stylo Ortho Standard à 99,90 € — cible principale : élèves dès le collège, étudiants, parents</a:t>
            </a:r>
          </a:p>
          <a:p>
            <a:pPr>
              <a:spcAft>
                <a:spcPts val="300"/>
              </a:spcAft>
            </a:pPr>
            <a:r>
              <a:rPr sz="1600">
                <a:solidFill>
                  <a:srgbClr val="1A1A2E"/>
                </a:solidFill>
              </a:rPr>
              <a:t>82,3 % des répondants sont intéressés ou potentiellement intéressés (enquête n=214)</a:t>
            </a:r>
          </a:p>
          <a:p>
            <a:pPr>
              <a:spcAft>
                <a:spcPts val="300"/>
              </a:spcAft>
            </a:pPr>
            <a:r>
              <a:rPr sz="1600">
                <a:solidFill>
                  <a:srgbClr val="1A1A2E"/>
                </a:solidFill>
              </a:rPr>
              <a:t>Le prix de vente de 99,90 € est justifié par la valeur fonctionnelle unique (USP) : aucun concurrent sur papier</a:t>
            </a:r>
          </a:p>
          <a:p>
            <a:pPr>
              <a:spcAft>
                <a:spcPts val="300"/>
              </a:spcAft>
            </a:pPr>
            <a:r>
              <a:rPr sz="1600">
                <a:solidFill>
                  <a:srgbClr val="1A1A2E"/>
                </a:solidFill>
              </a:rPr>
              <a:t>Le prix psychologique de 44,90 € sera utilisé comme prix promotionnel à la rentrée pour déclencher les premiers achats (offre de lancement)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73152"/>
            <a:ext cx="10058400" cy="822960"/>
          </a:xfrm>
          <a:prstGeom prst="rect">
            <a:avLst/>
          </a:prstGeom>
          <a:noFill/>
        </p:spPr>
        <p:txBody>
          <a:bodyPr wrap="square">
            <a:spAutoFit/>
          </a:bodyPr>
          <a:lstStyle/>
          <a:p>
            <a:pPr algn="l"/>
            <a:r>
              <a:rPr sz="3200" b="1" i="0">
                <a:solidFill>
                  <a:srgbClr val="FFFFFF"/>
                </a:solidFill>
              </a:rPr>
              <a:t>P3 — Distribution</a:t>
            </a:r>
          </a:p>
        </p:txBody>
      </p:sp>
      <p:sp>
        <p:nvSpPr>
          <p:cNvPr id="4" name="TextBox 3"/>
          <p:cNvSpPr txBox="1"/>
          <p:nvPr/>
        </p:nvSpPr>
        <p:spPr>
          <a:xfrm>
            <a:off x="9875520" y="91440"/>
            <a:ext cx="2103120" cy="457200"/>
          </a:xfrm>
          <a:prstGeom prst="rect">
            <a:avLst/>
          </a:prstGeom>
          <a:noFill/>
        </p:spPr>
        <p:txBody>
          <a:bodyPr wrap="square">
            <a:spAutoFit/>
          </a:bodyPr>
          <a:lstStyle/>
          <a:p>
            <a:pPr algn="r"/>
            <a:r>
              <a:rPr sz="1200" b="1" i="0">
                <a:solidFill>
                  <a:srgbClr val="FF7A00"/>
                </a:solidFill>
              </a:rPr>
              <a:t>MARKETING MIX</a:t>
            </a:r>
          </a:p>
        </p:txBody>
      </p:sp>
      <p:sp>
        <p:nvSpPr>
          <p:cNvPr id="5" name="Rectangle 4"/>
          <p:cNvSpPr/>
          <p:nvPr/>
        </p:nvSpPr>
        <p:spPr>
          <a:xfrm>
            <a:off x="0" y="1280160"/>
            <a:ext cx="12188952" cy="557784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463040"/>
            <a:ext cx="11457432"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1645920" cy="107899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783080"/>
            <a:ext cx="1463040" cy="438912"/>
          </a:xfrm>
          <a:prstGeom prst="rect">
            <a:avLst/>
          </a:prstGeom>
          <a:noFill/>
        </p:spPr>
        <p:txBody>
          <a:bodyPr wrap="square">
            <a:spAutoFit/>
          </a:bodyPr>
          <a:lstStyle/>
          <a:p>
            <a:pPr algn="ctr"/>
            <a:r>
              <a:rPr sz="1400" b="1" i="0">
                <a:solidFill>
                  <a:srgbClr val="FF7A00"/>
                </a:solidFill>
              </a:rPr>
              <a:t>✅ Priorité 1</a:t>
            </a:r>
          </a:p>
        </p:txBody>
      </p:sp>
      <p:sp>
        <p:nvSpPr>
          <p:cNvPr id="9" name="TextBox 8"/>
          <p:cNvSpPr txBox="1"/>
          <p:nvPr/>
        </p:nvSpPr>
        <p:spPr>
          <a:xfrm>
            <a:off x="2103120" y="1536192"/>
            <a:ext cx="3657600" cy="384048"/>
          </a:xfrm>
          <a:prstGeom prst="rect">
            <a:avLst/>
          </a:prstGeom>
          <a:noFill/>
        </p:spPr>
        <p:txBody>
          <a:bodyPr wrap="square">
            <a:spAutoFit/>
          </a:bodyPr>
          <a:lstStyle/>
          <a:p>
            <a:pPr algn="l"/>
            <a:r>
              <a:rPr sz="1500" b="1" i="0">
                <a:solidFill>
                  <a:srgbClr val="0A294B"/>
                </a:solidFill>
              </a:rPr>
              <a:t>Magasins spécialisés (circuit court)</a:t>
            </a:r>
          </a:p>
        </p:txBody>
      </p:sp>
      <p:sp>
        <p:nvSpPr>
          <p:cNvPr id="10" name="TextBox 9"/>
          <p:cNvSpPr txBox="1"/>
          <p:nvPr/>
        </p:nvSpPr>
        <p:spPr>
          <a:xfrm>
            <a:off x="2103120" y="1938528"/>
            <a:ext cx="3657600" cy="502920"/>
          </a:xfrm>
          <a:prstGeom prst="rect">
            <a:avLst/>
          </a:prstGeom>
          <a:noFill/>
        </p:spPr>
        <p:txBody>
          <a:bodyPr wrap="square">
            <a:spAutoFit/>
          </a:bodyPr>
          <a:lstStyle/>
          <a:p>
            <a:pPr algn="l"/>
            <a:r>
              <a:rPr sz="1300" b="0" i="1">
                <a:solidFill>
                  <a:srgbClr val="1A5276"/>
                </a:solidFill>
              </a:rPr>
              <a:t>Bureau Vallée, Fnac, Cultura, librairies scolaires</a:t>
            </a:r>
          </a:p>
        </p:txBody>
      </p:sp>
      <p:sp>
        <p:nvSpPr>
          <p:cNvPr id="11" name="TextBox 10"/>
          <p:cNvSpPr txBox="1"/>
          <p:nvPr/>
        </p:nvSpPr>
        <p:spPr>
          <a:xfrm>
            <a:off x="5852160" y="1554480"/>
            <a:ext cx="5852160" cy="868680"/>
          </a:xfrm>
          <a:prstGeom prst="rect">
            <a:avLst/>
          </a:prstGeom>
          <a:noFill/>
        </p:spPr>
        <p:txBody>
          <a:bodyPr wrap="square">
            <a:spAutoFit/>
          </a:bodyPr>
          <a:lstStyle/>
          <a:p>
            <a:pPr algn="l"/>
            <a:r>
              <a:rPr sz="1300" b="0" i="0">
                <a:solidFill>
                  <a:srgbClr val="1A1A2E"/>
                </a:solidFill>
              </a:rPr>
              <a:t>Le vendeur peut présenter et expliquer le produit en rayon. Essentiel pour un produit innovant nécessitant une démonstration.</a:t>
            </a:r>
          </a:p>
        </p:txBody>
      </p:sp>
      <p:sp>
        <p:nvSpPr>
          <p:cNvPr id="12" name="Rectangle 11"/>
          <p:cNvSpPr/>
          <p:nvPr/>
        </p:nvSpPr>
        <p:spPr>
          <a:xfrm>
            <a:off x="365760" y="2606040"/>
            <a:ext cx="11457432" cy="10789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2606040"/>
            <a:ext cx="1645920" cy="107899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926080"/>
            <a:ext cx="1463040" cy="438912"/>
          </a:xfrm>
          <a:prstGeom prst="rect">
            <a:avLst/>
          </a:prstGeom>
          <a:noFill/>
        </p:spPr>
        <p:txBody>
          <a:bodyPr wrap="square">
            <a:spAutoFit/>
          </a:bodyPr>
          <a:lstStyle/>
          <a:p>
            <a:pPr algn="ctr"/>
            <a:r>
              <a:rPr sz="1400" b="1" i="0">
                <a:solidFill>
                  <a:srgbClr val="FF7A00"/>
                </a:solidFill>
              </a:rPr>
              <a:t>✅ Priorité 2</a:t>
            </a:r>
          </a:p>
        </p:txBody>
      </p:sp>
      <p:sp>
        <p:nvSpPr>
          <p:cNvPr id="15" name="TextBox 14"/>
          <p:cNvSpPr txBox="1"/>
          <p:nvPr/>
        </p:nvSpPr>
        <p:spPr>
          <a:xfrm>
            <a:off x="2103120" y="2679192"/>
            <a:ext cx="3657600" cy="384048"/>
          </a:xfrm>
          <a:prstGeom prst="rect">
            <a:avLst/>
          </a:prstGeom>
          <a:noFill/>
        </p:spPr>
        <p:txBody>
          <a:bodyPr wrap="square">
            <a:spAutoFit/>
          </a:bodyPr>
          <a:lstStyle/>
          <a:p>
            <a:pPr algn="l"/>
            <a:r>
              <a:rPr sz="1500" b="1" i="0">
                <a:solidFill>
                  <a:srgbClr val="0A294B"/>
                </a:solidFill>
              </a:rPr>
              <a:t>Vente en ligne (circuit ultra-court)</a:t>
            </a:r>
          </a:p>
        </p:txBody>
      </p:sp>
      <p:sp>
        <p:nvSpPr>
          <p:cNvPr id="16" name="TextBox 15"/>
          <p:cNvSpPr txBox="1"/>
          <p:nvPr/>
        </p:nvSpPr>
        <p:spPr>
          <a:xfrm>
            <a:off x="2103120" y="3081528"/>
            <a:ext cx="3657600" cy="502920"/>
          </a:xfrm>
          <a:prstGeom prst="rect">
            <a:avLst/>
          </a:prstGeom>
          <a:noFill/>
        </p:spPr>
        <p:txBody>
          <a:bodyPr wrap="square">
            <a:spAutoFit/>
          </a:bodyPr>
          <a:lstStyle/>
          <a:p>
            <a:pPr algn="l"/>
            <a:r>
              <a:rPr sz="1300" b="0" i="1">
                <a:solidFill>
                  <a:srgbClr val="1A5276"/>
                </a:solidFill>
              </a:rPr>
              <a:t>Site e-commerce propre + Amazon + Fnac.com</a:t>
            </a:r>
          </a:p>
        </p:txBody>
      </p:sp>
      <p:sp>
        <p:nvSpPr>
          <p:cNvPr id="17" name="TextBox 16"/>
          <p:cNvSpPr txBox="1"/>
          <p:nvPr/>
        </p:nvSpPr>
        <p:spPr>
          <a:xfrm>
            <a:off x="5852160" y="2697480"/>
            <a:ext cx="5852160" cy="868680"/>
          </a:xfrm>
          <a:prstGeom prst="rect">
            <a:avLst/>
          </a:prstGeom>
          <a:noFill/>
        </p:spPr>
        <p:txBody>
          <a:bodyPr wrap="square">
            <a:spAutoFit/>
          </a:bodyPr>
          <a:lstStyle/>
          <a:p>
            <a:pPr algn="l"/>
            <a:r>
              <a:rPr sz="1300" b="0" i="0">
                <a:solidFill>
                  <a:srgbClr val="1A1A2E"/>
                </a:solidFill>
              </a:rPr>
              <a:t>Indispensable pour toucher les parents qui achètent des fournitures scolaires en ligne. Marge maîtrisée. 49 % des transactions papeterie passent par l'e-commerce.</a:t>
            </a:r>
          </a:p>
        </p:txBody>
      </p:sp>
      <p:sp>
        <p:nvSpPr>
          <p:cNvPr id="18" name="Rectangle 17"/>
          <p:cNvSpPr/>
          <p:nvPr/>
        </p:nvSpPr>
        <p:spPr>
          <a:xfrm>
            <a:off x="365760" y="3749039"/>
            <a:ext cx="11457432"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749039"/>
            <a:ext cx="1645920" cy="107899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069079"/>
            <a:ext cx="1463040" cy="438912"/>
          </a:xfrm>
          <a:prstGeom prst="rect">
            <a:avLst/>
          </a:prstGeom>
          <a:noFill/>
        </p:spPr>
        <p:txBody>
          <a:bodyPr wrap="square">
            <a:spAutoFit/>
          </a:bodyPr>
          <a:lstStyle/>
          <a:p>
            <a:pPr algn="ctr"/>
            <a:r>
              <a:rPr sz="1400" b="1" i="0">
                <a:solidFill>
                  <a:srgbClr val="FF7A00"/>
                </a:solidFill>
              </a:rPr>
              <a:t>⏳ Phase 2</a:t>
            </a:r>
          </a:p>
        </p:txBody>
      </p:sp>
      <p:sp>
        <p:nvSpPr>
          <p:cNvPr id="21" name="TextBox 20"/>
          <p:cNvSpPr txBox="1"/>
          <p:nvPr/>
        </p:nvSpPr>
        <p:spPr>
          <a:xfrm>
            <a:off x="2103120" y="3822191"/>
            <a:ext cx="3657600" cy="384048"/>
          </a:xfrm>
          <a:prstGeom prst="rect">
            <a:avLst/>
          </a:prstGeom>
          <a:noFill/>
        </p:spPr>
        <p:txBody>
          <a:bodyPr wrap="square">
            <a:spAutoFit/>
          </a:bodyPr>
          <a:lstStyle/>
          <a:p>
            <a:pPr algn="l"/>
            <a:r>
              <a:rPr sz="1500" b="1" i="0">
                <a:solidFill>
                  <a:srgbClr val="0A294B"/>
                </a:solidFill>
              </a:rPr>
              <a:t>Grandes surfaces (circuit long)</a:t>
            </a:r>
          </a:p>
        </p:txBody>
      </p:sp>
      <p:sp>
        <p:nvSpPr>
          <p:cNvPr id="22" name="TextBox 21"/>
          <p:cNvSpPr txBox="1"/>
          <p:nvPr/>
        </p:nvSpPr>
        <p:spPr>
          <a:xfrm>
            <a:off x="2103120" y="4224527"/>
            <a:ext cx="3657600" cy="502920"/>
          </a:xfrm>
          <a:prstGeom prst="rect">
            <a:avLst/>
          </a:prstGeom>
          <a:noFill/>
        </p:spPr>
        <p:txBody>
          <a:bodyPr wrap="square">
            <a:spAutoFit/>
          </a:bodyPr>
          <a:lstStyle/>
          <a:p>
            <a:pPr algn="l"/>
            <a:r>
              <a:rPr sz="1300" b="0" i="1">
                <a:solidFill>
                  <a:srgbClr val="1A5276"/>
                </a:solidFill>
              </a:rPr>
              <a:t>Carrefour, E.Leclerc</a:t>
            </a:r>
          </a:p>
        </p:txBody>
      </p:sp>
      <p:sp>
        <p:nvSpPr>
          <p:cNvPr id="23" name="TextBox 22"/>
          <p:cNvSpPr txBox="1"/>
          <p:nvPr/>
        </p:nvSpPr>
        <p:spPr>
          <a:xfrm>
            <a:off x="5852160" y="3840479"/>
            <a:ext cx="5852160" cy="868680"/>
          </a:xfrm>
          <a:prstGeom prst="rect">
            <a:avLst/>
          </a:prstGeom>
          <a:noFill/>
        </p:spPr>
        <p:txBody>
          <a:bodyPr wrap="square">
            <a:spAutoFit/>
          </a:bodyPr>
          <a:lstStyle/>
          <a:p>
            <a:pPr algn="l"/>
            <a:r>
              <a:rPr sz="1300" b="0" i="0">
                <a:solidFill>
                  <a:srgbClr val="1A1A2E"/>
                </a:solidFill>
              </a:rPr>
              <a:t>En phase 2 uniquement, une fois la notoriété du produit établie. Recul de –7 % en 2024 — approche prudente justifiée.</a:t>
            </a:r>
          </a:p>
        </p:txBody>
      </p:sp>
      <p:sp>
        <p:nvSpPr>
          <p:cNvPr id="24" name="Rectangle 23"/>
          <p:cNvSpPr/>
          <p:nvPr/>
        </p:nvSpPr>
        <p:spPr>
          <a:xfrm>
            <a:off x="365760" y="4892040"/>
            <a:ext cx="11457432" cy="107899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892040"/>
            <a:ext cx="1645920" cy="1078992"/>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212079"/>
            <a:ext cx="1463040" cy="438912"/>
          </a:xfrm>
          <a:prstGeom prst="rect">
            <a:avLst/>
          </a:prstGeom>
          <a:noFill/>
        </p:spPr>
        <p:txBody>
          <a:bodyPr wrap="square">
            <a:spAutoFit/>
          </a:bodyPr>
          <a:lstStyle/>
          <a:p>
            <a:pPr algn="ctr"/>
            <a:r>
              <a:rPr sz="1400" b="1" i="0">
                <a:solidFill>
                  <a:srgbClr val="FF7A00"/>
                </a:solidFill>
              </a:rPr>
              <a:t>🤝 B2B</a:t>
            </a:r>
          </a:p>
        </p:txBody>
      </p:sp>
      <p:sp>
        <p:nvSpPr>
          <p:cNvPr id="27" name="TextBox 26"/>
          <p:cNvSpPr txBox="1"/>
          <p:nvPr/>
        </p:nvSpPr>
        <p:spPr>
          <a:xfrm>
            <a:off x="2103120" y="4965192"/>
            <a:ext cx="3657600" cy="384048"/>
          </a:xfrm>
          <a:prstGeom prst="rect">
            <a:avLst/>
          </a:prstGeom>
          <a:noFill/>
        </p:spPr>
        <p:txBody>
          <a:bodyPr wrap="square">
            <a:spAutoFit/>
          </a:bodyPr>
          <a:lstStyle/>
          <a:p>
            <a:pPr algn="l"/>
            <a:r>
              <a:rPr sz="1500" b="1" i="0">
                <a:solidFill>
                  <a:srgbClr val="0A294B"/>
                </a:solidFill>
              </a:rPr>
              <a:t>Établissements scolaires / Circuit direct</a:t>
            </a:r>
          </a:p>
        </p:txBody>
      </p:sp>
      <p:sp>
        <p:nvSpPr>
          <p:cNvPr id="28" name="TextBox 27"/>
          <p:cNvSpPr txBox="1"/>
          <p:nvPr/>
        </p:nvSpPr>
        <p:spPr>
          <a:xfrm>
            <a:off x="2103120" y="5367527"/>
            <a:ext cx="3657600" cy="502920"/>
          </a:xfrm>
          <a:prstGeom prst="rect">
            <a:avLst/>
          </a:prstGeom>
          <a:noFill/>
        </p:spPr>
        <p:txBody>
          <a:bodyPr wrap="square">
            <a:spAutoFit/>
          </a:bodyPr>
          <a:lstStyle/>
          <a:p>
            <a:pPr algn="l"/>
            <a:r>
              <a:rPr sz="1300" b="0" i="1">
                <a:solidFill>
                  <a:srgbClr val="1A5276"/>
                </a:solidFill>
              </a:rPr>
              <a:t>Lycées, collèges, centres de formation</a:t>
            </a:r>
          </a:p>
        </p:txBody>
      </p:sp>
      <p:sp>
        <p:nvSpPr>
          <p:cNvPr id="29" name="TextBox 28"/>
          <p:cNvSpPr txBox="1"/>
          <p:nvPr/>
        </p:nvSpPr>
        <p:spPr>
          <a:xfrm>
            <a:off x="5852160" y="4983479"/>
            <a:ext cx="5852160" cy="868680"/>
          </a:xfrm>
          <a:prstGeom prst="rect">
            <a:avLst/>
          </a:prstGeom>
          <a:noFill/>
        </p:spPr>
        <p:txBody>
          <a:bodyPr wrap="square">
            <a:spAutoFit/>
          </a:bodyPr>
          <a:lstStyle/>
          <a:p>
            <a:pPr algn="l"/>
            <a:r>
              <a:rPr sz="1300" b="0" i="0">
                <a:solidFill>
                  <a:srgbClr val="1A1A2E"/>
                </a:solidFill>
              </a:rPr>
              <a:t>Partenariat Ministère Éducation nationale (phase de test). Objectif : 500+ stylos vendus en Année 1, 2 000+ en Année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9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88952" cy="246888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10360152" cy="640080"/>
          </a:xfrm>
          <a:prstGeom prst="rect">
            <a:avLst/>
          </a:prstGeom>
          <a:noFill/>
        </p:spPr>
        <p:txBody>
          <a:bodyPr wrap="square">
            <a:spAutoFit/>
          </a:bodyPr>
          <a:lstStyle/>
          <a:p>
            <a:pPr algn="ctr"/>
            <a:r>
              <a:rPr sz="2200" b="1" i="0">
                <a:solidFill>
                  <a:srgbClr val="FF7A00"/>
                </a:solidFill>
              </a:rPr>
              <a:t>CONCLUSION</a:t>
            </a:r>
          </a:p>
        </p:txBody>
      </p:sp>
      <p:sp>
        <p:nvSpPr>
          <p:cNvPr id="5" name="TextBox 4"/>
          <p:cNvSpPr txBox="1"/>
          <p:nvPr/>
        </p:nvSpPr>
        <p:spPr>
          <a:xfrm>
            <a:off x="914400" y="1143000"/>
            <a:ext cx="10360152" cy="914400"/>
          </a:xfrm>
          <a:prstGeom prst="rect">
            <a:avLst/>
          </a:prstGeom>
          <a:noFill/>
        </p:spPr>
        <p:txBody>
          <a:bodyPr wrap="square">
            <a:spAutoFit/>
          </a:bodyPr>
          <a:lstStyle/>
          <a:p>
            <a:pPr algn="ctr"/>
            <a:r>
              <a:rPr sz="1900" b="0" i="0">
                <a:solidFill>
                  <a:srgbClr val="D0E8F5"/>
                </a:solidFill>
              </a:rPr>
              <a:t>Le Stylo Ortho est le premier stylo correcteur d'orthographe en temps réel sur papier. Il répond à un besoin réel, validé par 214 répondants, sur un marché pionnier.</a:t>
            </a:r>
          </a:p>
        </p:txBody>
      </p:sp>
      <p:sp>
        <p:nvSpPr>
          <p:cNvPr id="6" name="Rectangle 5"/>
          <p:cNvSpPr/>
          <p:nvPr/>
        </p:nvSpPr>
        <p:spPr>
          <a:xfrm>
            <a:off x="2286000" y="2240280"/>
            <a:ext cx="7616952" cy="54864"/>
          </a:xfrm>
          <a:prstGeom prst="rect">
            <a:avLst/>
          </a:prstGeom>
          <a:solidFill>
            <a:srgbClr val="FF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10360152" cy="457200"/>
          </a:xfrm>
          <a:prstGeom prst="rect">
            <a:avLst/>
          </a:prstGeom>
          <a:noFill/>
        </p:spPr>
        <p:txBody>
          <a:bodyPr wrap="square">
            <a:spAutoFit/>
          </a:bodyPr>
          <a:lstStyle/>
          <a:p>
            <a:pPr algn="ctr"/>
            <a:r>
              <a:rPr sz="1800" b="0" i="0">
                <a:solidFill>
                  <a:srgbClr val="B0D0E8"/>
                </a:solidFill>
              </a:rPr>
              <a:t>Notre slogan :</a:t>
            </a:r>
          </a:p>
        </p:txBody>
      </p:sp>
      <p:sp>
        <p:nvSpPr>
          <p:cNvPr id="8" name="TextBox 7"/>
          <p:cNvSpPr txBox="1"/>
          <p:nvPr/>
        </p:nvSpPr>
        <p:spPr>
          <a:xfrm>
            <a:off x="914400" y="2880360"/>
            <a:ext cx="10360152" cy="1005840"/>
          </a:xfrm>
          <a:prstGeom prst="rect">
            <a:avLst/>
          </a:prstGeom>
          <a:noFill/>
        </p:spPr>
        <p:txBody>
          <a:bodyPr wrap="square">
            <a:spAutoFit/>
          </a:bodyPr>
          <a:lstStyle/>
          <a:p>
            <a:pPr algn="ctr"/>
            <a:r>
              <a:rPr sz="4400" b="1" i="0">
                <a:solidFill>
                  <a:srgbClr val="FFFFFF"/>
                </a:solidFill>
              </a:rPr>
              <a:t>« Écrire juste, à la main. »</a:t>
            </a:r>
          </a:p>
        </p:txBody>
      </p:sp>
      <p:sp>
        <p:nvSpPr>
          <p:cNvPr id="9" name="TextBox 8"/>
          <p:cNvSpPr txBox="1"/>
          <p:nvPr/>
        </p:nvSpPr>
        <p:spPr>
          <a:xfrm>
            <a:off x="914400" y="4754880"/>
            <a:ext cx="10360152" cy="548640"/>
          </a:xfrm>
          <a:prstGeom prst="rect">
            <a:avLst/>
          </a:prstGeom>
          <a:noFill/>
        </p:spPr>
        <p:txBody>
          <a:bodyPr wrap="square">
            <a:spAutoFit/>
          </a:bodyPr>
          <a:lstStyle/>
          <a:p>
            <a:pPr algn="ctr"/>
            <a:r>
              <a:rPr sz="1800" b="0" i="0">
                <a:solidFill>
                  <a:srgbClr val="FFFFFF"/>
                </a:solidFill>
              </a:rPr>
              <a:t>Stylo Ortho  •  Assemblé en France  •  stylo-ortho.fr</a:t>
            </a:r>
          </a:p>
        </p:txBody>
      </p:sp>
      <p:sp>
        <p:nvSpPr>
          <p:cNvPr id="10" name="TextBox 9"/>
          <p:cNvSpPr txBox="1"/>
          <p:nvPr/>
        </p:nvSpPr>
        <p:spPr>
          <a:xfrm>
            <a:off x="914400" y="5394960"/>
            <a:ext cx="10360152" cy="457200"/>
          </a:xfrm>
          <a:prstGeom prst="rect">
            <a:avLst/>
          </a:prstGeom>
          <a:noFill/>
        </p:spPr>
        <p:txBody>
          <a:bodyPr wrap="square">
            <a:spAutoFit/>
          </a:bodyPr>
          <a:lstStyle/>
          <a:p>
            <a:pPr algn="ctr"/>
            <a:r>
              <a:rPr sz="1400" b="0" i="0">
                <a:solidFill>
                  <a:srgbClr val="D0E8F5"/>
                </a:solidFill>
              </a:rPr>
              <a:t>82,3 % intéressés  •  86,4 % trouvent le produit utile  •  99,90 € prix de lancement</a:t>
            </a:r>
          </a:p>
        </p:txBody>
      </p:sp>
      <p:sp>
        <p:nvSpPr>
          <p:cNvPr id="11" name="TextBox 10"/>
          <p:cNvSpPr txBox="1"/>
          <p:nvPr/>
        </p:nvSpPr>
        <p:spPr>
          <a:xfrm>
            <a:off x="914400" y="5989320"/>
            <a:ext cx="10360152" cy="457200"/>
          </a:xfrm>
          <a:prstGeom prst="rect">
            <a:avLst/>
          </a:prstGeom>
          <a:noFill/>
        </p:spPr>
        <p:txBody>
          <a:bodyPr wrap="square">
            <a:spAutoFit/>
          </a:bodyPr>
          <a:lstStyle/>
          <a:p>
            <a:pPr algn="ctr"/>
            <a:r>
              <a:rPr sz="1300" b="0" i="0">
                <a:solidFill>
                  <a:srgbClr val="80A0C0"/>
                </a:solidFill>
              </a:rPr>
              <a:t>Mathéo Guzzi  •  Pierre Lachat  •  Valentin Imbault-Casset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